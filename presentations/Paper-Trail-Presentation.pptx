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b208930ec4490c" /><Relationship Type="http://schemas.openxmlformats.org/officeDocument/2006/relationships/extended-properties" Target="/docProps/app.xml" Id="Rd3708cf90fda42ae" /><Relationship Type="http://schemas.openxmlformats.org/officeDocument/2006/relationships/officeDocument" Target="/ppt/presentation.xml" Id="R006a5dd7909d4249" /></Relationships>
</file>

<file path=ppt/presentation.xml><?xml version="1.0" encoding="utf-8"?>
<p:presentation xmlns:p="http://schemas.openxmlformats.org/presentationml/2006/main">
  <p:sldMasterIdLst>
    <p:sldMasterId xmlns:r="http://schemas.openxmlformats.org/officeDocument/2006/relationships" id="2147483648" r:id="R56cc2ef69591429e"/>
  </p:sldMasterIdLst>
  <p:notesMasterIdLst>
    <p:notesMasterId xmlns:r="http://schemas.openxmlformats.org/officeDocument/2006/relationships" r:id="R791ba725343e40c5"/>
  </p:notesMasterIdLst>
  <p:sldIdLst>
    <p:sldId xmlns:r="http://schemas.openxmlformats.org/officeDocument/2006/relationships" id="256" r:id="R870491dbc9044215"/>
    <p:sldId xmlns:r="http://schemas.openxmlformats.org/officeDocument/2006/relationships" id="257" r:id="R5b198b2461874df5"/>
    <p:sldId xmlns:r="http://schemas.openxmlformats.org/officeDocument/2006/relationships" id="258" r:id="R88743cbbdb3541a5"/>
    <p:sldId xmlns:r="http://schemas.openxmlformats.org/officeDocument/2006/relationships" id="259" r:id="R9b4fb4ed02a64284"/>
    <p:sldId xmlns:r="http://schemas.openxmlformats.org/officeDocument/2006/relationships" id="260" r:id="Rbd0fb884e2dc47a7"/>
    <p:sldId xmlns:r="http://schemas.openxmlformats.org/officeDocument/2006/relationships" id="261" r:id="R368a0b0bde47437e"/>
    <p:sldId xmlns:r="http://schemas.openxmlformats.org/officeDocument/2006/relationships" id="262" r:id="Rb6686a7ec75d41c4"/>
    <p:sldId xmlns:r="http://schemas.openxmlformats.org/officeDocument/2006/relationships" id="263" r:id="R8918817aaa1b4c34"/>
    <p:sldId xmlns:r="http://schemas.openxmlformats.org/officeDocument/2006/relationships" id="264" r:id="R029fa6a8f3394abd"/>
    <p:sldId xmlns:r="http://schemas.openxmlformats.org/officeDocument/2006/relationships" id="265" r:id="Rb0eabb40abb94b8c"/>
    <p:sldId xmlns:r="http://schemas.openxmlformats.org/officeDocument/2006/relationships" id="266" r:id="Rbe22427eb527463d"/>
    <p:sldId xmlns:r="http://schemas.openxmlformats.org/officeDocument/2006/relationships" id="267" r:id="Ra5519bc9b259422f"/>
    <p:sldId xmlns:r="http://schemas.openxmlformats.org/officeDocument/2006/relationships" id="268" r:id="R8351d5796e7e46a2"/>
    <p:sldId xmlns:r="http://schemas.openxmlformats.org/officeDocument/2006/relationships" id="269" r:id="Rf3b4c7696c374e23"/>
    <p:sldId xmlns:r="http://schemas.openxmlformats.org/officeDocument/2006/relationships" id="270" r:id="Rfd71373ec3fa482d"/>
    <p:sldId xmlns:r="http://schemas.openxmlformats.org/officeDocument/2006/relationships" id="271" r:id="Rdcd2d2874ad54c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cecd97e15d4e19" /><Relationship Type="http://schemas.openxmlformats.org/officeDocument/2006/relationships/slideMaster" Target="/ppt/slideMasters/slideMaster1.xml" Id="R56cc2ef69591429e" /><Relationship Type="http://schemas.openxmlformats.org/officeDocument/2006/relationships/notesMaster" Target="/ppt/notesMasters/notesMaster1.xml" Id="R791ba725343e40c5" /><Relationship Type="http://schemas.openxmlformats.org/officeDocument/2006/relationships/presProps" Target="/ppt/presProps.xml" Id="R9ab222f984c44e5c" /><Relationship Type="http://schemas.openxmlformats.org/officeDocument/2006/relationships/tableStyles" Target="/ppt/tableStyles.xml" Id="R182f1eeddb9c47c4" /><Relationship Type="http://schemas.openxmlformats.org/officeDocument/2006/relationships/slide" Target="/ppt/slides/slide1.xml" Id="R870491dbc9044215" /><Relationship Type="http://schemas.openxmlformats.org/officeDocument/2006/relationships/slide" Target="/ppt/slides/slide2.xml" Id="R5b198b2461874df5" /><Relationship Type="http://schemas.openxmlformats.org/officeDocument/2006/relationships/slide" Target="/ppt/slides/slide3.xml" Id="R88743cbbdb3541a5" /><Relationship Type="http://schemas.openxmlformats.org/officeDocument/2006/relationships/slide" Target="/ppt/slides/slide4.xml" Id="R9b4fb4ed02a64284" /><Relationship Type="http://schemas.openxmlformats.org/officeDocument/2006/relationships/slide" Target="/ppt/slides/slide5.xml" Id="Rbd0fb884e2dc47a7" /><Relationship Type="http://schemas.openxmlformats.org/officeDocument/2006/relationships/slide" Target="/ppt/slides/slide6.xml" Id="R368a0b0bde47437e" /><Relationship Type="http://schemas.openxmlformats.org/officeDocument/2006/relationships/slide" Target="/ppt/slides/slide7.xml" Id="Rb6686a7ec75d41c4" /><Relationship Type="http://schemas.openxmlformats.org/officeDocument/2006/relationships/slide" Target="/ppt/slides/slide8.xml" Id="R8918817aaa1b4c34" /><Relationship Type="http://schemas.openxmlformats.org/officeDocument/2006/relationships/slide" Target="/ppt/slides/slide9.xml" Id="R029fa6a8f3394abd" /><Relationship Type="http://schemas.openxmlformats.org/officeDocument/2006/relationships/slide" Target="/ppt/slides/slide10.xml" Id="Rb0eabb40abb94b8c" /><Relationship Type="http://schemas.openxmlformats.org/officeDocument/2006/relationships/slide" Target="/ppt/slides/slide11.xml" Id="Rbe22427eb527463d" /><Relationship Type="http://schemas.openxmlformats.org/officeDocument/2006/relationships/slide" Target="/ppt/slides/slide12.xml" Id="Ra5519bc9b259422f" /><Relationship Type="http://schemas.openxmlformats.org/officeDocument/2006/relationships/slide" Target="/ppt/slides/slide13.xml" Id="R8351d5796e7e46a2" /><Relationship Type="http://schemas.openxmlformats.org/officeDocument/2006/relationships/slide" Target="/ppt/slides/slide14.xml" Id="Rf3b4c7696c374e23" /><Relationship Type="http://schemas.openxmlformats.org/officeDocument/2006/relationships/slide" Target="/ppt/slides/slide15.xml" Id="Rfd71373ec3fa482d" /><Relationship Type="http://schemas.openxmlformats.org/officeDocument/2006/relationships/slide" Target="/ppt/slides/slide16.xml" Id="Rdcd2d2874ad54c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b8b54bb1cc48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5626c7ba16426c" /><Relationship Type="http://schemas.openxmlformats.org/officeDocument/2006/relationships/notesMaster" Target="/ppt/notesMasters/notesMaster1.xml" Id="R3a5372123a5249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68b9e04bc94cce" /><Relationship Type="http://schemas.openxmlformats.org/officeDocument/2006/relationships/notesMaster" Target="/ppt/notesMasters/notesMaster1.xml" Id="Re4ac72fc6ac5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8f7d8d3bbc4923" /><Relationship Type="http://schemas.openxmlformats.org/officeDocument/2006/relationships/notesMaster" Target="/ppt/notesMasters/notesMaster1.xml" Id="R69aa3174668b40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53551d8e9f4b90" /><Relationship Type="http://schemas.openxmlformats.org/officeDocument/2006/relationships/notesMaster" Target="/ppt/notesMasters/notesMaster1.xml" Id="Rff2b3f14c2ea40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0b4a002afa45b4" /><Relationship Type="http://schemas.openxmlformats.org/officeDocument/2006/relationships/notesMaster" Target="/ppt/notesMasters/notesMaster1.xml" Id="R36cdd70f43754e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5260272f284298" /><Relationship Type="http://schemas.openxmlformats.org/officeDocument/2006/relationships/notesMaster" Target="/ppt/notesMasters/notesMaster1.xml" Id="R417c5cf563b44d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1ac37419bc413d" /><Relationship Type="http://schemas.openxmlformats.org/officeDocument/2006/relationships/notesMaster" Target="/ppt/notesMasters/notesMaster1.xml" Id="R0d74ebbcd35b49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0c1f367c4a48ab" /><Relationship Type="http://schemas.openxmlformats.org/officeDocument/2006/relationships/notesMaster" Target="/ppt/notesMasters/notesMaster1.xml" Id="R63d4482d446c41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b676490ad843e7" /><Relationship Type="http://schemas.openxmlformats.org/officeDocument/2006/relationships/notesMaster" Target="/ppt/notesMasters/notesMaster1.xml" Id="R61f09f4159ab4d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7ab00018af4a48" /><Relationship Type="http://schemas.openxmlformats.org/officeDocument/2006/relationships/notesMaster" Target="/ppt/notesMasters/notesMaster1.xml" Id="Rada30540c60641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dbcb01412141ec" /><Relationship Type="http://schemas.openxmlformats.org/officeDocument/2006/relationships/notesMaster" Target="/ppt/notesMasters/notesMaster1.xml" Id="Rf09346cabeae43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432eb490874024" /><Relationship Type="http://schemas.openxmlformats.org/officeDocument/2006/relationships/notesMaster" Target="/ppt/notesMasters/notesMaster1.xml" Id="Rcdb6a45f7b1d4c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8b61e25c9a4d4f" /><Relationship Type="http://schemas.openxmlformats.org/officeDocument/2006/relationships/notesMaster" Target="/ppt/notesMasters/notesMaster1.xml" Id="R59dc238e0b1c47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75fa76d02d4353" /><Relationship Type="http://schemas.openxmlformats.org/officeDocument/2006/relationships/notesMaster" Target="/ppt/notesMasters/notesMaster1.xml" Id="R39a0838cfae543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1e7aefa82f4458e" /><Relationship Type="http://schemas.openxmlformats.org/officeDocument/2006/relationships/notesMaster" Target="/ppt/notesMasters/notesMaster1.xml" Id="Rcee4da27974047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eb2f9b085d406d" /><Relationship Type="http://schemas.openxmlformats.org/officeDocument/2006/relationships/notesMaster" Target="/ppt/notesMasters/notesMaster1.xml" Id="Rb196397d70a44d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LLM 기반 에이전트의 개념을 먼저 설명하고, Paper Trail의 실제 코드가 그 개념을 어떻게 구현하는지 살펴봅니다. 모델이 다음 행동을 선택하고 프로그램이 실행 결과를 다시 전달하는 반복 구조가 핵심입니다. 이 데모는 하나의 모델을 사용하는 단일 에이전트이며, 여러 프로세스가 있다고 여러 에이전트가 있는 것은 아닙니다.</a:t>
            </a:r>
          </a:p>
          <a:p xmlns:a="http://schemas.openxmlformats.org/drawingml/2006/main">
            <a:r>
              <a:t/>
            </a:r>
          </a:p>
          <a:p xmlns:a="http://schemas.openxmlformats.org/drawingml/2006/main">
            <a:r>
              <a:t>출처</a:t>
            </a:r>
          </a:p>
          <a:p xmlns:a="http://schemas.openxmlformats.org/drawingml/2006/main">
            <a:r>
              <a:t>저장소: README.md</a:t>
            </a:r>
          </a:p>
          <a:p xmlns:a="http://schemas.openxmlformats.org/drawingml/2006/main">
            <a:r>
              <a:t>저장소: paper_agent/agent.py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여기서는 LLM 기반 에이전트를 설명합니다. 에이전트는 사용자가 준 목표를 바탕으로 도구의 결과를 관측하고 다음 행동을 선택합니다. 한 번 정한 계획을 무조건 끝까지 실행하는 것이 아니라 결과에 따라 검색을 바꾸거나 추가 자료를 읽을 수 있습니다. 이 설명은 Anthropic의 workflow와 agent 구분 및 환경 피드백 기반 반복 설명을 참고했습니다. 정의는 문헌마다 차이가 있지만 오늘은 다음 단계의 구체적 선택을 모델이 담당하는 구조에 집중합니다.</a:t>
            </a:r>
          </a:p>
          <a:p xmlns:a="http://schemas.openxmlformats.org/drawingml/2006/main">
            <a:r>
              <a:t/>
            </a:r>
          </a:p>
          <a:p xmlns:a="http://schemas.openxmlformats.org/drawingml/2006/main">
            <a:r>
              <a:t>출처</a:t>
            </a:r>
          </a:p>
          <a:p xmlns:a="http://schemas.openxmlformats.org/drawingml/2006/main">
            <a:r>
              <a:t>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에이전트의 구성 요소를 이 발표에서는 목표, 상태, 모델, 도구, 제어로 나누어 설명합니다. 목표는 원하는 결과입니다. 상태는 확보한 자료와 진행 상황입니다. 모델은 다음 도구와 인자를 고르고, 도구는 실제 검색과 읽기 같은 일을 합니다. 제어 코드는 루프를 운영하고 허용 가능한 행동과 완료 조건을 검사합니다. 기억은 모델 안에 자동으로 쌓이는 것이 아니라 프로그램이 저장하고 다음 입력에 전달하는 데이터입니다.</a:t>
            </a:r>
          </a:p>
          <a:p xmlns:a="http://schemas.openxmlformats.org/drawingml/2006/main">
            <a:r>
              <a:t/>
            </a:r>
          </a:p>
          <a:p xmlns:a="http://schemas.openxmlformats.org/drawingml/2006/main">
            <a:r>
              <a:t>출처</a:t>
            </a:r>
          </a:p>
          <a:p xmlns:a="http://schemas.openxmlformats.org/drawingml/2006/main">
            <a:r>
              <a:t>https://www.anthropic.com/engineering/building-effective-agents</a:t>
            </a:r>
          </a:p>
          <a:p xmlns:a="http://schemas.openxmlformats.org/drawingml/2006/main">
            <a:r>
              <a:t>저장소: paper_agent/schema.py</a:t>
            </a:r>
          </a:p>
          <a:p xmlns:a="http://schemas.openxmlformats.org/drawingml/2006/main">
            <a:r>
              <a:t>저장소: paper_agent/agent.py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단순 LLM 호출에서는 코드가 한 번 요청하고 답변을 받습니다. 고정 워크플로에서는 코드가 미리 검색, 읽기, 요약 등의 순서를 정합니다. 에이전트에서는 실행 결과를 받은 모델이 다음 도구를 고릅니다. 단순 LLM 또는 워크플로가 나쁘다는 뜻은 아닙니다. 필요한 유연성에 맞춰 선택합니다. Paper Trail은 필수 검증 단계를 코드로 고정하고 그 범위 안의 연구 전략을 모델에 맡긴 혼합 구조입니다.</a:t>
            </a:r>
          </a:p>
          <a:p xmlns:a="http://schemas.openxmlformats.org/drawingml/2006/main">
            <a:r>
              <a:t/>
            </a:r>
          </a:p>
          <a:p xmlns:a="http://schemas.openxmlformats.org/drawingml/2006/main">
            <a:r>
              <a:t>출처</a:t>
            </a:r>
          </a:p>
          <a:p xmlns:a="http://schemas.openxmlformats.org/drawingml/2006/main">
            <a:r>
              <a:t>https://www.anthropic.com/engineering/building-effective-agents</a:t>
            </a:r>
          </a:p>
          <a:p xmlns:a="http://schemas.openxmlformats.org/drawingml/2006/main">
            <a:r>
              <a:t>저장소: examples/three_levels.py</a:t>
            </a:r>
          </a:p>
          <a:p xmlns:a="http://schemas.openxmlformats.org/drawingml/2006/main">
            <a:r>
              <a:t>저장소: paper_agent/tools.py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Trail은 연구 질문에서 공개 논문 탐색, 후보 비교, 원문 검토, 한국어 PDF 브리핑까지 이어주는 로컬 프로그램입니다. 사용자는 추천 편수를 1~5편 중에서 선택합니다. 화면은 저장소에 포함된 실제 데모 영상 미리보기입니다. 왼쪽 질문 문구는 발표용 입력 예시이며 스크린샷의 실행 결과라고 주장하는 것은 아닙니다. 실제 모드에서는 OpenAI API를 사용하고 학술 자료를 조회합니다.</a:t>
            </a:r>
          </a:p>
          <a:p xmlns:a="http://schemas.openxmlformats.org/drawingml/2006/main">
            <a:r>
              <a:t/>
            </a:r>
          </a:p>
          <a:p xmlns:a="http://schemas.openxmlformats.org/drawingml/2006/main">
            <a:r>
              <a:t>출처</a:t>
            </a:r>
          </a:p>
          <a:p xmlns:a="http://schemas.openxmlformats.org/drawingml/2006/main">
            <a:r>
              <a:t>저장소: app.py: render_new</a:t>
            </a:r>
          </a:p>
          <a:p xmlns:a="http://schemas.openxmlformats.org/drawingml/2006/main">
            <a:r>
              <a:t>저장소: assets/demo/papertrail-demo-preview.png</a:t>
            </a:r>
          </a:p>
          <a:p xmlns:a="http://schemas.openxmlformats.org/drawingml/2006/main">
            <a:r>
              <a:t>저장소: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모드는 목표 편수, 전체 후보 평가, 상세 검토 정책을 켭니다. 검색으로 저장한 모든 후보의 제목과 초록을 읽고 개별 평가와 전체 비교를 수행합니다. 초록을 확보하지 못하면 제목만 평가하고 한계를 표시해 참고 또는 제외로 분류합니다. 원문 검토 shortlist에서 실제 본문을 읽고 근거를 기록합니다. 한 편씩 검증된 초안을 저장한 뒤 요청한 편수가 준비되면 최종 조립합니다. 여기서 모든 후보란 검색해 저장한 후보 모두이지, 학계 전체나 모든 원문의 완독을 뜻하지 않습니다. 추가 검색 또는 후보 교체를 하면 필요한 평가와 비교를 갱신합니다.</a:t>
            </a:r>
          </a:p>
          <a:p xmlns:a="http://schemas.openxmlformats.org/drawingml/2006/main">
            <a:r>
              <a:t/>
            </a:r>
          </a:p>
          <a:p xmlns:a="http://schemas.openxmlformats.org/drawingml/2006/main">
            <a:r>
              <a:t>출처</a:t>
            </a:r>
          </a:p>
          <a:p xmlns:a="http://schemas.openxmlformats.org/drawingml/2006/main">
            <a:r>
              <a:t>저장소: paper_agent/tools.py: definitions, ToolExecutor.execute</a:t>
            </a:r>
          </a:p>
          <a:p xmlns:a="http://schemas.openxmlformats.org/drawingml/2006/main">
            <a:r>
              <a:t>저장소: paper_agent/screening.py</a:t>
            </a:r>
          </a:p>
          <a:p xmlns:a="http://schemas.openxmlformats.org/drawingml/2006/main">
            <a:r>
              <a:t>저장소: paper_agent/completion.py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agent.py의 Agent.run은 현재 RunState에서 질문, 후보, 근거, 남은 사용량을 구성합니다. provider.respond가 모델에 상태와 도구를 전달합니다. 모델이 function_call을 반환하면 validate_call로 인자를 검사하고 ToolExecutor.execute로 실행합니다. 성공 결과뿐 아니라 오류도 function_call_output으로 대화에 넣고 다음 모델 호출에 전달합니다. 평문 답변만으로 완료할 수 없으며 최종 도구의 검증 통과가 필요합니다. 단계에 따라 허용 도구가 달라집니다.</a:t>
            </a:r>
          </a:p>
          <a:p xmlns:a="http://schemas.openxmlformats.org/drawingml/2006/main">
            <a:r>
              <a:t/>
            </a:r>
          </a:p>
          <a:p xmlns:a="http://schemas.openxmlformats.org/drawingml/2006/main">
            <a:r>
              <a:t>출처</a:t>
            </a:r>
          </a:p>
          <a:p xmlns:a="http://schemas.openxmlformats.org/drawingml/2006/main">
            <a:r>
              <a:t>저장소: paper_agent/agent.py: Agent.run, state_view, prepare_model_request</a:t>
            </a:r>
          </a:p>
          <a:p xmlns:a="http://schemas.openxmlformats.org/drawingml/2006/main">
            <a:r>
              <a:t>저장소: paper_agent/provider.py: result_item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모델에게 주는 tools는 함수 이름, 설명, JSON Schema입니다. OpenAI Responses API는 함수 이름과 JSON 인자를 포함한 function_call을 반환합니다. 모델이 로컬 함수를 직접 실행하는 것은 아닙니다. 코드가 도구 이름, 인자 타입과 범위, 현재 상태를 검사한 뒤 실제 작업을 합니다. 결과는 요청과 같은 call_id로 연결되어 다음 모델 입력으로 돌아갑니다. 슬라이드의 ID와 응답은 설명용 예시이며 필수 decision 등 일부 필드를 생략했습니다. parallel_tool_calls=True여도 이 프로젝트의 실행 루프는 한 응답의 여러 요청을 순차 실행합니다.</a:t>
            </a:r>
          </a:p>
          <a:p xmlns:a="http://schemas.openxmlformats.org/drawingml/2006/main">
            <a:r>
              <a:t/>
            </a:r>
          </a:p>
          <a:p xmlns:a="http://schemas.openxmlformats.org/drawingml/2006/main">
            <a:r>
              <a:t>출처</a:t>
            </a:r>
          </a:p>
          <a:p xmlns:a="http://schemas.openxmlformats.org/drawingml/2006/main">
            <a:r>
              <a:t>저장소: paper_agent/provider.py: OpenAIProvider.respond, Call, result_item</a:t>
            </a:r>
          </a:p>
          <a:p xmlns:a="http://schemas.openxmlformats.org/drawingml/2006/main">
            <a:r>
              <a:t>저장소: paper_agent/tools.py: validate_call, ToolExecutor.execute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모델은 어떤 질의로 검색할지, 어떤 후보가 관련 있는지, 어느 원문 구간이 필요한지, 설명을 어떻게 작성할지 판단합니다. Python은 실제 네트워크 요청을 수행하고 자료와 상태를 저장하고 형식과 참조 무결성을 검사하며 한도를 적용합니다. 도구 선택에는 자율성이 있지만 무제한 행동 권한은 없습니다. Paper Trail은 등록한 도구만 사용하고 임의 웹 사이트나 임의 코드 실행을 허용하지 않습니다. 단일 에이전트의 도구 사용과 검증 구조입니다.</a:t>
            </a:r>
          </a:p>
          <a:p xmlns:a="http://schemas.openxmlformats.org/drawingml/2006/main">
            <a:r>
              <a:t/>
            </a:r>
          </a:p>
          <a:p xmlns:a="http://schemas.openxmlformats.org/drawingml/2006/main">
            <a:r>
              <a:t>출처</a:t>
            </a:r>
          </a:p>
          <a:p xmlns:a="http://schemas.openxmlformats.org/drawingml/2006/main">
            <a:r>
              <a:t>저장소: paper_agent/provider.py: SYSTEM</a:t>
            </a:r>
          </a:p>
          <a:p xmlns:a="http://schemas.openxmlformats.org/drawingml/2006/main">
            <a:r>
              <a:t>저장소: paper_agent/tools.py</a:t>
            </a:r>
          </a:p>
          <a:p xmlns:a="http://schemas.openxmlformats.org/drawingml/2006/main">
            <a:r>
              <a:t>저장소: paper_agent/network.py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fetch_fulltext는 원문을 확보해 청크로 저장하지만 읽음 처리는 하지 않습니다. read_chunks를 호출해야 열람 구간에 기록합니다. 상세 모드에서는 원문 구절마다 quote_id를 제공하고 모델이 이를 선택하면 프로그램이 정확한 텍스트로 Evidence를 저장합니다. PaperBrief의 evidence_ids는 이 노트와 연결됩니다. 본문 최소 8구간, 네 주요 항목 최소 4구간의 근거, 항목별 최소 분량 등을 검사하고 짧은 원문에는 완화된 범위를 적용합니다. 검증은 위치와 참조, 읽기 및 구조를 확인합니다. 인용이 주장을 의미적으로 뒷받침하는지까지 증명하지는 않습니다.</a:t>
            </a:r>
          </a:p>
          <a:p xmlns:a="http://schemas.openxmlformats.org/drawingml/2006/main">
            <a:r>
              <a:t/>
            </a:r>
          </a:p>
          <a:p xmlns:a="http://schemas.openxmlformats.org/drawingml/2006/main">
            <a:r>
              <a:t>출처</a:t>
            </a:r>
          </a:p>
          <a:p xmlns:a="http://schemas.openxmlformats.org/drawingml/2006/main">
            <a:r>
              <a:t>저장소: paper_agent/sources.py: chunks_from_sections</a:t>
            </a:r>
          </a:p>
          <a:p xmlns:a="http://schemas.openxmlformats.org/drawingml/2006/main">
            <a:r>
              <a:t>저장소: paper_agent/depth.py</a:t>
            </a:r>
          </a:p>
          <a:p xmlns:a="http://schemas.openxmlformats.org/drawingml/2006/main">
            <a:r>
              <a:t>저장소: paper_agent/tools.py: record_evidence, write_paper_brief, validate_citations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행은 실제 실행을 인용한 것이 아니라 가능한 후속 행동을 설명하는 예시입니다. 검색 결과가 비면 모델이 검색어, 소스, 페이지를 바꿀 수 있습니다. arXiv HTML이 실패하면 PDF를 선택할 수 있습니다. 초안의 인용 연결이 잘못되면 검증기가 repairs를 돌려주고 모델이 추가 원문을 읽거나 근거 또는 초안을 수정합니다. 같은 HTTP 요청의 일시 오류 재시도는 Network 코드가 담당하지만 자료 경로나 연구 전략 변경은 모델이 결정합니다. 예시 체험의 고정 재생과 이 자율 선택을 구분합니다.</a:t>
            </a:r>
          </a:p>
          <a:p xmlns:a="http://schemas.openxmlformats.org/drawingml/2006/main">
            <a:r>
              <a:t/>
            </a:r>
          </a:p>
          <a:p xmlns:a="http://schemas.openxmlformats.org/drawingml/2006/main">
            <a:r>
              <a:t>출처</a:t>
            </a:r>
          </a:p>
          <a:p xmlns:a="http://schemas.openxmlformats.org/drawingml/2006/main">
            <a:r>
              <a:t>저장소: paper_agent/agent.py: Agent.run</a:t>
            </a:r>
          </a:p>
          <a:p xmlns:a="http://schemas.openxmlformats.org/drawingml/2006/main">
            <a:r>
              <a:t>저장소: paper_agent/network.py</a:t>
            </a:r>
          </a:p>
          <a:p xmlns:a="http://schemas.openxmlformats.org/drawingml/2006/main">
            <a:r>
              <a:t>저장소: paper_agent/tools.py: ToolExecutor.execute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app.py가 상태를 저장하고 worker.py의 launch로 별도 supervisor를 띄웁니다. worker는 단일 연구 실행 잠금, 중지, 시간 초과를 관리하고 child에서 Agent를 실행합니다. Agent는 provider를 통해 OpenAI에 요청하고 tools를 통해 실제 자료 작업을 실행합니다. sources와 network가 공개 학술 API와 원문을 담당합니다. RunState는 Store를 통해 JSON으로 저장되고 UI는 약 2초마다 파일을 조회합니다. 이 그림의 연결은 모듈 책임을 나타냅니다. PDF는 완료 또는 종료된 상태를 이용하는 별도 후처리입니다. worker와 PDF 프로세스는 독립적인 LLM 에이전트가 아닙니다.</a:t>
            </a:r>
          </a:p>
          <a:p xmlns:a="http://schemas.openxmlformats.org/drawingml/2006/main">
            <a:r>
              <a:t/>
            </a:r>
          </a:p>
          <a:p xmlns:a="http://schemas.openxmlformats.org/drawingml/2006/main">
            <a:r>
              <a:t>출처</a:t>
            </a:r>
          </a:p>
          <a:p xmlns:a="http://schemas.openxmlformats.org/drawingml/2006/main">
            <a:r>
              <a:t>저장소: app.py</a:t>
            </a:r>
          </a:p>
          <a:p xmlns:a="http://schemas.openxmlformats.org/drawingml/2006/main">
            <a:r>
              <a:t>저장소: paper_agent/worker.py</a:t>
            </a:r>
          </a:p>
          <a:p xmlns:a="http://schemas.openxmlformats.org/drawingml/2006/main">
            <a:r>
              <a:t>저장소: paper_agent/agent.py</a:t>
            </a:r>
          </a:p>
          <a:p xmlns:a="http://schemas.openxmlformats.org/drawingml/2006/main">
            <a:r>
              <a:t>저장소: paper_agent/store.py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논문 모드를 사용하면 OpenAI 모델과 실제 학술 API가 실행됩니다. 비용과 네트워크 지연이 있을 수 있으므로 발표자는 미리 준비한 완료 결과와 저장소의 데모 영상도 사용할 수 있습니다. 예시 체험은 합성 논문과 고정 응답을 재생하므로 실제 LLM의 판단을 증명하지 않습니다. 실제 실행 중에는 검색 사이트와 검색어, 읽는 논문과 구간이 바뀌는 장면을 보여 줍니다. 완료 후 전체 후보 평가 탭에서 탈락 후보도 남는 점을 보고 추천 논문과 PDF에서 네 항목을 확인합니다. 데모 영상: https://github.com/seewhyDev/Paper-Trail/raw/refs/heads/main/assets/demo/papertrail-demo.mp4</a:t>
            </a:r>
          </a:p>
          <a:p xmlns:a="http://schemas.openxmlformats.org/drawingml/2006/main">
            <a:r>
              <a:t/>
            </a:r>
          </a:p>
          <a:p xmlns:a="http://schemas.openxmlformats.org/drawingml/2006/main">
            <a:r>
              <a:t>출처</a:t>
            </a:r>
          </a:p>
          <a:p xmlns:a="http://schemas.openxmlformats.org/drawingml/2006/main">
            <a:r>
              <a:t>저장소: app.py: render_activity, render_candidates, render_recommendations</a:t>
            </a:r>
          </a:p>
          <a:p xmlns:a="http://schemas.openxmlformats.org/drawingml/2006/main">
            <a:r>
              <a:t>저장소: paper_agent/demo.py</a:t>
            </a:r>
          </a:p>
          <a:p xmlns:a="http://schemas.openxmlformats.org/drawingml/2006/main">
            <a:r>
              <a:t>저장소: paper_agent/worker.py: child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Trail은 하나의 모델이 자료와 결과를 보고 다음 행동을 선택하는 단일 에이전트입니다. 실제 실행과 상태 저장, 근거 검증, 한도는 Python이 담당합니다. 중요한 연결은 관측이 다음 판단으로 돌아온다는 점입니다. 검색, 읽기, 비교, 수정 중 무엇이 필요한지 모델이 고르지만 프로그램은 필수 검증을 통과해야만 완료로 인정합니다. 이 뒤에는 질문에 따라 활용할 기술과 실행 제어 부록이 있습니다.</a:t>
            </a:r>
          </a:p>
          <a:p xmlns:a="http://schemas.openxmlformats.org/drawingml/2006/main">
            <a:r>
              <a:t/>
            </a:r>
          </a:p>
          <a:p xmlns:a="http://schemas.openxmlformats.org/drawingml/2006/main">
            <a:r>
              <a:t>출처</a:t>
            </a:r>
          </a:p>
          <a:p xmlns:a="http://schemas.openxmlformats.org/drawingml/2006/main">
            <a:r>
              <a:t>저장소: paper_agent/agent.py</a:t>
            </a:r>
          </a:p>
          <a:p xmlns:a="http://schemas.openxmlformats.org/drawingml/2006/main">
            <a:r>
              <a:t>저장소: paper_agent/tools.py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설치 의존성은 pyproject.toml에 정의되어 있습니다. OpenAI SDK는 provider.py에서 Responses API를 연결하고, Pydantic은 상태와 도구 인자, JSON Schema를 담당합니다. httpx는 Network 계층에서 학술 요청을 수행합니다. BeautifulSoup, defusedxml, pypdf가 HTML/XML/PDF를 파싱합니다. Streamlit은 화면, ReportLab은 PDF 렌더링입니다. 별도 DB, 벡터 DB, 임베딩 모델, LangChain 또는 LangGraph는 사용하지 않습니다. API 검색 소스는 arXiv, Crossref, Europe PMC이며 Crossref는 메타데이터 소스입니다. 기본 모델명 gpt-5.4-mini는 저장소 설정이며 OPENAI_MODEL로 변경할 수 있습니다.</a:t>
            </a:r>
          </a:p>
          <a:p xmlns:a="http://schemas.openxmlformats.org/drawingml/2006/main">
            <a:r>
              <a:t/>
            </a:r>
          </a:p>
          <a:p xmlns:a="http://schemas.openxmlformats.org/drawingml/2006/main">
            <a:r>
              <a:t>출처</a:t>
            </a:r>
          </a:p>
          <a:p xmlns:a="http://schemas.openxmlformats.org/drawingml/2006/main">
            <a:r>
              <a:t>저장소: pyproject.toml</a:t>
            </a:r>
          </a:p>
          <a:p xmlns:a="http://schemas.openxmlformats.org/drawingml/2006/main">
            <a:r>
              <a:t>저장소: paper_agent/provider.py</a:t>
            </a:r>
          </a:p>
          <a:p xmlns:a="http://schemas.openxmlformats.org/drawingml/2006/main">
            <a:r>
              <a:t>저장소: paper_agent/sources.py</a:t>
            </a:r>
          </a:p>
          <a:p xmlns:a="http://schemas.openxmlformats.org/drawingml/2006/main">
            <a:r>
              <a:t>저장소: paper_agent/config.py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RunState가 질문, 후보, 근거, 초안, 대화와 누적 사용량을 보관합니다. Store는 실행별 state.json을 파일 잠금과 원자적 교체로 저장합니다. 중단된 실행은 재개 조건을 만족할 때 기존 자료와 사용량을 유지한 채 이어집니다. 기본 한도는 검색 6회, 도구 80회, 서로 다른 원문 시도 5편, 시간 480초입니다. 호출 횟수와 총 토큰의 auto는 고정 상한이 없다는 의미이며 나머지 한도는 유지됩니다. 진전 없는 연속 호출은 3회에 복구 지시, 기본 6회에 중단합니다. 강제 종료로 결과가 미확정인 호출은 성공으로 처리하거나 자동 재실행하지 않습니다.</a:t>
            </a:r>
          </a:p>
          <a:p xmlns:a="http://schemas.openxmlformats.org/drawingml/2006/main">
            <a:r>
              <a:t/>
            </a:r>
          </a:p>
          <a:p xmlns:a="http://schemas.openxmlformats.org/drawingml/2006/main">
            <a:r>
              <a:t>출처</a:t>
            </a:r>
          </a:p>
          <a:p xmlns:a="http://schemas.openxmlformats.org/drawingml/2006/main">
            <a:r>
              <a:t>저장소: paper_agent/schema.py: RunState, Limits</a:t>
            </a:r>
          </a:p>
          <a:p xmlns:a="http://schemas.openxmlformats.org/drawingml/2006/main">
            <a:r>
              <a:t>저장소: paper_agent/store.py</a:t>
            </a:r>
          </a:p>
          <a:p xmlns:a="http://schemas.openxmlformats.org/drawingml/2006/main">
            <a:r>
              <a:t>저장소: paper_agent/progress.py</a:t>
            </a:r>
          </a:p>
          <a:p xmlns:a="http://schemas.openxmlformats.org/drawingml/2006/main">
            <a:r>
              <a:t>저장소: paper_agent/completion.py</a:t>
            </a:r>
          </a:p>
          <a:p xmlns:a="http://schemas.openxmlformats.org/drawingml/2006/main">
            <a:r>
              <a:t>저장소: paper_agent/worker.py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579110df544a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3b58669efc439e" /><Relationship Type="http://schemas.openxmlformats.org/officeDocument/2006/relationships/slideLayout" Target="/ppt/slideLayouts/slideLayout1.xml" Id="R82125eeb46f34f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125eeb46f34f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06f7c5578c47b5" /><Relationship Type="http://schemas.openxmlformats.org/officeDocument/2006/relationships/notesSlide" Target="/ppt/notesSlides/notesSlide1.xml" Id="R1fa74f813a9446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8676e7ff234991" /><Relationship Type="http://schemas.openxmlformats.org/officeDocument/2006/relationships/notesSlide" Target="/ppt/notesSlides/notesSlide2.xml" Id="R8e89de5271a34c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94f28528fd4522" /><Relationship Type="http://schemas.openxmlformats.org/officeDocument/2006/relationships/notesSlide" Target="/ppt/notesSlides/notesSlide3.xml" Id="Ra090f9ae8e304c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fa8a194b09492d" /><Relationship Type="http://schemas.openxmlformats.org/officeDocument/2006/relationships/notesSlide" Target="/ppt/notesSlides/notesSlide4.xml" Id="R167eb9dc7b2942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97a0ecb1b84b7f" /><Relationship Type="http://schemas.openxmlformats.org/officeDocument/2006/relationships/image" Target="/ppt/media/image.png" Id="R92d037feaa0b4425" /><Relationship Type="http://schemas.openxmlformats.org/officeDocument/2006/relationships/notesSlide" Target="/ppt/notesSlides/notesSlide5.xml" Id="R544f7fe94f2941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22ae092d3e4207" /><Relationship Type="http://schemas.openxmlformats.org/officeDocument/2006/relationships/notesSlide" Target="/ppt/notesSlides/notesSlide6.xml" Id="R2c85cba4060b4b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a55e963e6e4d89" /><Relationship Type="http://schemas.openxmlformats.org/officeDocument/2006/relationships/notesSlide" Target="/ppt/notesSlides/notesSlide7.xml" Id="R1f48c7111fa347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7d77c2115f40f3" /><Relationship Type="http://schemas.openxmlformats.org/officeDocument/2006/relationships/notesSlide" Target="/ppt/notesSlides/notesSlide8.xml" Id="R8b46e8b30efd46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323db652844435" /><Relationship Type="http://schemas.openxmlformats.org/officeDocument/2006/relationships/notesSlide" Target="/ppt/notesSlides/notesSlide9.xml" Id="Rd1a6708288e44a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c40932fe014bab" /><Relationship Type="http://schemas.openxmlformats.org/officeDocument/2006/relationships/notesSlide" Target="/ppt/notesSlides/notesSlide10.xml" Id="Rccb6b0e4a5524a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8ea9e7b4274850" /><Relationship Type="http://schemas.openxmlformats.org/officeDocument/2006/relationships/notesSlide" Target="/ppt/notesSlides/notesSlide11.xml" Id="Re04acf825ca846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c9a0ce0f87f4543" /><Relationship Type="http://schemas.openxmlformats.org/officeDocument/2006/relationships/notesSlide" Target="/ppt/notesSlides/notesSlide12.xml" Id="R90de06a617c745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c95242e5b7b478a" /><Relationship Type="http://schemas.openxmlformats.org/officeDocument/2006/relationships/notesSlide" Target="/ppt/notesSlides/notesSlide13.xml" Id="Racd65c79237b4f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ac798aada44ac5" /><Relationship Type="http://schemas.openxmlformats.org/officeDocument/2006/relationships/notesSlide" Target="/ppt/notesSlides/notesSlide14.xml" Id="R46123453369346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da675a8e0b544e7" /><Relationship Type="http://schemas.openxmlformats.org/officeDocument/2006/relationships/notesSlide" Target="/ppt/notesSlides/notesSlide15.xml" Id="R996317822aa144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897671999774ee5" /><Relationship Type="http://schemas.openxmlformats.org/officeDocument/2006/relationships/notesSlide" Target="/ppt/notesSlides/notesSlide16.xml" Id="Ra36b091cd8ef4eca" /></Relationships>
</file>

<file path=ppt/slides/slide1.xml><?xml version="1.0" encoding="utf-8"?>
<p:sld xmlns:p="http://schemas.openxmlformats.org/presentationml/2006/main">
  <p:cSld>
    <p:bg>
      <p:bgPr>
        <a:solidFill xmlns:a="http://schemas.openxmlformats.org/drawingml/2006/main">
          <a:srgbClr val="173D39"/>
        </a:solidFill>
      </p:bgPr>
    </p:bg>
    <p:spTree>
      <p:nvGrpSpPr>
        <p:cNvPr id="1" name=""/>
        <p:cNvGrpSpPr/>
        <p:nvPr/>
      </p:nvGrpSpPr>
      <p:grpSpPr>
        <a:xfrm xmlns:a="http://schemas.openxmlformats.org/drawingml/2006/main"/>
      </p:grpSpPr>
      <p:sp>
        <p:nvSpPr>
          <p:cNvPr id="5" name="01">
            <a:extLst xmlns:a="http://schemas.openxmlformats.org/drawingml/2006/main">
              <a:ext uri="{FF2B5EF4-FFF2-40B4-BE49-F238E27FC236}">
                <a16:creationId xmlns:a16="http://schemas.microsoft.com/office/drawing/2014/main" id="{375301DD-7E18-4B97-A0CF-F110F4ADE07F}"/>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8C7BA"/>
                </a:solidFill>
                <a:latin typeface="Apple SD Gothic Neo"/>
                <a:ea typeface="Apple SD Gothic Neo"/>
                <a:cs typeface="Apple SD Gothic Neo"/>
              </a:defRPr>
            </a:pPr>
            <a:r>
              <a:rPr sz="1275" b="0">
                <a:solidFill>
                  <a:srgbClr val="A8C7BA"/>
                </a:solidFill>
                <a:latin typeface="Apple SD Gothic Neo"/>
                <a:ea typeface="Apple SD Gothic Neo"/>
                <a:cs typeface="Apple SD Gothic Neo"/>
              </a:rPr>
              <a:t>01</a:t>
            </a:r>
          </a:p>
        </p:txBody>
      </p:sp>
      <p:sp>
        <p:nvSpPr>
          <p:cNvPr id="2" name="AI 에이전트의 구조">
            <a:extLst xmlns:a="http://schemas.openxmlformats.org/drawingml/2006/main">
              <a:ext uri="{FF2B5EF4-FFF2-40B4-BE49-F238E27FC236}">
                <a16:creationId xmlns:a16="http://schemas.microsoft.com/office/drawing/2014/main" id="{16AAB9E1-30CB-4652-9437-DC14CBD69A40}"/>
              </a:ext>
            </a:extLst>
          </p:cNvPr>
          <p:cNvSpPr>
            <a:spLocks xmlns:a="http://schemas.openxmlformats.org/drawingml/2006/main" noGrp="1"/>
          </p:cNvSpPr>
          <p:nvPr/>
        </p:nvSpPr>
        <p:spPr>
          <a:xfrm xmlns:a="http://schemas.openxmlformats.org/drawingml/2006/main">
            <a:off x="609600" y="1714500"/>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FFFFF"/>
                </a:solidFill>
                <a:latin typeface="Apple SD Gothic Neo"/>
                <a:ea typeface="Apple SD Gothic Neo"/>
                <a:cs typeface="Apple SD Gothic Neo"/>
              </a:defRPr>
            </a:pPr>
            <a:r>
              <a:rPr sz="5400" b="1">
                <a:solidFill>
                  <a:srgbClr val="FFFFFF"/>
                </a:solidFill>
                <a:latin typeface="Apple SD Gothic Neo"/>
                <a:ea typeface="Apple SD Gothic Neo"/>
                <a:cs typeface="Apple SD Gothic Neo"/>
              </a:rPr>
              <a:t>AI 에이전트의 구조</a:t>
            </a:r>
          </a:p>
        </p:txBody>
      </p:sp>
      <p:sp>
        <p:nvSpPr>
          <p:cNvPr id="3" name="Paper Trail로 살펴보는 도구 사용과 반복">
            <a:extLst xmlns:a="http://schemas.openxmlformats.org/drawingml/2006/main">
              <a:ext uri="{FF2B5EF4-FFF2-40B4-BE49-F238E27FC236}">
                <a16:creationId xmlns:a16="http://schemas.microsoft.com/office/drawing/2014/main" id="{5F66016B-1C8D-451B-8156-71BCC2BF3324}"/>
              </a:ext>
            </a:extLst>
          </p:cNvPr>
          <p:cNvSpPr>
            <a:spLocks xmlns:a="http://schemas.openxmlformats.org/drawingml/2006/main" noGrp="1"/>
          </p:cNvSpPr>
          <p:nvPr/>
        </p:nvSpPr>
        <p:spPr>
          <a:xfrm xmlns:a="http://schemas.openxmlformats.org/drawingml/2006/main">
            <a:off x="647700" y="2952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7DBD1"/>
                </a:solidFill>
                <a:latin typeface="Apple SD Gothic Neo"/>
                <a:ea typeface="Apple SD Gothic Neo"/>
                <a:cs typeface="Apple SD Gothic Neo"/>
              </a:defRPr>
            </a:pPr>
            <a:r>
              <a:rPr sz="2550" b="0">
                <a:solidFill>
                  <a:srgbClr val="C7DBD1"/>
                </a:solidFill>
                <a:latin typeface="Apple SD Gothic Neo"/>
                <a:ea typeface="Apple SD Gothic Neo"/>
                <a:cs typeface="Apple SD Gothic Neo"/>
              </a:rPr>
              <a:t>Paper Trail로 살펴보는 도구 사용과 반복</a:t>
            </a:r>
          </a:p>
        </p:txBody>
      </p:sp>
      <p:sp>
        <p:nvSpPr>
          <p:cNvPr id="4" name="연구 질문을 논문 브리핑으로 만드는 과정">
            <a:extLst xmlns:a="http://schemas.openxmlformats.org/drawingml/2006/main">
              <a:ext uri="{FF2B5EF4-FFF2-40B4-BE49-F238E27FC236}">
                <a16:creationId xmlns:a16="http://schemas.microsoft.com/office/drawing/2014/main" id="{68F51C5F-EFFC-494C-BD6A-F31B80DFACE5}"/>
              </a:ext>
            </a:extLst>
          </p:cNvPr>
          <p:cNvSpPr>
            <a:spLocks xmlns:a="http://schemas.openxmlformats.org/drawingml/2006/main" noGrp="1"/>
          </p:cNvSpPr>
          <p:nvPr/>
        </p:nvSpPr>
        <p:spPr>
          <a:xfrm xmlns:a="http://schemas.openxmlformats.org/drawingml/2006/main">
            <a:off x="647700" y="4476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8C7BA"/>
                </a:solidFill>
                <a:latin typeface="Apple SD Gothic Neo"/>
                <a:ea typeface="Apple SD Gothic Neo"/>
                <a:cs typeface="Apple SD Gothic Neo"/>
              </a:defRPr>
            </a:pPr>
            <a:r>
              <a:rPr sz="2025" b="0">
                <a:solidFill>
                  <a:srgbClr val="A8C7BA"/>
                </a:solidFill>
                <a:latin typeface="Apple SD Gothic Neo"/>
                <a:ea typeface="Apple SD Gothic Neo"/>
                <a:cs typeface="Apple SD Gothic Neo"/>
              </a:rPr>
              <a:t>연구 질문을 논문 브리핑으로 만드는 과정</a:t>
            </a:r>
          </a:p>
        </p:txBody>
      </p:sp>
    </p:spTree>
    <p:extLst>
      <p:ext uri="{BB962C8B-B14F-4D97-AF65-F5344CB8AC3E}">
        <p14:creationId xmlns:p14="http://schemas.microsoft.com/office/powerpoint/2010/main" val="1838810156"/>
      </p:ext>
    </p:extLst>
  </p:cSld>
</p:sld>
</file>

<file path=ppt/slides/slide2.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3C61E28C-83A3-4ED6-9472-B0E45F35F7BF}"/>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에이전트의 개념</a:t>
            </a:r>
          </a:p>
        </p:txBody>
      </p:sp>
      <p:sp>
        <p:nvSpPr>
          <p:cNvPr id="2" name="목표를 향해 현재 상황을 보고, 다음 행동을 선택하는 ">
            <a:extLst xmlns:a="http://schemas.openxmlformats.org/drawingml/2006/main">
              <a:ext uri="{FF2B5EF4-FFF2-40B4-BE49-F238E27FC236}">
                <a16:creationId xmlns:a16="http://schemas.microsoft.com/office/drawing/2014/main" id="{D1721CA6-0B41-4A78-9148-0215D2CE58F8}"/>
              </a:ext>
            </a:extLst>
          </p:cNvPr>
          <p:cNvSpPr>
            <a:spLocks xmlns:a="http://schemas.openxmlformats.org/drawingml/2006/main" noGrp="1"/>
          </p:cNvSpPr>
          <p:nvPr/>
        </p:nvSpPr>
        <p:spPr>
          <a:xfrm xmlns:a="http://schemas.openxmlformats.org/drawingml/2006/main">
            <a:off x="628650" y="12382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목표를 향해 현재 상황을 보고, 다음 행동을 선택하는 시스템</a:t>
            </a:r>
          </a:p>
        </p:txBody>
      </p:sp>
      <p:sp>
        <p:nvSpPr>
          <p:cNvPr id="3" name="02">
            <a:extLst xmlns:a="http://schemas.openxmlformats.org/drawingml/2006/main">
              <a:ext uri="{FF2B5EF4-FFF2-40B4-BE49-F238E27FC236}">
                <a16:creationId xmlns:a16="http://schemas.microsoft.com/office/drawing/2014/main" id="{9672428F-0A67-4BBC-8E5F-76151EBCDC9C}"/>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02</a:t>
            </a:r>
          </a:p>
        </p:txBody>
      </p:sp>
      <p:sp>
        <p:nvSpPr>
          <p:cNvPr id="4" name="관측">
            <a:extLst xmlns:a="http://schemas.openxmlformats.org/drawingml/2006/main">
              <a:ext uri="{FF2B5EF4-FFF2-40B4-BE49-F238E27FC236}">
                <a16:creationId xmlns:a16="http://schemas.microsoft.com/office/drawing/2014/main" id="{FE2E395E-A987-4979-8CB4-4DE72D14F714}"/>
              </a:ext>
            </a:extLst>
          </p:cNvPr>
          <p:cNvSpPr>
            <a:spLocks xmlns:a="http://schemas.openxmlformats.org/drawingml/2006/main" noGrp="1"/>
          </p:cNvSpPr>
          <p:nvPr/>
        </p:nvSpPr>
        <p:spPr>
          <a:xfrm xmlns:a="http://schemas.openxmlformats.org/drawingml/2006/main">
            <a:off x="1095375" y="2667000"/>
            <a:ext cx="2571750" cy="11620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5" name="관측">
            <a:extLst xmlns:a="http://schemas.openxmlformats.org/drawingml/2006/main">
              <a:ext uri="{FF2B5EF4-FFF2-40B4-BE49-F238E27FC236}">
                <a16:creationId xmlns:a16="http://schemas.microsoft.com/office/drawing/2014/main" id="{63243585-D3F3-44B3-BE6F-F850495F4F9F}"/>
              </a:ext>
            </a:extLst>
          </p:cNvPr>
          <p:cNvSpPr>
            <a:spLocks xmlns:a="http://schemas.openxmlformats.org/drawingml/2006/main" noGrp="1"/>
          </p:cNvSpPr>
          <p:nvPr/>
        </p:nvSpPr>
        <p:spPr>
          <a:xfrm xmlns:a="http://schemas.openxmlformats.org/drawingml/2006/main">
            <a:off x="1209675" y="2838450"/>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관측</a:t>
            </a:r>
          </a:p>
        </p:txBody>
      </p:sp>
      <p:sp>
        <p:nvSpPr>
          <p:cNvPr id="6" name="지금 무엇을 알고 있나">
            <a:extLst xmlns:a="http://schemas.openxmlformats.org/drawingml/2006/main">
              <a:ext uri="{FF2B5EF4-FFF2-40B4-BE49-F238E27FC236}">
                <a16:creationId xmlns:a16="http://schemas.microsoft.com/office/drawing/2014/main" id="{76EA8A9E-D37E-4C4E-9DE2-2880A3888985}"/>
              </a:ext>
            </a:extLst>
          </p:cNvPr>
          <p:cNvSpPr>
            <a:spLocks xmlns:a="http://schemas.openxmlformats.org/drawingml/2006/main" noGrp="1"/>
          </p:cNvSpPr>
          <p:nvPr/>
        </p:nvSpPr>
        <p:spPr>
          <a:xfrm xmlns:a="http://schemas.openxmlformats.org/drawingml/2006/main">
            <a:off x="1209675" y="3238500"/>
            <a:ext cx="234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지금 무엇을 알고 있나</a:t>
            </a:r>
          </a:p>
        </p:txBody>
      </p:sp>
      <p:sp>
        <p:nvSpPr>
          <p:cNvPr id="7" name="판단">
            <a:extLst xmlns:a="http://schemas.openxmlformats.org/drawingml/2006/main">
              <a:ext uri="{FF2B5EF4-FFF2-40B4-BE49-F238E27FC236}">
                <a16:creationId xmlns:a16="http://schemas.microsoft.com/office/drawing/2014/main" id="{5582F8A9-818E-4C34-8556-E4EE9CC152B0}"/>
              </a:ext>
            </a:extLst>
          </p:cNvPr>
          <p:cNvSpPr>
            <a:spLocks xmlns:a="http://schemas.openxmlformats.org/drawingml/2006/main" noGrp="1"/>
          </p:cNvSpPr>
          <p:nvPr/>
        </p:nvSpPr>
        <p:spPr>
          <a:xfrm xmlns:a="http://schemas.openxmlformats.org/drawingml/2006/main">
            <a:off x="4810125" y="2667000"/>
            <a:ext cx="2571750" cy="1162050"/>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8" name="판단">
            <a:extLst xmlns:a="http://schemas.openxmlformats.org/drawingml/2006/main">
              <a:ext uri="{FF2B5EF4-FFF2-40B4-BE49-F238E27FC236}">
                <a16:creationId xmlns:a16="http://schemas.microsoft.com/office/drawing/2014/main" id="{DDE39FCB-2668-4744-BEDF-92D6BC88AFC2}"/>
              </a:ext>
            </a:extLst>
          </p:cNvPr>
          <p:cNvSpPr>
            <a:spLocks xmlns:a="http://schemas.openxmlformats.org/drawingml/2006/main" noGrp="1"/>
          </p:cNvSpPr>
          <p:nvPr/>
        </p:nvSpPr>
        <p:spPr>
          <a:xfrm xmlns:a="http://schemas.openxmlformats.org/drawingml/2006/main">
            <a:off x="4924425" y="2838450"/>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판단</a:t>
            </a:r>
          </a:p>
        </p:txBody>
      </p:sp>
      <p:sp>
        <p:nvSpPr>
          <p:cNvPr id="9" name="다음에 무엇을 할까">
            <a:extLst xmlns:a="http://schemas.openxmlformats.org/drawingml/2006/main">
              <a:ext uri="{FF2B5EF4-FFF2-40B4-BE49-F238E27FC236}">
                <a16:creationId xmlns:a16="http://schemas.microsoft.com/office/drawing/2014/main" id="{EF9DA68E-E11C-4FCB-BD1D-C9DCED0A5A8B}"/>
              </a:ext>
            </a:extLst>
          </p:cNvPr>
          <p:cNvSpPr>
            <a:spLocks xmlns:a="http://schemas.openxmlformats.org/drawingml/2006/main" noGrp="1"/>
          </p:cNvSpPr>
          <p:nvPr/>
        </p:nvSpPr>
        <p:spPr>
          <a:xfrm xmlns:a="http://schemas.openxmlformats.org/drawingml/2006/main">
            <a:off x="4924425" y="3238500"/>
            <a:ext cx="234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D5EBE3"/>
                </a:solidFill>
                <a:latin typeface="Apple SD Gothic Neo"/>
                <a:ea typeface="Apple SD Gothic Neo"/>
                <a:cs typeface="Apple SD Gothic Neo"/>
              </a:defRPr>
            </a:pPr>
            <a:r>
              <a:rPr sz="1500" b="0">
                <a:solidFill>
                  <a:srgbClr val="D5EBE3"/>
                </a:solidFill>
                <a:latin typeface="Apple SD Gothic Neo"/>
                <a:ea typeface="Apple SD Gothic Neo"/>
                <a:cs typeface="Apple SD Gothic Neo"/>
              </a:rPr>
              <a:t>다음에 무엇을 할까</a:t>
            </a:r>
          </a:p>
        </p:txBody>
      </p:sp>
      <p:sp>
        <p:nvSpPr>
          <p:cNvPr id="10" name="행동">
            <a:extLst xmlns:a="http://schemas.openxmlformats.org/drawingml/2006/main">
              <a:ext uri="{FF2B5EF4-FFF2-40B4-BE49-F238E27FC236}">
                <a16:creationId xmlns:a16="http://schemas.microsoft.com/office/drawing/2014/main" id="{54E5729F-8ED9-4CDA-AADA-C0A0CE828D00}"/>
              </a:ext>
            </a:extLst>
          </p:cNvPr>
          <p:cNvSpPr>
            <a:spLocks xmlns:a="http://schemas.openxmlformats.org/drawingml/2006/main" noGrp="1"/>
          </p:cNvSpPr>
          <p:nvPr/>
        </p:nvSpPr>
        <p:spPr>
          <a:xfrm xmlns:a="http://schemas.openxmlformats.org/drawingml/2006/main">
            <a:off x="8524875" y="2667000"/>
            <a:ext cx="2571750" cy="11620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1" name="행동">
            <a:extLst xmlns:a="http://schemas.openxmlformats.org/drawingml/2006/main">
              <a:ext uri="{FF2B5EF4-FFF2-40B4-BE49-F238E27FC236}">
                <a16:creationId xmlns:a16="http://schemas.microsoft.com/office/drawing/2014/main" id="{214009C6-41A7-482A-8E91-AD9C22F43187}"/>
              </a:ext>
            </a:extLst>
          </p:cNvPr>
          <p:cNvSpPr>
            <a:spLocks xmlns:a="http://schemas.openxmlformats.org/drawingml/2006/main" noGrp="1"/>
          </p:cNvSpPr>
          <p:nvPr/>
        </p:nvSpPr>
        <p:spPr>
          <a:xfrm xmlns:a="http://schemas.openxmlformats.org/drawingml/2006/main">
            <a:off x="8639175" y="2838450"/>
            <a:ext cx="2343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행동</a:t>
            </a:r>
          </a:p>
        </p:txBody>
      </p:sp>
      <p:sp>
        <p:nvSpPr>
          <p:cNvPr id="12" name="도구로 환경에 접근">
            <a:extLst xmlns:a="http://schemas.openxmlformats.org/drawingml/2006/main">
              <a:ext uri="{FF2B5EF4-FFF2-40B4-BE49-F238E27FC236}">
                <a16:creationId xmlns:a16="http://schemas.microsoft.com/office/drawing/2014/main" id="{6E2BCB39-95B1-4431-975E-818580E45EE0}"/>
              </a:ext>
            </a:extLst>
          </p:cNvPr>
          <p:cNvSpPr>
            <a:spLocks xmlns:a="http://schemas.openxmlformats.org/drawingml/2006/main" noGrp="1"/>
          </p:cNvSpPr>
          <p:nvPr/>
        </p:nvSpPr>
        <p:spPr>
          <a:xfrm xmlns:a="http://schemas.openxmlformats.org/drawingml/2006/main">
            <a:off x="8639175" y="3238500"/>
            <a:ext cx="234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도구로 환경에 접근</a:t>
            </a:r>
          </a:p>
        </p:txBody>
      </p:sp>
      <p:cxnSp>
        <p:nvCxnSpPr>
          <p:cNvPr id="30" name=""/>
          <p:cNvCxnSpPr>
            <a:stCxn xmlns:a="http://schemas.openxmlformats.org/drawingml/2006/main" id="4" idx="3"/>
            <a:endCxn xmlns:a="http://schemas.openxmlformats.org/drawingml/2006/main" id="7" idx="1"/>
          </p:cNvCxnSpPr>
          <p:nvPr/>
        </p:nvCxnSpPr>
        <p:spPr>
          <a:xfrm xmlns:a="http://schemas.openxmlformats.org/drawingml/2006/main">
            <a:off x="3667125" y="3248025"/>
            <a:ext cx="114300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31" name=""/>
          <p:cNvCxnSpPr>
            <a:stCxn xmlns:a="http://schemas.openxmlformats.org/drawingml/2006/main" id="7" idx="3"/>
            <a:endCxn xmlns:a="http://schemas.openxmlformats.org/drawingml/2006/main" id="10" idx="1"/>
          </p:cNvCxnSpPr>
          <p:nvPr/>
        </p:nvCxnSpPr>
        <p:spPr>
          <a:xfrm xmlns:a="http://schemas.openxmlformats.org/drawingml/2006/main">
            <a:off x="7381875" y="3248025"/>
            <a:ext cx="114300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32" name=""/>
          <p:cNvCxnSpPr>
            <a:stCxn xmlns:a="http://schemas.openxmlformats.org/drawingml/2006/main" id="10" idx="2"/>
            <a:endCxn xmlns:a="http://schemas.openxmlformats.org/drawingml/2006/main" id="4" idx="2"/>
          </p:cNvCxnSpPr>
          <p:nvPr/>
        </p:nvCxnSpPr>
        <p:spPr>
          <a:xfrm xmlns:a="http://schemas.openxmlformats.org/drawingml/2006/main" flipH="1">
            <a:off x="2381250" y="3829050"/>
            <a:ext cx="7429500" cy="228600"/>
          </a:xfrm>
          <a:prstGeom xmlns:a="http://schemas.openxmlformats.org/drawingml/2006/main" prst="bentConnector3">
            <a:avLst/>
          </a:prstGeom>
          <a:ln xmlns:a="http://schemas.openxmlformats.org/drawingml/2006/main" w="24765">
            <a:solidFill>
              <a:srgbClr val="087F78"/>
            </a:solidFill>
            <a:prstDash val="solid"/>
            <a:tailEnd type="triangle" w="med" len="med"/>
          </a:ln>
        </p:spPr>
      </p:cxnSp>
      <p:sp>
        <p:nvSpPr>
          <p:cNvPr id="16" name="실행 결과를 다음 판단에 반영">
            <a:extLst xmlns:a="http://schemas.openxmlformats.org/drawingml/2006/main">
              <a:ext uri="{FF2B5EF4-FFF2-40B4-BE49-F238E27FC236}">
                <a16:creationId xmlns:a16="http://schemas.microsoft.com/office/drawing/2014/main" id="{43576098-47FC-46B2-BC43-F072BE8646D9}"/>
              </a:ext>
            </a:extLst>
          </p:cNvPr>
          <p:cNvSpPr>
            <a:spLocks xmlns:a="http://schemas.openxmlformats.org/drawingml/2006/main" noGrp="1"/>
          </p:cNvSpPr>
          <p:nvPr/>
        </p:nvSpPr>
        <p:spPr>
          <a:xfrm xmlns:a="http://schemas.openxmlformats.org/drawingml/2006/main">
            <a:off x="3714750" y="44767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087F78"/>
                </a:solidFill>
                <a:latin typeface="Apple SD Gothic Neo"/>
                <a:ea typeface="Apple SD Gothic Neo"/>
                <a:cs typeface="Apple SD Gothic Neo"/>
              </a:defRPr>
            </a:pPr>
            <a:r>
              <a:rPr sz="2100" b="1">
                <a:solidFill>
                  <a:srgbClr val="087F78"/>
                </a:solidFill>
                <a:latin typeface="Apple SD Gothic Neo"/>
                <a:ea typeface="Apple SD Gothic Neo"/>
                <a:cs typeface="Apple SD Gothic Neo"/>
              </a:rPr>
              <a:t>실행 결과를 다음 판단에 반영</a:t>
            </a:r>
          </a:p>
        </p:txBody>
      </p:sp>
      <p:sp>
        <p:nvSpPr>
          <p:cNvPr id="17" name="목표 달성 또는 정해진 중단 조건까지 반복">
            <a:extLst xmlns:a="http://schemas.openxmlformats.org/drawingml/2006/main">
              <a:ext uri="{FF2B5EF4-FFF2-40B4-BE49-F238E27FC236}">
                <a16:creationId xmlns:a16="http://schemas.microsoft.com/office/drawing/2014/main" id="{4970BEAE-3590-4C3D-999F-B3C2A7068255}"/>
              </a:ext>
            </a:extLst>
          </p:cNvPr>
          <p:cNvSpPr>
            <a:spLocks xmlns:a="http://schemas.openxmlformats.org/drawingml/2006/main" noGrp="1"/>
          </p:cNvSpPr>
          <p:nvPr/>
        </p:nvSpPr>
        <p:spPr>
          <a:xfrm xmlns:a="http://schemas.openxmlformats.org/drawingml/2006/main">
            <a:off x="2762250" y="54768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목표 달성 또는 정해진 중단 조건까지 반복</a:t>
            </a:r>
          </a:p>
        </p:txBody>
      </p:sp>
    </p:spTree>
    <p:extLst>
      <p:ext uri="{BB962C8B-B14F-4D97-AF65-F5344CB8AC3E}">
        <p14:creationId xmlns:p14="http://schemas.microsoft.com/office/powerpoint/2010/main" val="988161376"/>
      </p:ext>
    </p:extLst>
  </p:cSld>
</p:sld>
</file>

<file path=ppt/slides/slide3.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AC655387-DABB-4E84-9472-99364BB25264}"/>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에이전트의 다섯 구성 요소</a:t>
            </a:r>
          </a:p>
        </p:txBody>
      </p:sp>
      <p:sp>
        <p:nvSpPr>
          <p:cNvPr id="2" name="03">
            <a:extLst xmlns:a="http://schemas.openxmlformats.org/drawingml/2006/main">
              <a:ext uri="{FF2B5EF4-FFF2-40B4-BE49-F238E27FC236}">
                <a16:creationId xmlns:a16="http://schemas.microsoft.com/office/drawing/2014/main" id="{F0C4444B-4FB2-4DDD-8251-A3B4C08B8828}"/>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03</a:t>
            </a:r>
          </a:p>
        </p:txBody>
      </p:sp>
      <p:sp>
        <p:nvSpPr>
          <p:cNvPr id="3" name="목표">
            <a:extLst xmlns:a="http://schemas.openxmlformats.org/drawingml/2006/main">
              <a:ext uri="{FF2B5EF4-FFF2-40B4-BE49-F238E27FC236}">
                <a16:creationId xmlns:a16="http://schemas.microsoft.com/office/drawing/2014/main" id="{A90FE238-0462-4931-B706-D71B544DBDAC}"/>
              </a:ext>
            </a:extLst>
          </p:cNvPr>
          <p:cNvSpPr>
            <a:spLocks xmlns:a="http://schemas.openxmlformats.org/drawingml/2006/main" noGrp="1"/>
          </p:cNvSpPr>
          <p:nvPr/>
        </p:nvSpPr>
        <p:spPr>
          <a:xfrm xmlns:a="http://schemas.openxmlformats.org/drawingml/2006/main">
            <a:off x="809625" y="2038350"/>
            <a:ext cx="142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78"/>
                </a:solidFill>
                <a:latin typeface="Apple SD Gothic Neo"/>
                <a:ea typeface="Apple SD Gothic Neo"/>
                <a:cs typeface="Apple SD Gothic Neo"/>
              </a:defRPr>
            </a:pPr>
            <a:r>
              <a:rPr sz="2400" b="1">
                <a:solidFill>
                  <a:srgbClr val="087F78"/>
                </a:solidFill>
                <a:latin typeface="Apple SD Gothic Neo"/>
                <a:ea typeface="Apple SD Gothic Neo"/>
                <a:cs typeface="Apple SD Gothic Neo"/>
              </a:rPr>
              <a:t>목표</a:t>
            </a:r>
          </a:p>
        </p:txBody>
      </p:sp>
      <p:sp>
        <p:nvSpPr>
          <p:cNvPr id="4" name="어떤 결과를 완성할 것인가">
            <a:extLst xmlns:a="http://schemas.openxmlformats.org/drawingml/2006/main">
              <a:ext uri="{FF2B5EF4-FFF2-40B4-BE49-F238E27FC236}">
                <a16:creationId xmlns:a16="http://schemas.microsoft.com/office/drawing/2014/main" id="{FA3631BE-F89D-45F2-B94A-4267A6570F03}"/>
              </a:ext>
            </a:extLst>
          </p:cNvPr>
          <p:cNvSpPr>
            <a:spLocks xmlns:a="http://schemas.openxmlformats.org/drawingml/2006/main" noGrp="1"/>
          </p:cNvSpPr>
          <p:nvPr/>
        </p:nvSpPr>
        <p:spPr>
          <a:xfrm xmlns:a="http://schemas.openxmlformats.org/drawingml/2006/main">
            <a:off x="2524125" y="207645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304C47"/>
                </a:solidFill>
                <a:latin typeface="Apple SD Gothic Neo"/>
                <a:ea typeface="Apple SD Gothic Neo"/>
                <a:cs typeface="Apple SD Gothic Neo"/>
              </a:defRPr>
            </a:pPr>
            <a:r>
              <a:rPr sz="2175" b="0">
                <a:solidFill>
                  <a:srgbClr val="304C47"/>
                </a:solidFill>
                <a:latin typeface="Apple SD Gothic Neo"/>
                <a:ea typeface="Apple SD Gothic Neo"/>
                <a:cs typeface="Apple SD Gothic Neo"/>
              </a:rPr>
              <a:t>어떤 결과를 완성할 것인가</a:t>
            </a:r>
          </a:p>
        </p:txBody>
      </p:sp>
      <p:sp>
        <p:nvSpPr>
          <p:cNvPr id="5" name="">
            <a:extLst xmlns:a="http://schemas.openxmlformats.org/drawingml/2006/main">
              <a:ext uri="{FF2B5EF4-FFF2-40B4-BE49-F238E27FC236}">
                <a16:creationId xmlns:a16="http://schemas.microsoft.com/office/drawing/2014/main" id="{A212A6A5-A9E6-4D50-A858-3AF2CF92AFEA}"/>
              </a:ext>
            </a:extLst>
          </p:cNvPr>
          <p:cNvSpPr>
            <a:spLocks xmlns:a="http://schemas.openxmlformats.org/drawingml/2006/main" noGrp="1"/>
          </p:cNvSpPr>
          <p:nvPr/>
        </p:nvSpPr>
        <p:spPr>
          <a:xfrm xmlns:a="http://schemas.openxmlformats.org/drawingml/2006/main">
            <a:off x="762000" y="2667000"/>
            <a:ext cx="10668000"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
        <p:nvSpPr>
          <p:cNvPr id="6" name="상태">
            <a:extLst xmlns:a="http://schemas.openxmlformats.org/drawingml/2006/main">
              <a:ext uri="{FF2B5EF4-FFF2-40B4-BE49-F238E27FC236}">
                <a16:creationId xmlns:a16="http://schemas.microsoft.com/office/drawing/2014/main" id="{1D701768-52C4-4399-B0FE-71B1CE536EB9}"/>
              </a:ext>
            </a:extLst>
          </p:cNvPr>
          <p:cNvSpPr>
            <a:spLocks xmlns:a="http://schemas.openxmlformats.org/drawingml/2006/main" noGrp="1"/>
          </p:cNvSpPr>
          <p:nvPr/>
        </p:nvSpPr>
        <p:spPr>
          <a:xfrm xmlns:a="http://schemas.openxmlformats.org/drawingml/2006/main">
            <a:off x="857250" y="3219450"/>
            <a:ext cx="2714625" cy="11620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7" name="상태">
            <a:extLst xmlns:a="http://schemas.openxmlformats.org/drawingml/2006/main">
              <a:ext uri="{FF2B5EF4-FFF2-40B4-BE49-F238E27FC236}">
                <a16:creationId xmlns:a16="http://schemas.microsoft.com/office/drawing/2014/main" id="{41FB3D5A-4414-48EF-969E-9FA35AFD5672}"/>
              </a:ext>
            </a:extLst>
          </p:cNvPr>
          <p:cNvSpPr>
            <a:spLocks xmlns:a="http://schemas.openxmlformats.org/drawingml/2006/main" noGrp="1"/>
          </p:cNvSpPr>
          <p:nvPr/>
        </p:nvSpPr>
        <p:spPr>
          <a:xfrm xmlns:a="http://schemas.openxmlformats.org/drawingml/2006/main">
            <a:off x="971550" y="339090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상태</a:t>
            </a:r>
          </a:p>
        </p:txBody>
      </p:sp>
      <p:sp>
        <p:nvSpPr>
          <p:cNvPr id="8" name="자료와 진행 상황">
            <a:extLst xmlns:a="http://schemas.openxmlformats.org/drawingml/2006/main">
              <a:ext uri="{FF2B5EF4-FFF2-40B4-BE49-F238E27FC236}">
                <a16:creationId xmlns:a16="http://schemas.microsoft.com/office/drawing/2014/main" id="{8519A06C-EE87-463A-BDBA-25AC20FFD018}"/>
              </a:ext>
            </a:extLst>
          </p:cNvPr>
          <p:cNvSpPr>
            <a:spLocks xmlns:a="http://schemas.openxmlformats.org/drawingml/2006/main" noGrp="1"/>
          </p:cNvSpPr>
          <p:nvPr/>
        </p:nvSpPr>
        <p:spPr>
          <a:xfrm xmlns:a="http://schemas.openxmlformats.org/drawingml/2006/main">
            <a:off x="971550" y="3790950"/>
            <a:ext cx="2486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자료와 진행 상황</a:t>
            </a:r>
          </a:p>
        </p:txBody>
      </p:sp>
      <p:sp>
        <p:nvSpPr>
          <p:cNvPr id="9" name="모델">
            <a:extLst xmlns:a="http://schemas.openxmlformats.org/drawingml/2006/main">
              <a:ext uri="{FF2B5EF4-FFF2-40B4-BE49-F238E27FC236}">
                <a16:creationId xmlns:a16="http://schemas.microsoft.com/office/drawing/2014/main" id="{05889830-C579-44AE-ADCC-8959C7CB2FBE}"/>
              </a:ext>
            </a:extLst>
          </p:cNvPr>
          <p:cNvSpPr>
            <a:spLocks xmlns:a="http://schemas.openxmlformats.org/drawingml/2006/main" noGrp="1"/>
          </p:cNvSpPr>
          <p:nvPr/>
        </p:nvSpPr>
        <p:spPr>
          <a:xfrm xmlns:a="http://schemas.openxmlformats.org/drawingml/2006/main">
            <a:off x="4714875" y="3219450"/>
            <a:ext cx="2714625" cy="1162050"/>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10" name="모델">
            <a:extLst xmlns:a="http://schemas.openxmlformats.org/drawingml/2006/main">
              <a:ext uri="{FF2B5EF4-FFF2-40B4-BE49-F238E27FC236}">
                <a16:creationId xmlns:a16="http://schemas.microsoft.com/office/drawing/2014/main" id="{0773BA97-E0D3-48CB-B744-639197554530}"/>
              </a:ext>
            </a:extLst>
          </p:cNvPr>
          <p:cNvSpPr>
            <a:spLocks xmlns:a="http://schemas.openxmlformats.org/drawingml/2006/main" noGrp="1"/>
          </p:cNvSpPr>
          <p:nvPr/>
        </p:nvSpPr>
        <p:spPr>
          <a:xfrm xmlns:a="http://schemas.openxmlformats.org/drawingml/2006/main">
            <a:off x="4829175" y="339090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모델</a:t>
            </a:r>
          </a:p>
        </p:txBody>
      </p:sp>
      <p:sp>
        <p:nvSpPr>
          <p:cNvPr id="11" name="다음 도구와 인자 선택">
            <a:extLst xmlns:a="http://schemas.openxmlformats.org/drawingml/2006/main">
              <a:ext uri="{FF2B5EF4-FFF2-40B4-BE49-F238E27FC236}">
                <a16:creationId xmlns:a16="http://schemas.microsoft.com/office/drawing/2014/main" id="{20A3B0BB-A140-4295-B1F0-AC81CA06B39B}"/>
              </a:ext>
            </a:extLst>
          </p:cNvPr>
          <p:cNvSpPr>
            <a:spLocks xmlns:a="http://schemas.openxmlformats.org/drawingml/2006/main" noGrp="1"/>
          </p:cNvSpPr>
          <p:nvPr/>
        </p:nvSpPr>
        <p:spPr>
          <a:xfrm xmlns:a="http://schemas.openxmlformats.org/drawingml/2006/main">
            <a:off x="4829175" y="3790950"/>
            <a:ext cx="2486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D5EBE3"/>
                </a:solidFill>
                <a:latin typeface="Apple SD Gothic Neo"/>
                <a:ea typeface="Apple SD Gothic Neo"/>
                <a:cs typeface="Apple SD Gothic Neo"/>
              </a:defRPr>
            </a:pPr>
            <a:r>
              <a:rPr sz="1500" b="0">
                <a:solidFill>
                  <a:srgbClr val="D5EBE3"/>
                </a:solidFill>
                <a:latin typeface="Apple SD Gothic Neo"/>
                <a:ea typeface="Apple SD Gothic Neo"/>
                <a:cs typeface="Apple SD Gothic Neo"/>
              </a:rPr>
              <a:t>다음 도구와 인자 선택</a:t>
            </a:r>
          </a:p>
        </p:txBody>
      </p:sp>
      <p:sp>
        <p:nvSpPr>
          <p:cNvPr id="12" name="도구">
            <a:extLst xmlns:a="http://schemas.openxmlformats.org/drawingml/2006/main">
              <a:ext uri="{FF2B5EF4-FFF2-40B4-BE49-F238E27FC236}">
                <a16:creationId xmlns:a16="http://schemas.microsoft.com/office/drawing/2014/main" id="{719D05FB-8F40-4AC9-96C9-1B13F0FE44EA}"/>
              </a:ext>
            </a:extLst>
          </p:cNvPr>
          <p:cNvSpPr>
            <a:spLocks xmlns:a="http://schemas.openxmlformats.org/drawingml/2006/main" noGrp="1"/>
          </p:cNvSpPr>
          <p:nvPr/>
        </p:nvSpPr>
        <p:spPr>
          <a:xfrm xmlns:a="http://schemas.openxmlformats.org/drawingml/2006/main">
            <a:off x="8572500" y="3219450"/>
            <a:ext cx="2714625" cy="11620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3" name="도구">
            <a:extLst xmlns:a="http://schemas.openxmlformats.org/drawingml/2006/main">
              <a:ext uri="{FF2B5EF4-FFF2-40B4-BE49-F238E27FC236}">
                <a16:creationId xmlns:a16="http://schemas.microsoft.com/office/drawing/2014/main" id="{D652FF42-13B2-44F2-84C5-E4BAC184D50B}"/>
              </a:ext>
            </a:extLst>
          </p:cNvPr>
          <p:cNvSpPr>
            <a:spLocks xmlns:a="http://schemas.openxmlformats.org/drawingml/2006/main" noGrp="1"/>
          </p:cNvSpPr>
          <p:nvPr/>
        </p:nvSpPr>
        <p:spPr>
          <a:xfrm xmlns:a="http://schemas.openxmlformats.org/drawingml/2006/main">
            <a:off x="8686800" y="339090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도구</a:t>
            </a:r>
          </a:p>
        </p:txBody>
      </p:sp>
      <p:sp>
        <p:nvSpPr>
          <p:cNvPr id="14" name="검색과 읽기 등 실행">
            <a:extLst xmlns:a="http://schemas.openxmlformats.org/drawingml/2006/main">
              <a:ext uri="{FF2B5EF4-FFF2-40B4-BE49-F238E27FC236}">
                <a16:creationId xmlns:a16="http://schemas.microsoft.com/office/drawing/2014/main" id="{D744C7D4-F046-4ECE-BC2F-976414D16EFC}"/>
              </a:ext>
            </a:extLst>
          </p:cNvPr>
          <p:cNvSpPr>
            <a:spLocks xmlns:a="http://schemas.openxmlformats.org/drawingml/2006/main" noGrp="1"/>
          </p:cNvSpPr>
          <p:nvPr/>
        </p:nvSpPr>
        <p:spPr>
          <a:xfrm xmlns:a="http://schemas.openxmlformats.org/drawingml/2006/main">
            <a:off x="8686800" y="3790950"/>
            <a:ext cx="2486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검색과 읽기 등 실행</a:t>
            </a:r>
          </a:p>
        </p:txBody>
      </p:sp>
      <p:cxnSp>
        <p:nvCxnSpPr>
          <p:cNvPr id="34" name=""/>
          <p:cNvCxnSpPr>
            <a:stCxn xmlns:a="http://schemas.openxmlformats.org/drawingml/2006/main" id="6" idx="3"/>
            <a:endCxn xmlns:a="http://schemas.openxmlformats.org/drawingml/2006/main" id="9" idx="1"/>
          </p:cNvCxnSpPr>
          <p:nvPr/>
        </p:nvCxnSpPr>
        <p:spPr>
          <a:xfrm xmlns:a="http://schemas.openxmlformats.org/drawingml/2006/main">
            <a:off x="3571875" y="3800475"/>
            <a:ext cx="114300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35" name=""/>
          <p:cNvCxnSpPr>
            <a:stCxn xmlns:a="http://schemas.openxmlformats.org/drawingml/2006/main" id="9" idx="3"/>
            <a:endCxn xmlns:a="http://schemas.openxmlformats.org/drawingml/2006/main" id="12" idx="1"/>
          </p:cNvCxnSpPr>
          <p:nvPr/>
        </p:nvCxnSpPr>
        <p:spPr>
          <a:xfrm xmlns:a="http://schemas.openxmlformats.org/drawingml/2006/main">
            <a:off x="7429500" y="3800475"/>
            <a:ext cx="114300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060C33FD-3D6E-4676-BA40-5885FFAC49D0}"/>
              </a:ext>
            </a:extLst>
          </p:cNvPr>
          <p:cNvSpPr>
            <a:spLocks xmlns:a="http://schemas.openxmlformats.org/drawingml/2006/main" noGrp="1"/>
          </p:cNvSpPr>
          <p:nvPr/>
        </p:nvSpPr>
        <p:spPr>
          <a:xfrm xmlns:a="http://schemas.openxmlformats.org/drawingml/2006/main">
            <a:off x="762000" y="5095875"/>
            <a:ext cx="10668000"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
        <p:nvSpPr>
          <p:cNvPr id="18" name="제어">
            <a:extLst xmlns:a="http://schemas.openxmlformats.org/drawingml/2006/main">
              <a:ext uri="{FF2B5EF4-FFF2-40B4-BE49-F238E27FC236}">
                <a16:creationId xmlns:a16="http://schemas.microsoft.com/office/drawing/2014/main" id="{778FD9B2-2846-4CB5-B745-DBC744E38620}"/>
              </a:ext>
            </a:extLst>
          </p:cNvPr>
          <p:cNvSpPr>
            <a:spLocks xmlns:a="http://schemas.openxmlformats.org/drawingml/2006/main" noGrp="1"/>
          </p:cNvSpPr>
          <p:nvPr/>
        </p:nvSpPr>
        <p:spPr>
          <a:xfrm xmlns:a="http://schemas.openxmlformats.org/drawingml/2006/main">
            <a:off x="809625" y="5381625"/>
            <a:ext cx="142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78"/>
                </a:solidFill>
                <a:latin typeface="Apple SD Gothic Neo"/>
                <a:ea typeface="Apple SD Gothic Neo"/>
                <a:cs typeface="Apple SD Gothic Neo"/>
              </a:defRPr>
            </a:pPr>
            <a:r>
              <a:rPr sz="2400" b="1">
                <a:solidFill>
                  <a:srgbClr val="087F78"/>
                </a:solidFill>
                <a:latin typeface="Apple SD Gothic Neo"/>
                <a:ea typeface="Apple SD Gothic Neo"/>
                <a:cs typeface="Apple SD Gothic Neo"/>
              </a:rPr>
              <a:t>제어</a:t>
            </a:r>
          </a:p>
        </p:txBody>
      </p:sp>
      <p:sp>
        <p:nvSpPr>
          <p:cNvPr id="19" name="반복을 운영하고 완료 조건과 한도를 검사">
            <a:extLst xmlns:a="http://schemas.openxmlformats.org/drawingml/2006/main">
              <a:ext uri="{FF2B5EF4-FFF2-40B4-BE49-F238E27FC236}">
                <a16:creationId xmlns:a16="http://schemas.microsoft.com/office/drawing/2014/main" id="{3589448E-E9CD-4A24-A793-D7E5116D5781}"/>
              </a:ext>
            </a:extLst>
          </p:cNvPr>
          <p:cNvSpPr>
            <a:spLocks xmlns:a="http://schemas.openxmlformats.org/drawingml/2006/main" noGrp="1"/>
          </p:cNvSpPr>
          <p:nvPr/>
        </p:nvSpPr>
        <p:spPr>
          <a:xfrm xmlns:a="http://schemas.openxmlformats.org/drawingml/2006/main">
            <a:off x="2524125" y="54197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304C47"/>
                </a:solidFill>
                <a:latin typeface="Apple SD Gothic Neo"/>
                <a:ea typeface="Apple SD Gothic Neo"/>
                <a:cs typeface="Apple SD Gothic Neo"/>
              </a:defRPr>
            </a:pPr>
            <a:r>
              <a:rPr sz="2175" b="0">
                <a:solidFill>
                  <a:srgbClr val="304C47"/>
                </a:solidFill>
                <a:latin typeface="Apple SD Gothic Neo"/>
                <a:ea typeface="Apple SD Gothic Neo"/>
                <a:cs typeface="Apple SD Gothic Neo"/>
              </a:rPr>
              <a:t>반복을 운영하고 완료 조건과 한도를 검사</a:t>
            </a:r>
          </a:p>
        </p:txBody>
      </p:sp>
    </p:spTree>
    <p:extLst>
      <p:ext uri="{BB962C8B-B14F-4D97-AF65-F5344CB8AC3E}">
        <p14:creationId xmlns:p14="http://schemas.microsoft.com/office/powerpoint/2010/main" val="1325926704"/>
      </p:ext>
    </p:extLst>
  </p:cSld>
</p:sld>
</file>

<file path=ppt/slides/slide4.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297F2853-0CC5-4A00-B9A8-B0D2D664A142}"/>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다음 단계를 결정하는 주체</a:t>
            </a:r>
          </a:p>
        </p:txBody>
      </p:sp>
      <p:sp>
        <p:nvSpPr>
          <p:cNvPr id="2" name="04">
            <a:extLst xmlns:a="http://schemas.openxmlformats.org/drawingml/2006/main">
              <a:ext uri="{FF2B5EF4-FFF2-40B4-BE49-F238E27FC236}">
                <a16:creationId xmlns:a16="http://schemas.microsoft.com/office/drawing/2014/main" id="{9712CA4B-668F-40F2-936B-BD05AC2C7E3B}"/>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04</a:t>
            </a:r>
          </a:p>
        </p:txBody>
      </p:sp>
      <p:sp>
        <p:nvSpPr>
          <p:cNvPr id="3" name="단순 LLM">
            <a:extLst xmlns:a="http://schemas.openxmlformats.org/drawingml/2006/main">
              <a:ext uri="{FF2B5EF4-FFF2-40B4-BE49-F238E27FC236}">
                <a16:creationId xmlns:a16="http://schemas.microsoft.com/office/drawing/2014/main" id="{0C6BD21D-E4CA-4AFC-A6DD-31D6AF13B8FD}"/>
              </a:ext>
            </a:extLst>
          </p:cNvPr>
          <p:cNvSpPr>
            <a:spLocks xmlns:a="http://schemas.openxmlformats.org/drawingml/2006/main" noGrp="1"/>
          </p:cNvSpPr>
          <p:nvPr/>
        </p:nvSpPr>
        <p:spPr>
          <a:xfrm xmlns:a="http://schemas.openxmlformats.org/drawingml/2006/main">
            <a:off x="647700" y="2219325"/>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D39"/>
                </a:solidFill>
                <a:latin typeface="Apple SD Gothic Neo"/>
                <a:ea typeface="Apple SD Gothic Neo"/>
                <a:cs typeface="Apple SD Gothic Neo"/>
              </a:defRPr>
            </a:pPr>
            <a:r>
              <a:rPr sz="2325" b="1">
                <a:solidFill>
                  <a:srgbClr val="173D39"/>
                </a:solidFill>
                <a:latin typeface="Apple SD Gothic Neo"/>
                <a:ea typeface="Apple SD Gothic Neo"/>
                <a:cs typeface="Apple SD Gothic Neo"/>
              </a:rPr>
              <a:t>단순 LLM</a:t>
            </a:r>
          </a:p>
        </p:txBody>
      </p:sp>
      <p:sp>
        <p:nvSpPr>
          <p:cNvPr id="4" name="한 번 요청">
            <a:extLst xmlns:a="http://schemas.openxmlformats.org/drawingml/2006/main">
              <a:ext uri="{FF2B5EF4-FFF2-40B4-BE49-F238E27FC236}">
                <a16:creationId xmlns:a16="http://schemas.microsoft.com/office/drawing/2014/main" id="{2DBC3550-82AB-47C3-82B1-0CA257F9344C}"/>
              </a:ext>
            </a:extLst>
          </p:cNvPr>
          <p:cNvSpPr>
            <a:spLocks xmlns:a="http://schemas.openxmlformats.org/drawingml/2006/main" noGrp="1"/>
          </p:cNvSpPr>
          <p:nvPr/>
        </p:nvSpPr>
        <p:spPr>
          <a:xfrm xmlns:a="http://schemas.openxmlformats.org/drawingml/2006/main">
            <a:off x="3105150" y="2076450"/>
            <a:ext cx="2362200" cy="7429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5" name="한 번 요청">
            <a:extLst xmlns:a="http://schemas.openxmlformats.org/drawingml/2006/main">
              <a:ext uri="{FF2B5EF4-FFF2-40B4-BE49-F238E27FC236}">
                <a16:creationId xmlns:a16="http://schemas.microsoft.com/office/drawing/2014/main" id="{A2D57C9B-F2C4-4A75-BC82-72145CDC0B4F}"/>
              </a:ext>
            </a:extLst>
          </p:cNvPr>
          <p:cNvSpPr>
            <a:spLocks xmlns:a="http://schemas.openxmlformats.org/drawingml/2006/main" noGrp="1"/>
          </p:cNvSpPr>
          <p:nvPr/>
        </p:nvSpPr>
        <p:spPr>
          <a:xfrm xmlns:a="http://schemas.openxmlformats.org/drawingml/2006/main">
            <a:off x="3219450" y="2076450"/>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173D39"/>
                </a:solidFill>
                <a:latin typeface="Apple SD Gothic Neo"/>
                <a:ea typeface="Apple SD Gothic Neo"/>
                <a:cs typeface="Apple SD Gothic Neo"/>
              </a:defRPr>
            </a:pPr>
            <a:r>
              <a:rPr sz="1950" b="1">
                <a:solidFill>
                  <a:srgbClr val="173D39"/>
                </a:solidFill>
                <a:latin typeface="Apple SD Gothic Neo"/>
                <a:ea typeface="Apple SD Gothic Neo"/>
                <a:cs typeface="Apple SD Gothic Neo"/>
              </a:rPr>
              <a:t>한 번 요청</a:t>
            </a:r>
          </a:p>
        </p:txBody>
      </p:sp>
      <p:sp>
        <p:nvSpPr>
          <p:cNvPr id="6" name="답변">
            <a:extLst xmlns:a="http://schemas.openxmlformats.org/drawingml/2006/main">
              <a:ext uri="{FF2B5EF4-FFF2-40B4-BE49-F238E27FC236}">
                <a16:creationId xmlns:a16="http://schemas.microsoft.com/office/drawing/2014/main" id="{DD19CE16-C04B-46C9-B4CD-B710D6E70692}"/>
              </a:ext>
            </a:extLst>
          </p:cNvPr>
          <p:cNvSpPr>
            <a:spLocks xmlns:a="http://schemas.openxmlformats.org/drawingml/2006/main" noGrp="1"/>
          </p:cNvSpPr>
          <p:nvPr/>
        </p:nvSpPr>
        <p:spPr>
          <a:xfrm xmlns:a="http://schemas.openxmlformats.org/drawingml/2006/main">
            <a:off x="6286500" y="2076450"/>
            <a:ext cx="2362200" cy="7429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7" name="답변">
            <a:extLst xmlns:a="http://schemas.openxmlformats.org/drawingml/2006/main">
              <a:ext uri="{FF2B5EF4-FFF2-40B4-BE49-F238E27FC236}">
                <a16:creationId xmlns:a16="http://schemas.microsoft.com/office/drawing/2014/main" id="{51F4F21C-3804-4DE5-823C-D5AD268EC4A0}"/>
              </a:ext>
            </a:extLst>
          </p:cNvPr>
          <p:cNvSpPr>
            <a:spLocks xmlns:a="http://schemas.openxmlformats.org/drawingml/2006/main" noGrp="1"/>
          </p:cNvSpPr>
          <p:nvPr/>
        </p:nvSpPr>
        <p:spPr>
          <a:xfrm xmlns:a="http://schemas.openxmlformats.org/drawingml/2006/main">
            <a:off x="6400800" y="2076450"/>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173D39"/>
                </a:solidFill>
                <a:latin typeface="Apple SD Gothic Neo"/>
                <a:ea typeface="Apple SD Gothic Neo"/>
                <a:cs typeface="Apple SD Gothic Neo"/>
              </a:defRPr>
            </a:pPr>
            <a:r>
              <a:rPr sz="1950" b="1">
                <a:solidFill>
                  <a:srgbClr val="173D39"/>
                </a:solidFill>
                <a:latin typeface="Apple SD Gothic Neo"/>
                <a:ea typeface="Apple SD Gothic Neo"/>
                <a:cs typeface="Apple SD Gothic Neo"/>
              </a:rPr>
              <a:t>답변</a:t>
            </a:r>
          </a:p>
        </p:txBody>
      </p:sp>
      <p:cxnSp>
        <p:nvCxnSpPr>
          <p:cNvPr id="31" name=""/>
          <p:cNvCxnSpPr>
            <a:stCxn xmlns:a="http://schemas.openxmlformats.org/drawingml/2006/main" id="4" idx="3"/>
            <a:endCxn xmlns:a="http://schemas.openxmlformats.org/drawingml/2006/main" id="6" idx="1"/>
          </p:cNvCxnSpPr>
          <p:nvPr/>
        </p:nvCxnSpPr>
        <p:spPr>
          <a:xfrm xmlns:a="http://schemas.openxmlformats.org/drawingml/2006/main">
            <a:off x="5467350" y="2447925"/>
            <a:ext cx="8191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9" name="코드가 호출">
            <a:extLst xmlns:a="http://schemas.openxmlformats.org/drawingml/2006/main">
              <a:ext uri="{FF2B5EF4-FFF2-40B4-BE49-F238E27FC236}">
                <a16:creationId xmlns:a16="http://schemas.microsoft.com/office/drawing/2014/main" id="{C4552211-B26B-46D3-AE9A-10981D52C463}"/>
              </a:ext>
            </a:extLst>
          </p:cNvPr>
          <p:cNvSpPr>
            <a:spLocks xmlns:a="http://schemas.openxmlformats.org/drawingml/2006/main" noGrp="1"/>
          </p:cNvSpPr>
          <p:nvPr/>
        </p:nvSpPr>
        <p:spPr>
          <a:xfrm xmlns:a="http://schemas.openxmlformats.org/drawingml/2006/main">
            <a:off x="9201150" y="2247900"/>
            <a:ext cx="2428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77B73"/>
                </a:solidFill>
                <a:latin typeface="Apple SD Gothic Neo"/>
                <a:ea typeface="Apple SD Gothic Neo"/>
                <a:cs typeface="Apple SD Gothic Neo"/>
              </a:defRPr>
            </a:pPr>
            <a:r>
              <a:rPr sz="1800" b="0">
                <a:solidFill>
                  <a:srgbClr val="677B73"/>
                </a:solidFill>
                <a:latin typeface="Apple SD Gothic Neo"/>
                <a:ea typeface="Apple SD Gothic Neo"/>
                <a:cs typeface="Apple SD Gothic Neo"/>
              </a:rPr>
              <a:t>코드가 호출</a:t>
            </a:r>
          </a:p>
        </p:txBody>
      </p:sp>
      <p:sp>
        <p:nvSpPr>
          <p:cNvPr id="10" name="고정 워크플로">
            <a:extLst xmlns:a="http://schemas.openxmlformats.org/drawingml/2006/main">
              <a:ext uri="{FF2B5EF4-FFF2-40B4-BE49-F238E27FC236}">
                <a16:creationId xmlns:a16="http://schemas.microsoft.com/office/drawing/2014/main" id="{B61CF24E-8C4F-43FD-B27B-5722FE8EB684}"/>
              </a:ext>
            </a:extLst>
          </p:cNvPr>
          <p:cNvSpPr>
            <a:spLocks xmlns:a="http://schemas.openxmlformats.org/drawingml/2006/main" noGrp="1"/>
          </p:cNvSpPr>
          <p:nvPr/>
        </p:nvSpPr>
        <p:spPr>
          <a:xfrm xmlns:a="http://schemas.openxmlformats.org/drawingml/2006/main">
            <a:off x="647700" y="361950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D39"/>
                </a:solidFill>
                <a:latin typeface="Apple SD Gothic Neo"/>
                <a:ea typeface="Apple SD Gothic Neo"/>
                <a:cs typeface="Apple SD Gothic Neo"/>
              </a:defRPr>
            </a:pPr>
            <a:r>
              <a:rPr sz="2325" b="1">
                <a:solidFill>
                  <a:srgbClr val="173D39"/>
                </a:solidFill>
                <a:latin typeface="Apple SD Gothic Neo"/>
                <a:ea typeface="Apple SD Gothic Neo"/>
                <a:cs typeface="Apple SD Gothic Neo"/>
              </a:rPr>
              <a:t>고정 워크플로</a:t>
            </a:r>
          </a:p>
        </p:txBody>
      </p:sp>
      <p:sp>
        <p:nvSpPr>
          <p:cNvPr id="11" name="검색">
            <a:extLst xmlns:a="http://schemas.openxmlformats.org/drawingml/2006/main">
              <a:ext uri="{FF2B5EF4-FFF2-40B4-BE49-F238E27FC236}">
                <a16:creationId xmlns:a16="http://schemas.microsoft.com/office/drawing/2014/main" id="{8882DEC8-8E9D-46EF-8882-8E1B7D231D99}"/>
              </a:ext>
            </a:extLst>
          </p:cNvPr>
          <p:cNvSpPr>
            <a:spLocks xmlns:a="http://schemas.openxmlformats.org/drawingml/2006/main" noGrp="1"/>
          </p:cNvSpPr>
          <p:nvPr/>
        </p:nvSpPr>
        <p:spPr>
          <a:xfrm xmlns:a="http://schemas.openxmlformats.org/drawingml/2006/main">
            <a:off x="3105150" y="3476625"/>
            <a:ext cx="2362200" cy="7429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2" name="검색">
            <a:extLst xmlns:a="http://schemas.openxmlformats.org/drawingml/2006/main">
              <a:ext uri="{FF2B5EF4-FFF2-40B4-BE49-F238E27FC236}">
                <a16:creationId xmlns:a16="http://schemas.microsoft.com/office/drawing/2014/main" id="{5676B828-4D7C-4471-B242-DE892F50B703}"/>
              </a:ext>
            </a:extLst>
          </p:cNvPr>
          <p:cNvSpPr>
            <a:spLocks xmlns:a="http://schemas.openxmlformats.org/drawingml/2006/main" noGrp="1"/>
          </p:cNvSpPr>
          <p:nvPr/>
        </p:nvSpPr>
        <p:spPr>
          <a:xfrm xmlns:a="http://schemas.openxmlformats.org/drawingml/2006/main">
            <a:off x="3219450" y="34766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173D39"/>
                </a:solidFill>
                <a:latin typeface="Apple SD Gothic Neo"/>
                <a:ea typeface="Apple SD Gothic Neo"/>
                <a:cs typeface="Apple SD Gothic Neo"/>
              </a:defRPr>
            </a:pPr>
            <a:r>
              <a:rPr sz="1950" b="1">
                <a:solidFill>
                  <a:srgbClr val="173D39"/>
                </a:solidFill>
                <a:latin typeface="Apple SD Gothic Neo"/>
                <a:ea typeface="Apple SD Gothic Neo"/>
                <a:cs typeface="Apple SD Gothic Neo"/>
              </a:rPr>
              <a:t>검색</a:t>
            </a:r>
          </a:p>
        </p:txBody>
      </p:sp>
      <p:sp>
        <p:nvSpPr>
          <p:cNvPr id="13" name="읽기와 요약">
            <a:extLst xmlns:a="http://schemas.openxmlformats.org/drawingml/2006/main">
              <a:ext uri="{FF2B5EF4-FFF2-40B4-BE49-F238E27FC236}">
                <a16:creationId xmlns:a16="http://schemas.microsoft.com/office/drawing/2014/main" id="{E28265A7-3A83-4C47-B981-0F12743419C2}"/>
              </a:ext>
            </a:extLst>
          </p:cNvPr>
          <p:cNvSpPr>
            <a:spLocks xmlns:a="http://schemas.openxmlformats.org/drawingml/2006/main" noGrp="1"/>
          </p:cNvSpPr>
          <p:nvPr/>
        </p:nvSpPr>
        <p:spPr>
          <a:xfrm xmlns:a="http://schemas.openxmlformats.org/drawingml/2006/main">
            <a:off x="6286500" y="3476625"/>
            <a:ext cx="2362200" cy="7429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4" name="읽기와 요약">
            <a:extLst xmlns:a="http://schemas.openxmlformats.org/drawingml/2006/main">
              <a:ext uri="{FF2B5EF4-FFF2-40B4-BE49-F238E27FC236}">
                <a16:creationId xmlns:a16="http://schemas.microsoft.com/office/drawing/2014/main" id="{090B189B-0367-4713-966B-66281204B673}"/>
              </a:ext>
            </a:extLst>
          </p:cNvPr>
          <p:cNvSpPr>
            <a:spLocks xmlns:a="http://schemas.openxmlformats.org/drawingml/2006/main" noGrp="1"/>
          </p:cNvSpPr>
          <p:nvPr/>
        </p:nvSpPr>
        <p:spPr>
          <a:xfrm xmlns:a="http://schemas.openxmlformats.org/drawingml/2006/main">
            <a:off x="6400800" y="34766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173D39"/>
                </a:solidFill>
                <a:latin typeface="Apple SD Gothic Neo"/>
                <a:ea typeface="Apple SD Gothic Neo"/>
                <a:cs typeface="Apple SD Gothic Neo"/>
              </a:defRPr>
            </a:pPr>
            <a:r>
              <a:rPr sz="1950" b="1">
                <a:solidFill>
                  <a:srgbClr val="173D39"/>
                </a:solidFill>
                <a:latin typeface="Apple SD Gothic Neo"/>
                <a:ea typeface="Apple SD Gothic Neo"/>
                <a:cs typeface="Apple SD Gothic Neo"/>
              </a:rPr>
              <a:t>읽기와 요약</a:t>
            </a:r>
          </a:p>
        </p:txBody>
      </p:sp>
      <p:cxnSp>
        <p:nvCxnSpPr>
          <p:cNvPr id="38" name=""/>
          <p:cNvCxnSpPr>
            <a:stCxn xmlns:a="http://schemas.openxmlformats.org/drawingml/2006/main" id="11" idx="3"/>
            <a:endCxn xmlns:a="http://schemas.openxmlformats.org/drawingml/2006/main" id="13" idx="1"/>
          </p:cNvCxnSpPr>
          <p:nvPr/>
        </p:nvCxnSpPr>
        <p:spPr>
          <a:xfrm xmlns:a="http://schemas.openxmlformats.org/drawingml/2006/main">
            <a:off x="5467350" y="3848100"/>
            <a:ext cx="8191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16" name="코드가 순서 결정">
            <a:extLst xmlns:a="http://schemas.openxmlformats.org/drawingml/2006/main">
              <a:ext uri="{FF2B5EF4-FFF2-40B4-BE49-F238E27FC236}">
                <a16:creationId xmlns:a16="http://schemas.microsoft.com/office/drawing/2014/main" id="{C698E2E5-ECD0-4B22-A150-C1E116768B63}"/>
              </a:ext>
            </a:extLst>
          </p:cNvPr>
          <p:cNvSpPr>
            <a:spLocks xmlns:a="http://schemas.openxmlformats.org/drawingml/2006/main" noGrp="1"/>
          </p:cNvSpPr>
          <p:nvPr/>
        </p:nvSpPr>
        <p:spPr>
          <a:xfrm xmlns:a="http://schemas.openxmlformats.org/drawingml/2006/main">
            <a:off x="9201150" y="3648075"/>
            <a:ext cx="2428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77B73"/>
                </a:solidFill>
                <a:latin typeface="Apple SD Gothic Neo"/>
                <a:ea typeface="Apple SD Gothic Neo"/>
                <a:cs typeface="Apple SD Gothic Neo"/>
              </a:defRPr>
            </a:pPr>
            <a:r>
              <a:rPr sz="1800" b="0">
                <a:solidFill>
                  <a:srgbClr val="677B73"/>
                </a:solidFill>
                <a:latin typeface="Apple SD Gothic Neo"/>
                <a:ea typeface="Apple SD Gothic Neo"/>
                <a:cs typeface="Apple SD Gothic Neo"/>
              </a:rPr>
              <a:t>코드가 순서 결정</a:t>
            </a:r>
          </a:p>
        </p:txBody>
      </p:sp>
      <p:sp>
        <p:nvSpPr>
          <p:cNvPr id="17" name="에이전트">
            <a:extLst xmlns:a="http://schemas.openxmlformats.org/drawingml/2006/main">
              <a:ext uri="{FF2B5EF4-FFF2-40B4-BE49-F238E27FC236}">
                <a16:creationId xmlns:a16="http://schemas.microsoft.com/office/drawing/2014/main" id="{F1FB2D89-799B-4870-8F25-BED0FA87ACF2}"/>
              </a:ext>
            </a:extLst>
          </p:cNvPr>
          <p:cNvSpPr>
            <a:spLocks xmlns:a="http://schemas.openxmlformats.org/drawingml/2006/main" noGrp="1"/>
          </p:cNvSpPr>
          <p:nvPr/>
        </p:nvSpPr>
        <p:spPr>
          <a:xfrm xmlns:a="http://schemas.openxmlformats.org/drawingml/2006/main">
            <a:off x="647700" y="5019675"/>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D39"/>
                </a:solidFill>
                <a:latin typeface="Apple SD Gothic Neo"/>
                <a:ea typeface="Apple SD Gothic Neo"/>
                <a:cs typeface="Apple SD Gothic Neo"/>
              </a:defRPr>
            </a:pPr>
            <a:r>
              <a:rPr sz="2325" b="1">
                <a:solidFill>
                  <a:srgbClr val="173D39"/>
                </a:solidFill>
                <a:latin typeface="Apple SD Gothic Neo"/>
                <a:ea typeface="Apple SD Gothic Neo"/>
                <a:cs typeface="Apple SD Gothic Neo"/>
              </a:rPr>
              <a:t>에이전트</a:t>
            </a:r>
          </a:p>
        </p:txBody>
      </p:sp>
      <p:sp>
        <p:nvSpPr>
          <p:cNvPr id="18" name="결과 관측">
            <a:extLst xmlns:a="http://schemas.openxmlformats.org/drawingml/2006/main">
              <a:ext uri="{FF2B5EF4-FFF2-40B4-BE49-F238E27FC236}">
                <a16:creationId xmlns:a16="http://schemas.microsoft.com/office/drawing/2014/main" id="{F38120B9-7ED9-4A74-9686-F2D3B0494E4A}"/>
              </a:ext>
            </a:extLst>
          </p:cNvPr>
          <p:cNvSpPr>
            <a:spLocks xmlns:a="http://schemas.openxmlformats.org/drawingml/2006/main" noGrp="1"/>
          </p:cNvSpPr>
          <p:nvPr/>
        </p:nvSpPr>
        <p:spPr>
          <a:xfrm xmlns:a="http://schemas.openxmlformats.org/drawingml/2006/main">
            <a:off x="3105150" y="4876800"/>
            <a:ext cx="2362200" cy="7429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9" name="결과 관측">
            <a:extLst xmlns:a="http://schemas.openxmlformats.org/drawingml/2006/main">
              <a:ext uri="{FF2B5EF4-FFF2-40B4-BE49-F238E27FC236}">
                <a16:creationId xmlns:a16="http://schemas.microsoft.com/office/drawing/2014/main" id="{25761AB5-F4E5-4ED5-BFCB-7A28F0C179BF}"/>
              </a:ext>
            </a:extLst>
          </p:cNvPr>
          <p:cNvSpPr>
            <a:spLocks xmlns:a="http://schemas.openxmlformats.org/drawingml/2006/main" noGrp="1"/>
          </p:cNvSpPr>
          <p:nvPr/>
        </p:nvSpPr>
        <p:spPr>
          <a:xfrm xmlns:a="http://schemas.openxmlformats.org/drawingml/2006/main">
            <a:off x="3219450" y="4876800"/>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173D39"/>
                </a:solidFill>
                <a:latin typeface="Apple SD Gothic Neo"/>
                <a:ea typeface="Apple SD Gothic Neo"/>
                <a:cs typeface="Apple SD Gothic Neo"/>
              </a:defRPr>
            </a:pPr>
            <a:r>
              <a:rPr sz="1950" b="1">
                <a:solidFill>
                  <a:srgbClr val="173D39"/>
                </a:solidFill>
                <a:latin typeface="Apple SD Gothic Neo"/>
                <a:ea typeface="Apple SD Gothic Neo"/>
                <a:cs typeface="Apple SD Gothic Neo"/>
              </a:rPr>
              <a:t>결과 관측</a:t>
            </a:r>
          </a:p>
        </p:txBody>
      </p:sp>
      <p:sp>
        <p:nvSpPr>
          <p:cNvPr id="20" name="다음 도구 선택">
            <a:extLst xmlns:a="http://schemas.openxmlformats.org/drawingml/2006/main">
              <a:ext uri="{FF2B5EF4-FFF2-40B4-BE49-F238E27FC236}">
                <a16:creationId xmlns:a16="http://schemas.microsoft.com/office/drawing/2014/main" id="{4F4F8186-9EE6-4B34-BAD2-DF81F206FF0D}"/>
              </a:ext>
            </a:extLst>
          </p:cNvPr>
          <p:cNvSpPr>
            <a:spLocks xmlns:a="http://schemas.openxmlformats.org/drawingml/2006/main" noGrp="1"/>
          </p:cNvSpPr>
          <p:nvPr/>
        </p:nvSpPr>
        <p:spPr>
          <a:xfrm xmlns:a="http://schemas.openxmlformats.org/drawingml/2006/main">
            <a:off x="6286500" y="4876800"/>
            <a:ext cx="2362200" cy="742950"/>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1" name="다음 도구 선택">
            <a:extLst xmlns:a="http://schemas.openxmlformats.org/drawingml/2006/main">
              <a:ext uri="{FF2B5EF4-FFF2-40B4-BE49-F238E27FC236}">
                <a16:creationId xmlns:a16="http://schemas.microsoft.com/office/drawing/2014/main" id="{309393C9-3D9B-4BCB-A0CB-00AC562F9F26}"/>
              </a:ext>
            </a:extLst>
          </p:cNvPr>
          <p:cNvSpPr>
            <a:spLocks xmlns:a="http://schemas.openxmlformats.org/drawingml/2006/main" noGrp="1"/>
          </p:cNvSpPr>
          <p:nvPr/>
        </p:nvSpPr>
        <p:spPr>
          <a:xfrm xmlns:a="http://schemas.openxmlformats.org/drawingml/2006/main">
            <a:off x="6400800" y="4876800"/>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FFFFFF"/>
                </a:solidFill>
                <a:latin typeface="Apple SD Gothic Neo"/>
                <a:ea typeface="Apple SD Gothic Neo"/>
                <a:cs typeface="Apple SD Gothic Neo"/>
              </a:defRPr>
            </a:pPr>
            <a:r>
              <a:rPr sz="1950" b="1">
                <a:solidFill>
                  <a:srgbClr val="FFFFFF"/>
                </a:solidFill>
                <a:latin typeface="Apple SD Gothic Neo"/>
                <a:ea typeface="Apple SD Gothic Neo"/>
                <a:cs typeface="Apple SD Gothic Neo"/>
              </a:rPr>
              <a:t>다음 도구 선택</a:t>
            </a:r>
          </a:p>
        </p:txBody>
      </p:sp>
      <p:cxnSp>
        <p:nvCxnSpPr>
          <p:cNvPr id="45" name=""/>
          <p:cNvCxnSpPr>
            <a:stCxn xmlns:a="http://schemas.openxmlformats.org/drawingml/2006/main" id="18" idx="3"/>
            <a:endCxn xmlns:a="http://schemas.openxmlformats.org/drawingml/2006/main" id="20" idx="1"/>
          </p:cNvCxnSpPr>
          <p:nvPr/>
        </p:nvCxnSpPr>
        <p:spPr>
          <a:xfrm xmlns:a="http://schemas.openxmlformats.org/drawingml/2006/main">
            <a:off x="5467350" y="5248275"/>
            <a:ext cx="8191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23" name="모델이 행동 결정">
            <a:extLst xmlns:a="http://schemas.openxmlformats.org/drawingml/2006/main">
              <a:ext uri="{FF2B5EF4-FFF2-40B4-BE49-F238E27FC236}">
                <a16:creationId xmlns:a16="http://schemas.microsoft.com/office/drawing/2014/main" id="{19A62185-1F04-4F2B-865B-6BD98F3FF0D5}"/>
              </a:ext>
            </a:extLst>
          </p:cNvPr>
          <p:cNvSpPr>
            <a:spLocks xmlns:a="http://schemas.openxmlformats.org/drawingml/2006/main" noGrp="1"/>
          </p:cNvSpPr>
          <p:nvPr/>
        </p:nvSpPr>
        <p:spPr>
          <a:xfrm xmlns:a="http://schemas.openxmlformats.org/drawingml/2006/main">
            <a:off x="9201150" y="5048250"/>
            <a:ext cx="2428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87F78"/>
                </a:solidFill>
                <a:latin typeface="Apple SD Gothic Neo"/>
                <a:ea typeface="Apple SD Gothic Neo"/>
                <a:cs typeface="Apple SD Gothic Neo"/>
              </a:defRPr>
            </a:pPr>
            <a:r>
              <a:rPr sz="1800" b="1">
                <a:solidFill>
                  <a:srgbClr val="087F78"/>
                </a:solidFill>
                <a:latin typeface="Apple SD Gothic Neo"/>
                <a:ea typeface="Apple SD Gothic Neo"/>
                <a:cs typeface="Apple SD Gothic Neo"/>
              </a:rPr>
              <a:t>모델이 행동 결정</a:t>
            </a:r>
          </a:p>
        </p:txBody>
      </p:sp>
    </p:spTree>
    <p:extLst>
      <p:ext uri="{BB962C8B-B14F-4D97-AF65-F5344CB8AC3E}">
        <p14:creationId xmlns:p14="http://schemas.microsoft.com/office/powerpoint/2010/main" val="106082023"/>
      </p:ext>
    </p:extLst>
  </p:cSld>
</p:sld>
</file>

<file path=ppt/slides/slide5.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FA07F6A-BB28-4E73-8FC2-35391FD07E82}"/>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Paper Trail: 논문 탐색 에이전트</a:t>
            </a:r>
          </a:p>
        </p:txBody>
      </p:sp>
      <p:sp>
        <p:nvSpPr>
          <p:cNvPr id="2" name="05">
            <a:extLst xmlns:a="http://schemas.openxmlformats.org/drawingml/2006/main">
              <a:ext uri="{FF2B5EF4-FFF2-40B4-BE49-F238E27FC236}">
                <a16:creationId xmlns:a16="http://schemas.microsoft.com/office/drawing/2014/main" id="{F66DE438-4580-4359-BC34-BD484C51865F}"/>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05</a:t>
            </a:r>
          </a:p>
        </p:txBody>
      </p:sp>
      <p:sp>
        <p:nvSpPr>
          <p:cNvPr id="3" name="연구 질문">
            <a:extLst xmlns:a="http://schemas.openxmlformats.org/drawingml/2006/main">
              <a:ext uri="{FF2B5EF4-FFF2-40B4-BE49-F238E27FC236}">
                <a16:creationId xmlns:a16="http://schemas.microsoft.com/office/drawing/2014/main" id="{63A8A4F0-1EE4-44D5-BE52-106B92E85E50}"/>
              </a:ext>
            </a:extLst>
          </p:cNvPr>
          <p:cNvSpPr>
            <a:spLocks xmlns:a="http://schemas.openxmlformats.org/drawingml/2006/main" noGrp="1"/>
          </p:cNvSpPr>
          <p:nvPr/>
        </p:nvSpPr>
        <p:spPr>
          <a:xfrm xmlns:a="http://schemas.openxmlformats.org/drawingml/2006/main">
            <a:off x="628650" y="21431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87F78"/>
                </a:solidFill>
                <a:latin typeface="Apple SD Gothic Neo"/>
                <a:ea typeface="Apple SD Gothic Neo"/>
                <a:cs typeface="Apple SD Gothic Neo"/>
              </a:defRPr>
            </a:pPr>
            <a:r>
              <a:rPr sz="1800" b="1">
                <a:solidFill>
                  <a:srgbClr val="087F78"/>
                </a:solidFill>
                <a:latin typeface="Apple SD Gothic Neo"/>
                <a:ea typeface="Apple SD Gothic Neo"/>
                <a:cs typeface="Apple SD Gothic Neo"/>
              </a:rPr>
              <a:t>연구 질문</a:t>
            </a:r>
          </a:p>
        </p:txBody>
      </p:sp>
      <p:sp>
        <p:nvSpPr>
          <p:cNvPr id="4" name="“적은 라벨로&#10;문서를 분류하는&#10;방법을 찾고 싶어요”">
            <a:extLst xmlns:a="http://schemas.openxmlformats.org/drawingml/2006/main">
              <a:ext uri="{FF2B5EF4-FFF2-40B4-BE49-F238E27FC236}">
                <a16:creationId xmlns:a16="http://schemas.microsoft.com/office/drawing/2014/main" id="{B65D2AF3-ACE6-4CA0-AA9A-0C3B06072A92}"/>
              </a:ext>
            </a:extLst>
          </p:cNvPr>
          <p:cNvSpPr>
            <a:spLocks xmlns:a="http://schemas.openxmlformats.org/drawingml/2006/main" noGrp="1"/>
          </p:cNvSpPr>
          <p:nvPr/>
        </p:nvSpPr>
        <p:spPr>
          <a:xfrm xmlns:a="http://schemas.openxmlformats.org/drawingml/2006/main">
            <a:off x="609600" y="2667000"/>
            <a:ext cx="3238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3D39"/>
                </a:solidFill>
                <a:latin typeface="Apple SD Gothic Neo"/>
                <a:ea typeface="Apple SD Gothic Neo"/>
                <a:cs typeface="Apple SD Gothic Neo"/>
              </a:defRPr>
            </a:pPr>
            <a:r>
              <a:rPr sz="2550" b="1">
                <a:solidFill>
                  <a:srgbClr val="173D39"/>
                </a:solidFill>
                <a:latin typeface="Apple SD Gothic Neo"/>
                <a:ea typeface="Apple SD Gothic Neo"/>
                <a:cs typeface="Apple SD Gothic Neo"/>
              </a:rPr>
              <a:t>“적은 라벨로</a:t>
            </a:r>
          </a:p>
          <a:p xmlns:a="http://schemas.openxmlformats.org/drawingml/2006/main">
            <a:pPr algn="l">
              <a:defRPr sz="2550" b="1">
                <a:solidFill>
                  <a:srgbClr val="173D39"/>
                </a:solidFill>
                <a:latin typeface="Apple SD Gothic Neo"/>
                <a:ea typeface="Apple SD Gothic Neo"/>
                <a:cs typeface="Apple SD Gothic Neo"/>
              </a:defRPr>
            </a:pPr>
            <a:r>
              <a:rPr sz="2550" b="1">
                <a:solidFill>
                  <a:srgbClr val="173D39"/>
                </a:solidFill>
                <a:latin typeface="Apple SD Gothic Neo"/>
                <a:ea typeface="Apple SD Gothic Neo"/>
                <a:cs typeface="Apple SD Gothic Neo"/>
              </a:rPr>
              <a:t>문서를 분류하는</a:t>
            </a:r>
          </a:p>
          <a:p xmlns:a="http://schemas.openxmlformats.org/drawingml/2006/main">
            <a:pPr algn="l">
              <a:defRPr sz="2550" b="1">
                <a:solidFill>
                  <a:srgbClr val="173D39"/>
                </a:solidFill>
                <a:latin typeface="Apple SD Gothic Neo"/>
                <a:ea typeface="Apple SD Gothic Neo"/>
                <a:cs typeface="Apple SD Gothic Neo"/>
              </a:defRPr>
            </a:pPr>
            <a:r>
              <a:rPr sz="2550" b="1">
                <a:solidFill>
                  <a:srgbClr val="173D39"/>
                </a:solidFill>
                <a:latin typeface="Apple SD Gothic Neo"/>
                <a:ea typeface="Apple SD Gothic Neo"/>
                <a:cs typeface="Apple SD Gothic Neo"/>
              </a:rPr>
              <a:t>방법을 찾고 싶어요”</a:t>
            </a:r>
          </a:p>
        </p:txBody>
      </p:sp>
      <p:sp>
        <p:nvSpPr>
          <p:cNvPr id="5" name="원하는 논문 1~5편&#10;한국어 설명과 PDF">
            <a:extLst xmlns:a="http://schemas.openxmlformats.org/drawingml/2006/main">
              <a:ext uri="{FF2B5EF4-FFF2-40B4-BE49-F238E27FC236}">
                <a16:creationId xmlns:a16="http://schemas.microsoft.com/office/drawing/2014/main" id="{84F8313B-3376-4186-91DB-450E856B3972}"/>
              </a:ext>
            </a:extLst>
          </p:cNvPr>
          <p:cNvSpPr>
            <a:spLocks xmlns:a="http://schemas.openxmlformats.org/drawingml/2006/main" noGrp="1"/>
          </p:cNvSpPr>
          <p:nvPr/>
        </p:nvSpPr>
        <p:spPr>
          <a:xfrm xmlns:a="http://schemas.openxmlformats.org/drawingml/2006/main">
            <a:off x="647700" y="48101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77B73"/>
                </a:solidFill>
                <a:latin typeface="Apple SD Gothic Neo"/>
                <a:ea typeface="Apple SD Gothic Neo"/>
                <a:cs typeface="Apple SD Gothic Neo"/>
              </a:defRPr>
            </a:pPr>
            <a:r>
              <a:rPr sz="2025" b="0">
                <a:solidFill>
                  <a:srgbClr val="677B73"/>
                </a:solidFill>
                <a:latin typeface="Apple SD Gothic Neo"/>
                <a:ea typeface="Apple SD Gothic Neo"/>
                <a:cs typeface="Apple SD Gothic Neo"/>
              </a:rPr>
              <a:t>원하는 논문 1~5편</a:t>
            </a:r>
          </a:p>
          <a:p xmlns:a="http://schemas.openxmlformats.org/drawingml/2006/main">
            <a:pPr algn="l">
              <a:defRPr sz="2025" b="0">
                <a:solidFill>
                  <a:srgbClr val="677B73"/>
                </a:solidFill>
                <a:latin typeface="Apple SD Gothic Neo"/>
                <a:ea typeface="Apple SD Gothic Neo"/>
                <a:cs typeface="Apple SD Gothic Neo"/>
              </a:defRPr>
            </a:pPr>
            <a:r>
              <a:rPr sz="2025" b="0">
                <a:solidFill>
                  <a:srgbClr val="677B73"/>
                </a:solidFill>
                <a:latin typeface="Apple SD Gothic Neo"/>
                <a:ea typeface="Apple SD Gothic Neo"/>
                <a:cs typeface="Apple SD Gothic Neo"/>
              </a:rPr>
              <a:t>한국어 설명과 PDF</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2d037feaa0b4425"/>
          <a:stretch xmlns:a="http://schemas.openxmlformats.org/drawingml/2006/main"/>
        </p:blipFill>
        <p:spPr>
          <a:xfrm xmlns:a="http://schemas.openxmlformats.org/drawingml/2006/main">
            <a:off x="4162425" y="2257713"/>
            <a:ext cx="7467600" cy="3685598"/>
          </a:xfrm>
          <a:prstGeom xmlns:a="http://schemas.openxmlformats.org/drawingml/2006/main" prst="rect">
            <a:avLst/>
          </a:prstGeom>
        </p:spPr>
      </p:pic>
    </p:spTree>
    <p:extLst>
      <p:ext uri="{BB962C8B-B14F-4D97-AF65-F5344CB8AC3E}">
        <p14:creationId xmlns:p14="http://schemas.microsoft.com/office/powerpoint/2010/main" val="1028420583"/>
      </p:ext>
    </p:extLst>
  </p:cSld>
</p:sld>
</file>

<file path=ppt/slides/slide6.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2D3B56B9-9AD6-45AB-9D22-731A06CA23CB}"/>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질문에서 브리핑까지의 흐름</a:t>
            </a:r>
          </a:p>
        </p:txBody>
      </p:sp>
      <p:sp>
        <p:nvSpPr>
          <p:cNvPr id="2" name="모든 후보를 비교한 뒤, 추천 후보의 원문을 검토">
            <a:extLst xmlns:a="http://schemas.openxmlformats.org/drawingml/2006/main">
              <a:ext uri="{FF2B5EF4-FFF2-40B4-BE49-F238E27FC236}">
                <a16:creationId xmlns:a16="http://schemas.microsoft.com/office/drawing/2014/main" id="{C96EBEB4-AB90-4745-A994-2A4F14FD7DC7}"/>
              </a:ext>
            </a:extLst>
          </p:cNvPr>
          <p:cNvSpPr>
            <a:spLocks xmlns:a="http://schemas.openxmlformats.org/drawingml/2006/main" noGrp="1"/>
          </p:cNvSpPr>
          <p:nvPr/>
        </p:nvSpPr>
        <p:spPr>
          <a:xfrm xmlns:a="http://schemas.openxmlformats.org/drawingml/2006/main">
            <a:off x="628650" y="12382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모든 후보를 비교한 뒤, 추천 후보의 원문을 검토</a:t>
            </a:r>
          </a:p>
        </p:txBody>
      </p:sp>
      <p:sp>
        <p:nvSpPr>
          <p:cNvPr id="3" name="06">
            <a:extLst xmlns:a="http://schemas.openxmlformats.org/drawingml/2006/main">
              <a:ext uri="{FF2B5EF4-FFF2-40B4-BE49-F238E27FC236}">
                <a16:creationId xmlns:a16="http://schemas.microsoft.com/office/drawing/2014/main" id="{CF0BCEFE-769D-478E-B457-BCC27B2AD285}"/>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06</a:t>
            </a:r>
          </a:p>
        </p:txBody>
      </p:sp>
      <p:sp>
        <p:nvSpPr>
          <p:cNvPr id="4" name="1  연구 질문">
            <a:extLst xmlns:a="http://schemas.openxmlformats.org/drawingml/2006/main">
              <a:ext uri="{FF2B5EF4-FFF2-40B4-BE49-F238E27FC236}">
                <a16:creationId xmlns:a16="http://schemas.microsoft.com/office/drawing/2014/main" id="{84DB081C-D57E-4657-A967-11AC59E00A52}"/>
              </a:ext>
            </a:extLst>
          </p:cNvPr>
          <p:cNvSpPr>
            <a:spLocks xmlns:a="http://schemas.openxmlformats.org/drawingml/2006/main" noGrp="1"/>
          </p:cNvSpPr>
          <p:nvPr/>
        </p:nvSpPr>
        <p:spPr>
          <a:xfrm xmlns:a="http://schemas.openxmlformats.org/drawingml/2006/main">
            <a:off x="809625" y="2333625"/>
            <a:ext cx="2809875" cy="10287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5" name="1  연구 질문">
            <a:extLst xmlns:a="http://schemas.openxmlformats.org/drawingml/2006/main">
              <a:ext uri="{FF2B5EF4-FFF2-40B4-BE49-F238E27FC236}">
                <a16:creationId xmlns:a16="http://schemas.microsoft.com/office/drawing/2014/main" id="{BB2F1135-E10B-41C0-8325-F6F4F01354B6}"/>
              </a:ext>
            </a:extLst>
          </p:cNvPr>
          <p:cNvSpPr>
            <a:spLocks xmlns:a="http://schemas.openxmlformats.org/drawingml/2006/main" noGrp="1"/>
          </p:cNvSpPr>
          <p:nvPr/>
        </p:nvSpPr>
        <p:spPr>
          <a:xfrm xmlns:a="http://schemas.openxmlformats.org/drawingml/2006/main">
            <a:off x="923925" y="2505075"/>
            <a:ext cx="2581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1  연구 질문</a:t>
            </a:r>
          </a:p>
        </p:txBody>
      </p:sp>
      <p:sp>
        <p:nvSpPr>
          <p:cNvPr id="6" name="목표와 추천 편수">
            <a:extLst xmlns:a="http://schemas.openxmlformats.org/drawingml/2006/main">
              <a:ext uri="{FF2B5EF4-FFF2-40B4-BE49-F238E27FC236}">
                <a16:creationId xmlns:a16="http://schemas.microsoft.com/office/drawing/2014/main" id="{886B5EFE-72C9-463F-924F-222764663B0E}"/>
              </a:ext>
            </a:extLst>
          </p:cNvPr>
          <p:cNvSpPr>
            <a:spLocks xmlns:a="http://schemas.openxmlformats.org/drawingml/2006/main" noGrp="1"/>
          </p:cNvSpPr>
          <p:nvPr/>
        </p:nvSpPr>
        <p:spPr>
          <a:xfrm xmlns:a="http://schemas.openxmlformats.org/drawingml/2006/main">
            <a:off x="923925" y="2905125"/>
            <a:ext cx="2581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목표와 추천 편수</a:t>
            </a:r>
          </a:p>
        </p:txBody>
      </p:sp>
      <p:sp>
        <p:nvSpPr>
          <p:cNvPr id="7" name="2  논문 검색">
            <a:extLst xmlns:a="http://schemas.openxmlformats.org/drawingml/2006/main">
              <a:ext uri="{FF2B5EF4-FFF2-40B4-BE49-F238E27FC236}">
                <a16:creationId xmlns:a16="http://schemas.microsoft.com/office/drawing/2014/main" id="{1B4FD8B2-4CF3-4722-8BD0-6A15C4098C76}"/>
              </a:ext>
            </a:extLst>
          </p:cNvPr>
          <p:cNvSpPr>
            <a:spLocks xmlns:a="http://schemas.openxmlformats.org/drawingml/2006/main" noGrp="1"/>
          </p:cNvSpPr>
          <p:nvPr/>
        </p:nvSpPr>
        <p:spPr>
          <a:xfrm xmlns:a="http://schemas.openxmlformats.org/drawingml/2006/main">
            <a:off x="4667250" y="2333625"/>
            <a:ext cx="2809875" cy="10287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8" name="2  논문 검색">
            <a:extLst xmlns:a="http://schemas.openxmlformats.org/drawingml/2006/main">
              <a:ext uri="{FF2B5EF4-FFF2-40B4-BE49-F238E27FC236}">
                <a16:creationId xmlns:a16="http://schemas.microsoft.com/office/drawing/2014/main" id="{025EFDDA-6A00-48A6-AC91-10E79B488244}"/>
              </a:ext>
            </a:extLst>
          </p:cNvPr>
          <p:cNvSpPr>
            <a:spLocks xmlns:a="http://schemas.openxmlformats.org/drawingml/2006/main" noGrp="1"/>
          </p:cNvSpPr>
          <p:nvPr/>
        </p:nvSpPr>
        <p:spPr>
          <a:xfrm xmlns:a="http://schemas.openxmlformats.org/drawingml/2006/main">
            <a:off x="4781550" y="2505075"/>
            <a:ext cx="2581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2  논문 검색</a:t>
            </a:r>
          </a:p>
        </p:txBody>
      </p:sp>
      <p:sp>
        <p:nvSpPr>
          <p:cNvPr id="9" name="학술 API에서 후보 확보">
            <a:extLst xmlns:a="http://schemas.openxmlformats.org/drawingml/2006/main">
              <a:ext uri="{FF2B5EF4-FFF2-40B4-BE49-F238E27FC236}">
                <a16:creationId xmlns:a16="http://schemas.microsoft.com/office/drawing/2014/main" id="{659568EB-8E63-4B87-B348-B3FB93F3E770}"/>
              </a:ext>
            </a:extLst>
          </p:cNvPr>
          <p:cNvSpPr>
            <a:spLocks xmlns:a="http://schemas.openxmlformats.org/drawingml/2006/main" noGrp="1"/>
          </p:cNvSpPr>
          <p:nvPr/>
        </p:nvSpPr>
        <p:spPr>
          <a:xfrm xmlns:a="http://schemas.openxmlformats.org/drawingml/2006/main">
            <a:off x="4781550" y="2905125"/>
            <a:ext cx="2581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학술 API에서 후보 확보</a:t>
            </a:r>
          </a:p>
        </p:txBody>
      </p:sp>
      <p:sp>
        <p:nvSpPr>
          <p:cNvPr id="10" name="3  전체 후보 비교">
            <a:extLst xmlns:a="http://schemas.openxmlformats.org/drawingml/2006/main">
              <a:ext uri="{FF2B5EF4-FFF2-40B4-BE49-F238E27FC236}">
                <a16:creationId xmlns:a16="http://schemas.microsoft.com/office/drawing/2014/main" id="{CBC78FF0-CB9C-49A5-8934-13B788D9252B}"/>
              </a:ext>
            </a:extLst>
          </p:cNvPr>
          <p:cNvSpPr>
            <a:spLocks xmlns:a="http://schemas.openxmlformats.org/drawingml/2006/main" noGrp="1"/>
          </p:cNvSpPr>
          <p:nvPr/>
        </p:nvSpPr>
        <p:spPr>
          <a:xfrm xmlns:a="http://schemas.openxmlformats.org/drawingml/2006/main">
            <a:off x="8524875" y="2333625"/>
            <a:ext cx="2809875" cy="1028700"/>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11" name="3  전체 후보 비교">
            <a:extLst xmlns:a="http://schemas.openxmlformats.org/drawingml/2006/main">
              <a:ext uri="{FF2B5EF4-FFF2-40B4-BE49-F238E27FC236}">
                <a16:creationId xmlns:a16="http://schemas.microsoft.com/office/drawing/2014/main" id="{7585A06A-73D4-4A69-804C-7742E4305A7F}"/>
              </a:ext>
            </a:extLst>
          </p:cNvPr>
          <p:cNvSpPr>
            <a:spLocks xmlns:a="http://schemas.openxmlformats.org/drawingml/2006/main" noGrp="1"/>
          </p:cNvSpPr>
          <p:nvPr/>
        </p:nvSpPr>
        <p:spPr>
          <a:xfrm xmlns:a="http://schemas.openxmlformats.org/drawingml/2006/main">
            <a:off x="8639175" y="2505075"/>
            <a:ext cx="2581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3  전체 후보 비교</a:t>
            </a:r>
          </a:p>
        </p:txBody>
      </p:sp>
      <p:sp>
        <p:nvSpPr>
          <p:cNvPr id="12" name="제목·초록 열람과 평가">
            <a:extLst xmlns:a="http://schemas.openxmlformats.org/drawingml/2006/main">
              <a:ext uri="{FF2B5EF4-FFF2-40B4-BE49-F238E27FC236}">
                <a16:creationId xmlns:a16="http://schemas.microsoft.com/office/drawing/2014/main" id="{D1C7F7EB-BA6A-448D-AE2D-361045181089}"/>
              </a:ext>
            </a:extLst>
          </p:cNvPr>
          <p:cNvSpPr>
            <a:spLocks xmlns:a="http://schemas.openxmlformats.org/drawingml/2006/main" noGrp="1"/>
          </p:cNvSpPr>
          <p:nvPr/>
        </p:nvSpPr>
        <p:spPr>
          <a:xfrm xmlns:a="http://schemas.openxmlformats.org/drawingml/2006/main">
            <a:off x="8639175" y="2905125"/>
            <a:ext cx="2581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D5EBE3"/>
                </a:solidFill>
                <a:latin typeface="Apple SD Gothic Neo"/>
                <a:ea typeface="Apple SD Gothic Neo"/>
                <a:cs typeface="Apple SD Gothic Neo"/>
              </a:defRPr>
            </a:pPr>
            <a:r>
              <a:rPr sz="1500" b="0">
                <a:solidFill>
                  <a:srgbClr val="D5EBE3"/>
                </a:solidFill>
                <a:latin typeface="Apple SD Gothic Neo"/>
                <a:ea typeface="Apple SD Gothic Neo"/>
                <a:cs typeface="Apple SD Gothic Neo"/>
              </a:rPr>
              <a:t>제목·초록 열람과 평가</a:t>
            </a:r>
          </a:p>
        </p:txBody>
      </p:sp>
      <p:sp>
        <p:nvSpPr>
          <p:cNvPr id="13" name="4  원문 검토">
            <a:extLst xmlns:a="http://schemas.openxmlformats.org/drawingml/2006/main">
              <a:ext uri="{FF2B5EF4-FFF2-40B4-BE49-F238E27FC236}">
                <a16:creationId xmlns:a16="http://schemas.microsoft.com/office/drawing/2014/main" id="{202C59E5-BCA7-4B8C-A633-C456840B8539}"/>
              </a:ext>
            </a:extLst>
          </p:cNvPr>
          <p:cNvSpPr>
            <a:spLocks xmlns:a="http://schemas.openxmlformats.org/drawingml/2006/main" noGrp="1"/>
          </p:cNvSpPr>
          <p:nvPr/>
        </p:nvSpPr>
        <p:spPr>
          <a:xfrm xmlns:a="http://schemas.openxmlformats.org/drawingml/2006/main">
            <a:off x="8524875" y="4381500"/>
            <a:ext cx="2809875" cy="10287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4" name="4  원문 검토">
            <a:extLst xmlns:a="http://schemas.openxmlformats.org/drawingml/2006/main">
              <a:ext uri="{FF2B5EF4-FFF2-40B4-BE49-F238E27FC236}">
                <a16:creationId xmlns:a16="http://schemas.microsoft.com/office/drawing/2014/main" id="{9688493C-19C8-4684-9AC5-AE8990E67D49}"/>
              </a:ext>
            </a:extLst>
          </p:cNvPr>
          <p:cNvSpPr>
            <a:spLocks xmlns:a="http://schemas.openxmlformats.org/drawingml/2006/main" noGrp="1"/>
          </p:cNvSpPr>
          <p:nvPr/>
        </p:nvSpPr>
        <p:spPr>
          <a:xfrm xmlns:a="http://schemas.openxmlformats.org/drawingml/2006/main">
            <a:off x="8639175" y="4552950"/>
            <a:ext cx="2581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4  원문 검토</a:t>
            </a:r>
          </a:p>
        </p:txBody>
      </p:sp>
      <p:sp>
        <p:nvSpPr>
          <p:cNvPr id="15" name="필요한 본문과 근거">
            <a:extLst xmlns:a="http://schemas.openxmlformats.org/drawingml/2006/main">
              <a:ext uri="{FF2B5EF4-FFF2-40B4-BE49-F238E27FC236}">
                <a16:creationId xmlns:a16="http://schemas.microsoft.com/office/drawing/2014/main" id="{1E2A16DE-2A46-49B1-85F8-6A76554D6C74}"/>
              </a:ext>
            </a:extLst>
          </p:cNvPr>
          <p:cNvSpPr>
            <a:spLocks xmlns:a="http://schemas.openxmlformats.org/drawingml/2006/main" noGrp="1"/>
          </p:cNvSpPr>
          <p:nvPr/>
        </p:nvSpPr>
        <p:spPr>
          <a:xfrm xmlns:a="http://schemas.openxmlformats.org/drawingml/2006/main">
            <a:off x="8639175" y="4953000"/>
            <a:ext cx="2581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필요한 본문과 근거</a:t>
            </a:r>
          </a:p>
        </p:txBody>
      </p:sp>
      <p:sp>
        <p:nvSpPr>
          <p:cNvPr id="16" name="5  상세 초안">
            <a:extLst xmlns:a="http://schemas.openxmlformats.org/drawingml/2006/main">
              <a:ext uri="{FF2B5EF4-FFF2-40B4-BE49-F238E27FC236}">
                <a16:creationId xmlns:a16="http://schemas.microsoft.com/office/drawing/2014/main" id="{2097CC67-581F-4EB2-A8BA-8AB7191A2624}"/>
              </a:ext>
            </a:extLst>
          </p:cNvPr>
          <p:cNvSpPr>
            <a:spLocks xmlns:a="http://schemas.openxmlformats.org/drawingml/2006/main" noGrp="1"/>
          </p:cNvSpPr>
          <p:nvPr/>
        </p:nvSpPr>
        <p:spPr>
          <a:xfrm xmlns:a="http://schemas.openxmlformats.org/drawingml/2006/main">
            <a:off x="4667250" y="4381500"/>
            <a:ext cx="2809875" cy="10287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7" name="5  상세 초안">
            <a:extLst xmlns:a="http://schemas.openxmlformats.org/drawingml/2006/main">
              <a:ext uri="{FF2B5EF4-FFF2-40B4-BE49-F238E27FC236}">
                <a16:creationId xmlns:a16="http://schemas.microsoft.com/office/drawing/2014/main" id="{8FAA461B-3562-4948-9007-F7B40C978E01}"/>
              </a:ext>
            </a:extLst>
          </p:cNvPr>
          <p:cNvSpPr>
            <a:spLocks xmlns:a="http://schemas.openxmlformats.org/drawingml/2006/main" noGrp="1"/>
          </p:cNvSpPr>
          <p:nvPr/>
        </p:nvSpPr>
        <p:spPr>
          <a:xfrm xmlns:a="http://schemas.openxmlformats.org/drawingml/2006/main">
            <a:off x="4781550" y="4552950"/>
            <a:ext cx="2581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5  상세 초안</a:t>
            </a:r>
          </a:p>
        </p:txBody>
      </p:sp>
      <p:sp>
        <p:nvSpPr>
          <p:cNvPr id="18" name="논문 한 편씩 저장">
            <a:extLst xmlns:a="http://schemas.openxmlformats.org/drawingml/2006/main">
              <a:ext uri="{FF2B5EF4-FFF2-40B4-BE49-F238E27FC236}">
                <a16:creationId xmlns:a16="http://schemas.microsoft.com/office/drawing/2014/main" id="{8362407E-0BAB-4CD9-8FF6-E3CE3927D9AF}"/>
              </a:ext>
            </a:extLst>
          </p:cNvPr>
          <p:cNvSpPr>
            <a:spLocks xmlns:a="http://schemas.openxmlformats.org/drawingml/2006/main" noGrp="1"/>
          </p:cNvSpPr>
          <p:nvPr/>
        </p:nvSpPr>
        <p:spPr>
          <a:xfrm xmlns:a="http://schemas.openxmlformats.org/drawingml/2006/main">
            <a:off x="4781550" y="4953000"/>
            <a:ext cx="2581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논문 한 편씩 저장</a:t>
            </a:r>
          </a:p>
        </p:txBody>
      </p:sp>
      <p:sp>
        <p:nvSpPr>
          <p:cNvPr id="19" name="6  브리핑 완성">
            <a:extLst xmlns:a="http://schemas.openxmlformats.org/drawingml/2006/main">
              <a:ext uri="{FF2B5EF4-FFF2-40B4-BE49-F238E27FC236}">
                <a16:creationId xmlns:a16="http://schemas.microsoft.com/office/drawing/2014/main" id="{779A720A-0C55-41B7-9C49-2BA00EF4C1B5}"/>
              </a:ext>
            </a:extLst>
          </p:cNvPr>
          <p:cNvSpPr>
            <a:spLocks xmlns:a="http://schemas.openxmlformats.org/drawingml/2006/main" noGrp="1"/>
          </p:cNvSpPr>
          <p:nvPr/>
        </p:nvSpPr>
        <p:spPr>
          <a:xfrm xmlns:a="http://schemas.openxmlformats.org/drawingml/2006/main">
            <a:off x="809625" y="4381500"/>
            <a:ext cx="2809875" cy="1028700"/>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20" name="6  브리핑 완성">
            <a:extLst xmlns:a="http://schemas.openxmlformats.org/drawingml/2006/main">
              <a:ext uri="{FF2B5EF4-FFF2-40B4-BE49-F238E27FC236}">
                <a16:creationId xmlns:a16="http://schemas.microsoft.com/office/drawing/2014/main" id="{C933E690-0F12-4556-B1F1-D613881300B3}"/>
              </a:ext>
            </a:extLst>
          </p:cNvPr>
          <p:cNvSpPr>
            <a:spLocks xmlns:a="http://schemas.openxmlformats.org/drawingml/2006/main" noGrp="1"/>
          </p:cNvSpPr>
          <p:nvPr/>
        </p:nvSpPr>
        <p:spPr>
          <a:xfrm xmlns:a="http://schemas.openxmlformats.org/drawingml/2006/main">
            <a:off x="923925" y="4552950"/>
            <a:ext cx="2581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6  브리핑 완성</a:t>
            </a:r>
          </a:p>
        </p:txBody>
      </p:sp>
      <p:sp>
        <p:nvSpPr>
          <p:cNvPr id="21" name="최종 검증과 PDF">
            <a:extLst xmlns:a="http://schemas.openxmlformats.org/drawingml/2006/main">
              <a:ext uri="{FF2B5EF4-FFF2-40B4-BE49-F238E27FC236}">
                <a16:creationId xmlns:a16="http://schemas.microsoft.com/office/drawing/2014/main" id="{8116F498-52B4-466E-A965-7A8C84EC4926}"/>
              </a:ext>
            </a:extLst>
          </p:cNvPr>
          <p:cNvSpPr>
            <a:spLocks xmlns:a="http://schemas.openxmlformats.org/drawingml/2006/main" noGrp="1"/>
          </p:cNvSpPr>
          <p:nvPr/>
        </p:nvSpPr>
        <p:spPr>
          <a:xfrm xmlns:a="http://schemas.openxmlformats.org/drawingml/2006/main">
            <a:off x="923925" y="4953000"/>
            <a:ext cx="2581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D5EBE3"/>
                </a:solidFill>
                <a:latin typeface="Apple SD Gothic Neo"/>
                <a:ea typeface="Apple SD Gothic Neo"/>
                <a:cs typeface="Apple SD Gothic Neo"/>
              </a:defRPr>
            </a:pPr>
            <a:r>
              <a:rPr sz="1500" b="0">
                <a:solidFill>
                  <a:srgbClr val="D5EBE3"/>
                </a:solidFill>
                <a:latin typeface="Apple SD Gothic Neo"/>
                <a:ea typeface="Apple SD Gothic Neo"/>
                <a:cs typeface="Apple SD Gothic Neo"/>
              </a:rPr>
              <a:t>최종 검증과 PDF</a:t>
            </a:r>
          </a:p>
        </p:txBody>
      </p:sp>
      <p:cxnSp>
        <p:nvCxnSpPr>
          <p:cNvPr id="49" name=""/>
          <p:cNvCxnSpPr>
            <a:stCxn xmlns:a="http://schemas.openxmlformats.org/drawingml/2006/main" id="4" idx="3"/>
            <a:endCxn xmlns:a="http://schemas.openxmlformats.org/drawingml/2006/main" id="7" idx="1"/>
          </p:cNvCxnSpPr>
          <p:nvPr/>
        </p:nvCxnSpPr>
        <p:spPr>
          <a:xfrm xmlns:a="http://schemas.openxmlformats.org/drawingml/2006/main">
            <a:off x="3619500" y="2847975"/>
            <a:ext cx="10477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50" name=""/>
          <p:cNvCxnSpPr>
            <a:stCxn xmlns:a="http://schemas.openxmlformats.org/drawingml/2006/main" id="7" idx="3"/>
            <a:endCxn xmlns:a="http://schemas.openxmlformats.org/drawingml/2006/main" id="10" idx="1"/>
          </p:cNvCxnSpPr>
          <p:nvPr/>
        </p:nvCxnSpPr>
        <p:spPr>
          <a:xfrm xmlns:a="http://schemas.openxmlformats.org/drawingml/2006/main">
            <a:off x="7477125" y="2847975"/>
            <a:ext cx="10477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51" name=""/>
          <p:cNvCxnSpPr>
            <a:stCxn xmlns:a="http://schemas.openxmlformats.org/drawingml/2006/main" id="10" idx="2"/>
            <a:endCxn xmlns:a="http://schemas.openxmlformats.org/drawingml/2006/main" id="13" idx="0"/>
          </p:cNvCxnSpPr>
          <p:nvPr/>
        </p:nvCxnSpPr>
        <p:spPr>
          <a:xfrm xmlns:a="http://schemas.openxmlformats.org/drawingml/2006/main">
            <a:off x="9929813" y="3362325"/>
            <a:ext cx="0" cy="1019175"/>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52" name=""/>
          <p:cNvCxnSpPr>
            <a:stCxn xmlns:a="http://schemas.openxmlformats.org/drawingml/2006/main" id="13" idx="1"/>
            <a:endCxn xmlns:a="http://schemas.openxmlformats.org/drawingml/2006/main" id="16" idx="3"/>
          </p:cNvCxnSpPr>
          <p:nvPr/>
        </p:nvCxnSpPr>
        <p:spPr>
          <a:xfrm xmlns:a="http://schemas.openxmlformats.org/drawingml/2006/main" flipH="1">
            <a:off x="7477125" y="4895850"/>
            <a:ext cx="10477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53" name=""/>
          <p:cNvCxnSpPr>
            <a:stCxn xmlns:a="http://schemas.openxmlformats.org/drawingml/2006/main" id="16" idx="1"/>
            <a:endCxn xmlns:a="http://schemas.openxmlformats.org/drawingml/2006/main" id="19" idx="3"/>
          </p:cNvCxnSpPr>
          <p:nvPr/>
        </p:nvCxnSpPr>
        <p:spPr>
          <a:xfrm xmlns:a="http://schemas.openxmlformats.org/drawingml/2006/main" flipH="1">
            <a:off x="3619500" y="4895850"/>
            <a:ext cx="10477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27" name="검색어, 후보, 읽을 구간은 관측에 따라 바뀔 수 있음">
            <a:extLst xmlns:a="http://schemas.openxmlformats.org/drawingml/2006/main">
              <a:ext uri="{FF2B5EF4-FFF2-40B4-BE49-F238E27FC236}">
                <a16:creationId xmlns:a16="http://schemas.microsoft.com/office/drawing/2014/main" id="{BAC96DF3-4D05-4782-917B-A678030C9AAF}"/>
              </a:ext>
            </a:extLst>
          </p:cNvPr>
          <p:cNvSpPr>
            <a:spLocks xmlns:a="http://schemas.openxmlformats.org/drawingml/2006/main" noGrp="1"/>
          </p:cNvSpPr>
          <p:nvPr/>
        </p:nvSpPr>
        <p:spPr>
          <a:xfrm xmlns:a="http://schemas.openxmlformats.org/drawingml/2006/main">
            <a:off x="2333625" y="59150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검색어, 후보, 읽을 구간은 관측에 따라 바뀔 수 있음</a:t>
            </a:r>
          </a:p>
        </p:txBody>
      </p:sp>
    </p:spTree>
    <p:extLst>
      <p:ext uri="{BB962C8B-B14F-4D97-AF65-F5344CB8AC3E}">
        <p14:creationId xmlns:p14="http://schemas.microsoft.com/office/powerpoint/2010/main" val="1316627946"/>
      </p:ext>
    </p:extLst>
  </p:cSld>
</p:sld>
</file>

<file path=ppt/slides/slide7.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7CA9A2E1-84C6-405F-B91C-D65BFFD2ED7B}"/>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핵심 루프: Agent.run()</a:t>
            </a:r>
          </a:p>
        </p:txBody>
      </p:sp>
      <p:sp>
        <p:nvSpPr>
          <p:cNvPr id="2" name="07">
            <a:extLst xmlns:a="http://schemas.openxmlformats.org/drawingml/2006/main">
              <a:ext uri="{FF2B5EF4-FFF2-40B4-BE49-F238E27FC236}">
                <a16:creationId xmlns:a16="http://schemas.microsoft.com/office/drawing/2014/main" id="{D3745440-DB90-4117-BBEA-19A9BC4D977F}"/>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07</a:t>
            </a:r>
          </a:p>
        </p:txBody>
      </p:sp>
      <p:sp>
        <p:nvSpPr>
          <p:cNvPr id="3" name="현재 상태">
            <a:extLst xmlns:a="http://schemas.openxmlformats.org/drawingml/2006/main">
              <a:ext uri="{FF2B5EF4-FFF2-40B4-BE49-F238E27FC236}">
                <a16:creationId xmlns:a16="http://schemas.microsoft.com/office/drawing/2014/main" id="{AD78E3B4-04B5-49D9-82E9-739945819377}"/>
              </a:ext>
            </a:extLst>
          </p:cNvPr>
          <p:cNvSpPr>
            <a:spLocks xmlns:a="http://schemas.openxmlformats.org/drawingml/2006/main" noGrp="1"/>
          </p:cNvSpPr>
          <p:nvPr/>
        </p:nvSpPr>
        <p:spPr>
          <a:xfrm xmlns:a="http://schemas.openxmlformats.org/drawingml/2006/main">
            <a:off x="1428750" y="2333625"/>
            <a:ext cx="3381375" cy="10858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4" name="현재 상태">
            <a:extLst xmlns:a="http://schemas.openxmlformats.org/drawingml/2006/main">
              <a:ext uri="{FF2B5EF4-FFF2-40B4-BE49-F238E27FC236}">
                <a16:creationId xmlns:a16="http://schemas.microsoft.com/office/drawing/2014/main" id="{CD64E0C7-AD4D-4787-A093-9CFEEC154041}"/>
              </a:ext>
            </a:extLst>
          </p:cNvPr>
          <p:cNvSpPr>
            <a:spLocks xmlns:a="http://schemas.openxmlformats.org/drawingml/2006/main" noGrp="1"/>
          </p:cNvSpPr>
          <p:nvPr/>
        </p:nvSpPr>
        <p:spPr>
          <a:xfrm xmlns:a="http://schemas.openxmlformats.org/drawingml/2006/main">
            <a:off x="1543050" y="25050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현재 상태</a:t>
            </a:r>
          </a:p>
        </p:txBody>
      </p:sp>
      <p:sp>
        <p:nvSpPr>
          <p:cNvPr id="5" name="state_view()">
            <a:extLst xmlns:a="http://schemas.openxmlformats.org/drawingml/2006/main">
              <a:ext uri="{FF2B5EF4-FFF2-40B4-BE49-F238E27FC236}">
                <a16:creationId xmlns:a16="http://schemas.microsoft.com/office/drawing/2014/main" id="{125EFDA8-7F20-423E-8DF8-B7DD59E04797}"/>
              </a:ext>
            </a:extLst>
          </p:cNvPr>
          <p:cNvSpPr>
            <a:spLocks xmlns:a="http://schemas.openxmlformats.org/drawingml/2006/main" noGrp="1"/>
          </p:cNvSpPr>
          <p:nvPr/>
        </p:nvSpPr>
        <p:spPr>
          <a:xfrm xmlns:a="http://schemas.openxmlformats.org/drawingml/2006/main">
            <a:off x="1543050" y="2905125"/>
            <a:ext cx="3152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state_view()</a:t>
            </a:r>
          </a:p>
        </p:txBody>
      </p:sp>
      <p:sp>
        <p:nvSpPr>
          <p:cNvPr id="6" name="모델의 도구 선택">
            <a:extLst xmlns:a="http://schemas.openxmlformats.org/drawingml/2006/main">
              <a:ext uri="{FF2B5EF4-FFF2-40B4-BE49-F238E27FC236}">
                <a16:creationId xmlns:a16="http://schemas.microsoft.com/office/drawing/2014/main" id="{23692153-4637-4320-8A67-261D314D70EF}"/>
              </a:ext>
            </a:extLst>
          </p:cNvPr>
          <p:cNvSpPr>
            <a:spLocks xmlns:a="http://schemas.openxmlformats.org/drawingml/2006/main" noGrp="1"/>
          </p:cNvSpPr>
          <p:nvPr/>
        </p:nvSpPr>
        <p:spPr>
          <a:xfrm xmlns:a="http://schemas.openxmlformats.org/drawingml/2006/main">
            <a:off x="7381875" y="2333625"/>
            <a:ext cx="3381375" cy="1085850"/>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7" name="모델의 도구 선택">
            <a:extLst xmlns:a="http://schemas.openxmlformats.org/drawingml/2006/main">
              <a:ext uri="{FF2B5EF4-FFF2-40B4-BE49-F238E27FC236}">
                <a16:creationId xmlns:a16="http://schemas.microsoft.com/office/drawing/2014/main" id="{3FEAEC07-8C7D-4579-BD84-11DBDAAF3F16}"/>
              </a:ext>
            </a:extLst>
          </p:cNvPr>
          <p:cNvSpPr>
            <a:spLocks xmlns:a="http://schemas.openxmlformats.org/drawingml/2006/main" noGrp="1"/>
          </p:cNvSpPr>
          <p:nvPr/>
        </p:nvSpPr>
        <p:spPr>
          <a:xfrm xmlns:a="http://schemas.openxmlformats.org/drawingml/2006/main">
            <a:off x="7496175" y="25050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모델의 도구 선택</a:t>
            </a:r>
          </a:p>
        </p:txBody>
      </p:sp>
      <p:sp>
        <p:nvSpPr>
          <p:cNvPr id="8" name="provider.respond()">
            <a:extLst xmlns:a="http://schemas.openxmlformats.org/drawingml/2006/main">
              <a:ext uri="{FF2B5EF4-FFF2-40B4-BE49-F238E27FC236}">
                <a16:creationId xmlns:a16="http://schemas.microsoft.com/office/drawing/2014/main" id="{2D565709-92FA-4C3D-B2D2-8298F9319134}"/>
              </a:ext>
            </a:extLst>
          </p:cNvPr>
          <p:cNvSpPr>
            <a:spLocks xmlns:a="http://schemas.openxmlformats.org/drawingml/2006/main" noGrp="1"/>
          </p:cNvSpPr>
          <p:nvPr/>
        </p:nvSpPr>
        <p:spPr>
          <a:xfrm xmlns:a="http://schemas.openxmlformats.org/drawingml/2006/main">
            <a:off x="7496175" y="2905125"/>
            <a:ext cx="3152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D5EBE3"/>
                </a:solidFill>
                <a:latin typeface="Apple SD Gothic Neo"/>
                <a:ea typeface="Apple SD Gothic Neo"/>
                <a:cs typeface="Apple SD Gothic Neo"/>
              </a:defRPr>
            </a:pPr>
            <a:r>
              <a:rPr sz="1500" b="0">
                <a:solidFill>
                  <a:srgbClr val="D5EBE3"/>
                </a:solidFill>
                <a:latin typeface="Apple SD Gothic Neo"/>
                <a:ea typeface="Apple SD Gothic Neo"/>
                <a:cs typeface="Apple SD Gothic Neo"/>
              </a:rPr>
              <a:t>provider.respond()</a:t>
            </a:r>
          </a:p>
        </p:txBody>
      </p:sp>
      <p:sp>
        <p:nvSpPr>
          <p:cNvPr id="9" name="도구 검증과 실행">
            <a:extLst xmlns:a="http://schemas.openxmlformats.org/drawingml/2006/main">
              <a:ext uri="{FF2B5EF4-FFF2-40B4-BE49-F238E27FC236}">
                <a16:creationId xmlns:a16="http://schemas.microsoft.com/office/drawing/2014/main" id="{C2F21008-0579-4712-99AC-CB3B045F6DF7}"/>
              </a:ext>
            </a:extLst>
          </p:cNvPr>
          <p:cNvSpPr>
            <a:spLocks xmlns:a="http://schemas.openxmlformats.org/drawingml/2006/main" noGrp="1"/>
          </p:cNvSpPr>
          <p:nvPr/>
        </p:nvSpPr>
        <p:spPr>
          <a:xfrm xmlns:a="http://schemas.openxmlformats.org/drawingml/2006/main">
            <a:off x="7381875" y="4524375"/>
            <a:ext cx="3381375" cy="108585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0" name="도구 검증과 실행">
            <a:extLst xmlns:a="http://schemas.openxmlformats.org/drawingml/2006/main">
              <a:ext uri="{FF2B5EF4-FFF2-40B4-BE49-F238E27FC236}">
                <a16:creationId xmlns:a16="http://schemas.microsoft.com/office/drawing/2014/main" id="{BB257AC2-71E4-4686-8215-51AA1A465B88}"/>
              </a:ext>
            </a:extLst>
          </p:cNvPr>
          <p:cNvSpPr>
            <a:spLocks xmlns:a="http://schemas.openxmlformats.org/drawingml/2006/main" noGrp="1"/>
          </p:cNvSpPr>
          <p:nvPr/>
        </p:nvSpPr>
        <p:spPr>
          <a:xfrm xmlns:a="http://schemas.openxmlformats.org/drawingml/2006/main">
            <a:off x="7496175" y="46958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도구 검증과 실행</a:t>
            </a:r>
          </a:p>
        </p:txBody>
      </p:sp>
      <p:sp>
        <p:nvSpPr>
          <p:cNvPr id="11" name="ToolExecutor.execute()">
            <a:extLst xmlns:a="http://schemas.openxmlformats.org/drawingml/2006/main">
              <a:ext uri="{FF2B5EF4-FFF2-40B4-BE49-F238E27FC236}">
                <a16:creationId xmlns:a16="http://schemas.microsoft.com/office/drawing/2014/main" id="{FE2012CD-FAF7-4E95-A507-897128538229}"/>
              </a:ext>
            </a:extLst>
          </p:cNvPr>
          <p:cNvSpPr>
            <a:spLocks xmlns:a="http://schemas.openxmlformats.org/drawingml/2006/main" noGrp="1"/>
          </p:cNvSpPr>
          <p:nvPr/>
        </p:nvSpPr>
        <p:spPr>
          <a:xfrm xmlns:a="http://schemas.openxmlformats.org/drawingml/2006/main">
            <a:off x="7496175" y="5095875"/>
            <a:ext cx="3152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ToolExecutor.execute()</a:t>
            </a:r>
          </a:p>
        </p:txBody>
      </p:sp>
      <p:sp>
        <p:nvSpPr>
          <p:cNvPr id="12" name="결과와 오류 저장">
            <a:extLst xmlns:a="http://schemas.openxmlformats.org/drawingml/2006/main">
              <a:ext uri="{FF2B5EF4-FFF2-40B4-BE49-F238E27FC236}">
                <a16:creationId xmlns:a16="http://schemas.microsoft.com/office/drawing/2014/main" id="{78D53308-4688-45C4-A5AE-486FDD65DA21}"/>
              </a:ext>
            </a:extLst>
          </p:cNvPr>
          <p:cNvSpPr>
            <a:spLocks xmlns:a="http://schemas.openxmlformats.org/drawingml/2006/main" noGrp="1"/>
          </p:cNvSpPr>
          <p:nvPr/>
        </p:nvSpPr>
        <p:spPr>
          <a:xfrm xmlns:a="http://schemas.openxmlformats.org/drawingml/2006/main">
            <a:off x="1428750" y="4524375"/>
            <a:ext cx="3381375" cy="1085850"/>
          </a:xfrm>
          <a:prstGeom xmlns:a="http://schemas.openxmlformats.org/drawingml/2006/main" prst="rect">
            <a:avLst/>
          </a:prstGeom>
          <a:solidFill xmlns:a="http://schemas.openxmlformats.org/drawingml/2006/main">
            <a:srgbClr val="F5EBDB"/>
          </a:solidFill>
          <a:ln xmlns:a="http://schemas.openxmlformats.org/drawingml/2006/main" w="0">
            <a:noFill/>
          </a:ln>
        </p:spPr>
      </p:sp>
      <p:sp>
        <p:nvSpPr>
          <p:cNvPr id="13" name="결과와 오류 저장">
            <a:extLst xmlns:a="http://schemas.openxmlformats.org/drawingml/2006/main">
              <a:ext uri="{FF2B5EF4-FFF2-40B4-BE49-F238E27FC236}">
                <a16:creationId xmlns:a16="http://schemas.microsoft.com/office/drawing/2014/main" id="{B7650B10-2D5B-47DD-8896-1745578142EE}"/>
              </a:ext>
            </a:extLst>
          </p:cNvPr>
          <p:cNvSpPr>
            <a:spLocks xmlns:a="http://schemas.openxmlformats.org/drawingml/2006/main" noGrp="1"/>
          </p:cNvSpPr>
          <p:nvPr/>
        </p:nvSpPr>
        <p:spPr>
          <a:xfrm xmlns:a="http://schemas.openxmlformats.org/drawingml/2006/main">
            <a:off x="1543050" y="46958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결과와 오류 저장</a:t>
            </a:r>
          </a:p>
        </p:txBody>
      </p:sp>
      <p:sp>
        <p:nvSpPr>
          <p:cNvPr id="14" name="function_call_output">
            <a:extLst xmlns:a="http://schemas.openxmlformats.org/drawingml/2006/main">
              <a:ext uri="{FF2B5EF4-FFF2-40B4-BE49-F238E27FC236}">
                <a16:creationId xmlns:a16="http://schemas.microsoft.com/office/drawing/2014/main" id="{555BDF78-B7FE-4E33-A01A-1C0E682E1548}"/>
              </a:ext>
            </a:extLst>
          </p:cNvPr>
          <p:cNvSpPr>
            <a:spLocks xmlns:a="http://schemas.openxmlformats.org/drawingml/2006/main" noGrp="1"/>
          </p:cNvSpPr>
          <p:nvPr/>
        </p:nvSpPr>
        <p:spPr>
          <a:xfrm xmlns:a="http://schemas.openxmlformats.org/drawingml/2006/main">
            <a:off x="1543050" y="5095875"/>
            <a:ext cx="3152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A96728"/>
                </a:solidFill>
                <a:latin typeface="Apple SD Gothic Neo"/>
                <a:ea typeface="Apple SD Gothic Neo"/>
                <a:cs typeface="Apple SD Gothic Neo"/>
              </a:defRPr>
            </a:pPr>
            <a:r>
              <a:rPr sz="1500" b="0">
                <a:solidFill>
                  <a:srgbClr val="A96728"/>
                </a:solidFill>
                <a:latin typeface="Apple SD Gothic Neo"/>
                <a:ea typeface="Apple SD Gothic Neo"/>
                <a:cs typeface="Apple SD Gothic Neo"/>
              </a:rPr>
              <a:t>function_call_output</a:t>
            </a:r>
          </a:p>
        </p:txBody>
      </p:sp>
      <p:cxnSp>
        <p:nvCxnSpPr>
          <p:cNvPr id="34" name=""/>
          <p:cNvCxnSpPr>
            <a:stCxn xmlns:a="http://schemas.openxmlformats.org/drawingml/2006/main" id="3" idx="3"/>
            <a:endCxn xmlns:a="http://schemas.openxmlformats.org/drawingml/2006/main" id="6" idx="1"/>
          </p:cNvCxnSpPr>
          <p:nvPr/>
        </p:nvCxnSpPr>
        <p:spPr>
          <a:xfrm xmlns:a="http://schemas.openxmlformats.org/drawingml/2006/main">
            <a:off x="4810125" y="2876550"/>
            <a:ext cx="25717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35" name=""/>
          <p:cNvCxnSpPr>
            <a:stCxn xmlns:a="http://schemas.openxmlformats.org/drawingml/2006/main" id="6" idx="2"/>
            <a:endCxn xmlns:a="http://schemas.openxmlformats.org/drawingml/2006/main" id="9" idx="0"/>
          </p:cNvCxnSpPr>
          <p:nvPr/>
        </p:nvCxnSpPr>
        <p:spPr>
          <a:xfrm xmlns:a="http://schemas.openxmlformats.org/drawingml/2006/main">
            <a:off x="9072563" y="3419475"/>
            <a:ext cx="0" cy="110490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36" name=""/>
          <p:cNvCxnSpPr>
            <a:stCxn xmlns:a="http://schemas.openxmlformats.org/drawingml/2006/main" id="9" idx="1"/>
            <a:endCxn xmlns:a="http://schemas.openxmlformats.org/drawingml/2006/main" id="12" idx="3"/>
          </p:cNvCxnSpPr>
          <p:nvPr/>
        </p:nvCxnSpPr>
        <p:spPr>
          <a:xfrm xmlns:a="http://schemas.openxmlformats.org/drawingml/2006/main" flipH="1">
            <a:off x="4810125" y="5067300"/>
            <a:ext cx="25717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37" name=""/>
          <p:cNvCxnSpPr>
            <a:stCxn xmlns:a="http://schemas.openxmlformats.org/drawingml/2006/main" id="12" idx="0"/>
            <a:endCxn xmlns:a="http://schemas.openxmlformats.org/drawingml/2006/main" id="3" idx="2"/>
          </p:cNvCxnSpPr>
          <p:nvPr/>
        </p:nvCxnSpPr>
        <p:spPr>
          <a:xfrm xmlns:a="http://schemas.openxmlformats.org/drawingml/2006/main" flipV="1">
            <a:off x="3119438" y="3419475"/>
            <a:ext cx="0" cy="110490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19" name="같은 상태를 갱신하며 반복">
            <a:extLst xmlns:a="http://schemas.openxmlformats.org/drawingml/2006/main">
              <a:ext uri="{FF2B5EF4-FFF2-40B4-BE49-F238E27FC236}">
                <a16:creationId xmlns:a16="http://schemas.microsoft.com/office/drawing/2014/main" id="{B81BA922-FCDC-4852-86EB-7D58CCAD1DBC}"/>
              </a:ext>
            </a:extLst>
          </p:cNvPr>
          <p:cNvSpPr>
            <a:spLocks xmlns:a="http://schemas.openxmlformats.org/drawingml/2006/main" noGrp="1"/>
          </p:cNvSpPr>
          <p:nvPr/>
        </p:nvSpPr>
        <p:spPr>
          <a:xfrm xmlns:a="http://schemas.openxmlformats.org/drawingml/2006/main">
            <a:off x="4352925" y="385762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87F78"/>
                </a:solidFill>
                <a:latin typeface="Apple SD Gothic Neo"/>
                <a:ea typeface="Apple SD Gothic Neo"/>
                <a:cs typeface="Apple SD Gothic Neo"/>
              </a:defRPr>
            </a:pPr>
            <a:r>
              <a:rPr sz="2025" b="1">
                <a:solidFill>
                  <a:srgbClr val="087F78"/>
                </a:solidFill>
                <a:latin typeface="Apple SD Gothic Neo"/>
                <a:ea typeface="Apple SD Gothic Neo"/>
                <a:cs typeface="Apple SD Gothic Neo"/>
              </a:rPr>
              <a:t>같은 상태를 갱신하며 반복</a:t>
            </a:r>
          </a:p>
        </p:txBody>
      </p:sp>
    </p:spTree>
    <p:extLst>
      <p:ext uri="{BB962C8B-B14F-4D97-AF65-F5344CB8AC3E}">
        <p14:creationId xmlns:p14="http://schemas.microsoft.com/office/powerpoint/2010/main" val="1517517905"/>
      </p:ext>
    </p:extLst>
  </p:cSld>
</p:sld>
</file>

<file path=ppt/slides/slide8.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4B81453A-60B1-41D7-BAA2-5B3B0F2E5771}"/>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모델은 함수를 요청하고, Python이 실행</a:t>
            </a:r>
          </a:p>
        </p:txBody>
      </p:sp>
      <p:sp>
        <p:nvSpPr>
          <p:cNvPr id="2" name="예시: arXiv HTML 원문을 열어 달라는 요청">
            <a:extLst xmlns:a="http://schemas.openxmlformats.org/drawingml/2006/main">
              <a:ext uri="{FF2B5EF4-FFF2-40B4-BE49-F238E27FC236}">
                <a16:creationId xmlns:a16="http://schemas.microsoft.com/office/drawing/2014/main" id="{243DB407-1785-4933-89A7-BA28C7139428}"/>
              </a:ext>
            </a:extLst>
          </p:cNvPr>
          <p:cNvSpPr>
            <a:spLocks xmlns:a="http://schemas.openxmlformats.org/drawingml/2006/main" noGrp="1"/>
          </p:cNvSpPr>
          <p:nvPr/>
        </p:nvSpPr>
        <p:spPr>
          <a:xfrm xmlns:a="http://schemas.openxmlformats.org/drawingml/2006/main">
            <a:off x="628650" y="12382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예시: arXiv HTML 원문을 열어 달라는 요청</a:t>
            </a:r>
          </a:p>
        </p:txBody>
      </p:sp>
      <p:sp>
        <p:nvSpPr>
          <p:cNvPr id="3" name="08">
            <a:extLst xmlns:a="http://schemas.openxmlformats.org/drawingml/2006/main">
              <a:ext uri="{FF2B5EF4-FFF2-40B4-BE49-F238E27FC236}">
                <a16:creationId xmlns:a16="http://schemas.microsoft.com/office/drawing/2014/main" id="{4EB00810-4F60-4D9E-AAA6-93C3A42E86DB}"/>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08</a:t>
            </a:r>
          </a:p>
        </p:txBody>
      </p:sp>
      <p:sp>
        <p:nvSpPr>
          <p:cNvPr id="4" name="모델의 요청">
            <a:extLst xmlns:a="http://schemas.openxmlformats.org/drawingml/2006/main">
              <a:ext uri="{FF2B5EF4-FFF2-40B4-BE49-F238E27FC236}">
                <a16:creationId xmlns:a16="http://schemas.microsoft.com/office/drawing/2014/main" id="{FB0D7D26-1240-43A4-9261-989DA57F7BA9}"/>
              </a:ext>
            </a:extLst>
          </p:cNvPr>
          <p:cNvSpPr>
            <a:spLocks xmlns:a="http://schemas.openxmlformats.org/drawingml/2006/main" noGrp="1"/>
          </p:cNvSpPr>
          <p:nvPr/>
        </p:nvSpPr>
        <p:spPr>
          <a:xfrm xmlns:a="http://schemas.openxmlformats.org/drawingml/2006/main">
            <a:off x="647700" y="21812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78"/>
                </a:solidFill>
                <a:latin typeface="Apple SD Gothic Neo"/>
                <a:ea typeface="Apple SD Gothic Neo"/>
                <a:cs typeface="Apple SD Gothic Neo"/>
              </a:defRPr>
            </a:pPr>
            <a:r>
              <a:rPr sz="2250" b="1">
                <a:solidFill>
                  <a:srgbClr val="087F78"/>
                </a:solidFill>
                <a:latin typeface="Apple SD Gothic Neo"/>
                <a:ea typeface="Apple SD Gothic Neo"/>
                <a:cs typeface="Apple SD Gothic Neo"/>
              </a:rPr>
              <a:t>모델의 요청</a:t>
            </a:r>
          </a:p>
        </p:txBody>
      </p:sp>
      <p:sp>
        <p:nvSpPr>
          <p:cNvPr id="5" name="fetch_fulltext&#10;paper_id: p_dem">
            <a:extLst xmlns:a="http://schemas.openxmlformats.org/drawingml/2006/main">
              <a:ext uri="{FF2B5EF4-FFF2-40B4-BE49-F238E27FC236}">
                <a16:creationId xmlns:a16="http://schemas.microsoft.com/office/drawing/2014/main" id="{3DC1987B-EBA9-43D5-AD77-08B219809035}"/>
              </a:ext>
            </a:extLst>
          </p:cNvPr>
          <p:cNvSpPr>
            <a:spLocks xmlns:a="http://schemas.openxmlformats.org/drawingml/2006/main" noGrp="1"/>
          </p:cNvSpPr>
          <p:nvPr/>
        </p:nvSpPr>
        <p:spPr>
          <a:xfrm xmlns:a="http://schemas.openxmlformats.org/drawingml/2006/main">
            <a:off x="647700" y="2895600"/>
            <a:ext cx="338137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D39"/>
                </a:solidFill>
                <a:latin typeface="Apple SD Gothic Neo"/>
                <a:ea typeface="Apple SD Gothic Neo"/>
                <a:cs typeface="Apple SD Gothic Neo"/>
              </a:defRPr>
            </a:pPr>
            <a:r>
              <a:rPr sz="2175" b="0">
                <a:solidFill>
                  <a:srgbClr val="173D39"/>
                </a:solidFill>
                <a:latin typeface="Apple SD Gothic Neo"/>
                <a:ea typeface="Apple SD Gothic Neo"/>
                <a:cs typeface="Apple SD Gothic Neo"/>
              </a:rPr>
              <a:t>fetch_fulltext</a:t>
            </a:r>
          </a:p>
          <a:p xmlns:a="http://schemas.openxmlformats.org/drawingml/2006/main">
            <a:pPr algn="l">
              <a:defRPr sz="2175" b="0">
                <a:solidFill>
                  <a:srgbClr val="173D39"/>
                </a:solidFill>
                <a:latin typeface="Apple SD Gothic Neo"/>
                <a:ea typeface="Apple SD Gothic Neo"/>
                <a:cs typeface="Apple SD Gothic Neo"/>
              </a:defRPr>
            </a:pPr>
            <a:r>
              <a:rPr sz="2175" b="0">
                <a:solidFill>
                  <a:srgbClr val="173D39"/>
                </a:solidFill>
                <a:latin typeface="Apple SD Gothic Neo"/>
                <a:ea typeface="Apple SD Gothic Neo"/>
                <a:cs typeface="Apple SD Gothic Neo"/>
              </a:rPr>
              <a:t>paper_id: p_demo</a:t>
            </a:r>
          </a:p>
          <a:p xmlns:a="http://schemas.openxmlformats.org/drawingml/2006/main">
            <a:pPr algn="l">
              <a:defRPr sz="2175" b="0">
                <a:solidFill>
                  <a:srgbClr val="173D39"/>
                </a:solidFill>
                <a:latin typeface="Apple SD Gothic Neo"/>
                <a:ea typeface="Apple SD Gothic Neo"/>
                <a:cs typeface="Apple SD Gothic Neo"/>
              </a:defRPr>
            </a:pPr>
            <a:r>
              <a:rPr sz="2175" b="0">
                <a:solidFill>
                  <a:srgbClr val="173D39"/>
                </a:solidFill>
                <a:latin typeface="Apple SD Gothic Neo"/>
                <a:ea typeface="Apple SD Gothic Neo"/>
                <a:cs typeface="Apple SD Gothic Neo"/>
              </a:rPr>
              <a:t>route: html</a:t>
            </a:r>
          </a:p>
          <a:p xmlns:a="http://schemas.openxmlformats.org/drawingml/2006/main">
            <a:pPr algn="l">
              <a:defRPr sz="2175" b="0">
                <a:solidFill>
                  <a:srgbClr val="173D39"/>
                </a:solidFill>
                <a:latin typeface="Apple SD Gothic Neo"/>
                <a:ea typeface="Apple SD Gothic Neo"/>
                <a:cs typeface="Apple SD Gothic Neo"/>
              </a:defRPr>
            </a:pPr>
            <a:r>
              <a:rPr sz="2175" b="0">
                <a:solidFill>
                  <a:srgbClr val="173D39"/>
                </a:solidFill>
                <a:latin typeface="Apple SD Gothic Neo"/>
                <a:ea typeface="Apple SD Gothic Neo"/>
                <a:cs typeface="Apple SD Gothic Neo"/>
              </a:rPr>
              <a:t>call_id: call_01</a:t>
            </a:r>
          </a:p>
        </p:txBody>
      </p:sp>
      <p:sp>
        <p:nvSpPr>
          <p:cNvPr id="6" name="Python 실행">
            <a:extLst xmlns:a="http://schemas.openxmlformats.org/drawingml/2006/main">
              <a:ext uri="{FF2B5EF4-FFF2-40B4-BE49-F238E27FC236}">
                <a16:creationId xmlns:a16="http://schemas.microsoft.com/office/drawing/2014/main" id="{D14563AB-9C61-4C57-9A74-F8E3DBD81F3F}"/>
              </a:ext>
            </a:extLst>
          </p:cNvPr>
          <p:cNvSpPr>
            <a:spLocks xmlns:a="http://schemas.openxmlformats.org/drawingml/2006/main" noGrp="1"/>
          </p:cNvSpPr>
          <p:nvPr/>
        </p:nvSpPr>
        <p:spPr>
          <a:xfrm xmlns:a="http://schemas.openxmlformats.org/drawingml/2006/main">
            <a:off x="4962525" y="3181350"/>
            <a:ext cx="2495550" cy="1114425"/>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7" name="Python 실행">
            <a:extLst xmlns:a="http://schemas.openxmlformats.org/drawingml/2006/main">
              <a:ext uri="{FF2B5EF4-FFF2-40B4-BE49-F238E27FC236}">
                <a16:creationId xmlns:a16="http://schemas.microsoft.com/office/drawing/2014/main" id="{9CC23E6F-AC32-4D5D-93DC-A28E909561F7}"/>
              </a:ext>
            </a:extLst>
          </p:cNvPr>
          <p:cNvSpPr>
            <a:spLocks xmlns:a="http://schemas.openxmlformats.org/drawingml/2006/main" noGrp="1"/>
          </p:cNvSpPr>
          <p:nvPr/>
        </p:nvSpPr>
        <p:spPr>
          <a:xfrm xmlns:a="http://schemas.openxmlformats.org/drawingml/2006/main">
            <a:off x="5076825" y="33528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Python 실행</a:t>
            </a:r>
          </a:p>
        </p:txBody>
      </p:sp>
      <p:sp>
        <p:nvSpPr>
          <p:cNvPr id="8" name="인자 검사와 원문 조회">
            <a:extLst xmlns:a="http://schemas.openxmlformats.org/drawingml/2006/main">
              <a:ext uri="{FF2B5EF4-FFF2-40B4-BE49-F238E27FC236}">
                <a16:creationId xmlns:a16="http://schemas.microsoft.com/office/drawing/2014/main" id="{28CD770F-80C1-4016-A19B-378B842E7544}"/>
              </a:ext>
            </a:extLst>
          </p:cNvPr>
          <p:cNvSpPr>
            <a:spLocks xmlns:a="http://schemas.openxmlformats.org/drawingml/2006/main" noGrp="1"/>
          </p:cNvSpPr>
          <p:nvPr/>
        </p:nvSpPr>
        <p:spPr>
          <a:xfrm xmlns:a="http://schemas.openxmlformats.org/drawingml/2006/main">
            <a:off x="5076825" y="3752850"/>
            <a:ext cx="2266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인자 검사와 원문 조회</a:t>
            </a:r>
          </a:p>
        </p:txBody>
      </p:sp>
      <p:sp>
        <p:nvSpPr>
          <p:cNvPr id="9" name="도구 결과">
            <a:extLst xmlns:a="http://schemas.openxmlformats.org/drawingml/2006/main">
              <a:ext uri="{FF2B5EF4-FFF2-40B4-BE49-F238E27FC236}">
                <a16:creationId xmlns:a16="http://schemas.microsoft.com/office/drawing/2014/main" id="{D041E362-7BBF-41B2-AC28-0FE334623ACE}"/>
              </a:ext>
            </a:extLst>
          </p:cNvPr>
          <p:cNvSpPr>
            <a:spLocks xmlns:a="http://schemas.openxmlformats.org/drawingml/2006/main" noGrp="1"/>
          </p:cNvSpPr>
          <p:nvPr/>
        </p:nvSpPr>
        <p:spPr>
          <a:xfrm xmlns:a="http://schemas.openxmlformats.org/drawingml/2006/main">
            <a:off x="8296275" y="218122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96728"/>
                </a:solidFill>
                <a:latin typeface="Apple SD Gothic Neo"/>
                <a:ea typeface="Apple SD Gothic Neo"/>
                <a:cs typeface="Apple SD Gothic Neo"/>
              </a:defRPr>
            </a:pPr>
            <a:r>
              <a:rPr sz="2250" b="1">
                <a:solidFill>
                  <a:srgbClr val="A96728"/>
                </a:solidFill>
                <a:latin typeface="Apple SD Gothic Neo"/>
                <a:ea typeface="Apple SD Gothic Neo"/>
                <a:cs typeface="Apple SD Gothic Neo"/>
              </a:rPr>
              <a:t>도구 결과</a:t>
            </a:r>
          </a:p>
        </p:txBody>
      </p:sp>
      <p:sp>
        <p:nvSpPr>
          <p:cNvPr id="10" name="ok: false&#10;error: HTML 본문 없음&#10;ca">
            <a:extLst xmlns:a="http://schemas.openxmlformats.org/drawingml/2006/main">
              <a:ext uri="{FF2B5EF4-FFF2-40B4-BE49-F238E27FC236}">
                <a16:creationId xmlns:a16="http://schemas.microsoft.com/office/drawing/2014/main" id="{3FB85AC4-ACAE-42CA-B2B6-3E02D52FBFE0}"/>
              </a:ext>
            </a:extLst>
          </p:cNvPr>
          <p:cNvSpPr>
            <a:spLocks xmlns:a="http://schemas.openxmlformats.org/drawingml/2006/main" noGrp="1"/>
          </p:cNvSpPr>
          <p:nvPr/>
        </p:nvSpPr>
        <p:spPr>
          <a:xfrm xmlns:a="http://schemas.openxmlformats.org/drawingml/2006/main">
            <a:off x="8296275" y="2895600"/>
            <a:ext cx="34099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D39"/>
                </a:solidFill>
                <a:latin typeface="Apple SD Gothic Neo"/>
                <a:ea typeface="Apple SD Gothic Neo"/>
                <a:cs typeface="Apple SD Gothic Neo"/>
              </a:defRPr>
            </a:pPr>
            <a:r>
              <a:rPr sz="2025" b="0">
                <a:solidFill>
                  <a:srgbClr val="173D39"/>
                </a:solidFill>
                <a:latin typeface="Apple SD Gothic Neo"/>
                <a:ea typeface="Apple SD Gothic Neo"/>
                <a:cs typeface="Apple SD Gothic Neo"/>
              </a:rPr>
              <a:t>ok: false</a:t>
            </a:r>
          </a:p>
          <a:p xmlns:a="http://schemas.openxmlformats.org/drawingml/2006/main">
            <a:pPr algn="l">
              <a:defRPr sz="2025" b="0">
                <a:solidFill>
                  <a:srgbClr val="173D39"/>
                </a:solidFill>
                <a:latin typeface="Apple SD Gothic Neo"/>
                <a:ea typeface="Apple SD Gothic Neo"/>
                <a:cs typeface="Apple SD Gothic Neo"/>
              </a:defRPr>
            </a:pPr>
            <a:r>
              <a:rPr sz="2025" b="0">
                <a:solidFill>
                  <a:srgbClr val="173D39"/>
                </a:solidFill>
                <a:latin typeface="Apple SD Gothic Neo"/>
                <a:ea typeface="Apple SD Gothic Neo"/>
                <a:cs typeface="Apple SD Gothic Neo"/>
              </a:rPr>
              <a:t>error: HTML 본문 없음</a:t>
            </a:r>
          </a:p>
          <a:p xmlns:a="http://schemas.openxmlformats.org/drawingml/2006/main">
            <a:pPr algn="l">
              <a:defRPr sz="2025" b="0">
                <a:solidFill>
                  <a:srgbClr val="173D39"/>
                </a:solidFill>
                <a:latin typeface="Apple SD Gothic Neo"/>
                <a:ea typeface="Apple SD Gothic Neo"/>
                <a:cs typeface="Apple SD Gothic Neo"/>
              </a:defRPr>
            </a:pPr>
            <a:r>
              <a:rPr sz="2025" b="0">
                <a:solidFill>
                  <a:srgbClr val="173D39"/>
                </a:solidFill>
                <a:latin typeface="Apple SD Gothic Neo"/>
                <a:ea typeface="Apple SD Gothic Neo"/>
                <a:cs typeface="Apple SD Gothic Neo"/>
              </a:rPr>
              <a:t>call_id: call_01</a:t>
            </a:r>
          </a:p>
        </p:txBody>
      </p:sp>
      <p:sp>
        <p:nvSpPr>
          <p:cNvPr id="11" name="">
            <a:extLst xmlns:a="http://schemas.openxmlformats.org/drawingml/2006/main">
              <a:ext uri="{FF2B5EF4-FFF2-40B4-BE49-F238E27FC236}">
                <a16:creationId xmlns:a16="http://schemas.microsoft.com/office/drawing/2014/main" id="{F03D19F6-F751-49E5-A875-9922ABC73422}"/>
              </a:ext>
            </a:extLst>
          </p:cNvPr>
          <p:cNvSpPr>
            <a:spLocks xmlns:a="http://schemas.openxmlformats.org/drawingml/2006/main" noGrp="1"/>
          </p:cNvSpPr>
          <p:nvPr/>
        </p:nvSpPr>
        <p:spPr>
          <a:xfrm xmlns:a="http://schemas.openxmlformats.org/drawingml/2006/main">
            <a:off x="4333875" y="37338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68323B8C-C88A-4CC6-9B49-86CD6B5C1A56}"/>
              </a:ext>
            </a:extLst>
          </p:cNvPr>
          <p:cNvSpPr>
            <a:spLocks xmlns:a="http://schemas.openxmlformats.org/drawingml/2006/main" noGrp="1"/>
          </p:cNvSpPr>
          <p:nvPr/>
        </p:nvSpPr>
        <p:spPr>
          <a:xfrm xmlns:a="http://schemas.openxmlformats.org/drawingml/2006/main">
            <a:off x="7839075" y="37338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cxnSp>
        <p:nvCxnSpPr>
          <p:cNvPr id="28" name=""/>
          <p:cNvCxnSpPr>
            <a:stCxn xmlns:a="http://schemas.openxmlformats.org/drawingml/2006/main" id="11" idx="3"/>
            <a:endCxn xmlns:a="http://schemas.openxmlformats.org/drawingml/2006/main" id="6" idx="1"/>
          </p:cNvCxnSpPr>
          <p:nvPr/>
        </p:nvCxnSpPr>
        <p:spPr>
          <a:xfrm xmlns:a="http://schemas.openxmlformats.org/drawingml/2006/main">
            <a:off x="4343400" y="3738563"/>
            <a:ext cx="619125"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29" name=""/>
          <p:cNvCxnSpPr>
            <a:stCxn xmlns:a="http://schemas.openxmlformats.org/drawingml/2006/main" id="6" idx="3"/>
            <a:endCxn xmlns:a="http://schemas.openxmlformats.org/drawingml/2006/main" id="12" idx="1"/>
          </p:cNvCxnSpPr>
          <p:nvPr/>
        </p:nvCxnSpPr>
        <p:spPr>
          <a:xfrm xmlns:a="http://schemas.openxmlformats.org/drawingml/2006/main">
            <a:off x="7458075" y="3738563"/>
            <a:ext cx="38100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15" name="같은 call_id가 요청과 관측을 연결">
            <a:extLst xmlns:a="http://schemas.openxmlformats.org/drawingml/2006/main">
              <a:ext uri="{FF2B5EF4-FFF2-40B4-BE49-F238E27FC236}">
                <a16:creationId xmlns:a16="http://schemas.microsoft.com/office/drawing/2014/main" id="{6B24D110-306B-4100-A9F7-CAFBB81E4A64}"/>
              </a:ext>
            </a:extLst>
          </p:cNvPr>
          <p:cNvSpPr>
            <a:spLocks xmlns:a="http://schemas.openxmlformats.org/drawingml/2006/main" noGrp="1"/>
          </p:cNvSpPr>
          <p:nvPr/>
        </p:nvSpPr>
        <p:spPr>
          <a:xfrm xmlns:a="http://schemas.openxmlformats.org/drawingml/2006/main">
            <a:off x="2962275" y="547687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1">
                <a:solidFill>
                  <a:srgbClr val="087F78"/>
                </a:solidFill>
                <a:latin typeface="Apple SD Gothic Neo"/>
                <a:ea typeface="Apple SD Gothic Neo"/>
                <a:cs typeface="Apple SD Gothic Neo"/>
              </a:defRPr>
            </a:pPr>
            <a:r>
              <a:rPr sz="2175" b="1">
                <a:solidFill>
                  <a:srgbClr val="087F78"/>
                </a:solidFill>
                <a:latin typeface="Apple SD Gothic Neo"/>
                <a:ea typeface="Apple SD Gothic Neo"/>
                <a:cs typeface="Apple SD Gothic Neo"/>
              </a:rPr>
              <a:t>같은 call_id가 요청과 관측을 연결</a:t>
            </a:r>
          </a:p>
        </p:txBody>
      </p:sp>
    </p:spTree>
    <p:extLst>
      <p:ext uri="{BB962C8B-B14F-4D97-AF65-F5344CB8AC3E}">
        <p14:creationId xmlns:p14="http://schemas.microsoft.com/office/powerpoint/2010/main" val="343064576"/>
      </p:ext>
    </p:extLst>
  </p:cSld>
</p:sld>
</file>

<file path=ppt/slides/slide9.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ED05924B-B2A4-42E8-AD53-32337F7C557D}"/>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모델의 판단과 프로그램의 책임</a:t>
            </a:r>
          </a:p>
        </p:txBody>
      </p:sp>
      <p:sp>
        <p:nvSpPr>
          <p:cNvPr id="2" name="09">
            <a:extLst xmlns:a="http://schemas.openxmlformats.org/drawingml/2006/main">
              <a:ext uri="{FF2B5EF4-FFF2-40B4-BE49-F238E27FC236}">
                <a16:creationId xmlns:a16="http://schemas.microsoft.com/office/drawing/2014/main" id="{951F2551-2B29-4024-A817-F8A840EEC035}"/>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09</a:t>
            </a:r>
          </a:p>
        </p:txBody>
      </p:sp>
      <p:sp>
        <p:nvSpPr>
          <p:cNvPr id="3" name="모델">
            <a:extLst xmlns:a="http://schemas.openxmlformats.org/drawingml/2006/main">
              <a:ext uri="{FF2B5EF4-FFF2-40B4-BE49-F238E27FC236}">
                <a16:creationId xmlns:a16="http://schemas.microsoft.com/office/drawing/2014/main" id="{30B2F648-331B-4A8B-B953-AB6B2B4C4E8B}"/>
              </a:ext>
            </a:extLst>
          </p:cNvPr>
          <p:cNvSpPr>
            <a:spLocks xmlns:a="http://schemas.openxmlformats.org/drawingml/2006/main" noGrp="1"/>
          </p:cNvSpPr>
          <p:nvPr/>
        </p:nvSpPr>
        <p:spPr>
          <a:xfrm xmlns:a="http://schemas.openxmlformats.org/drawingml/2006/main">
            <a:off x="790575" y="20383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87F78"/>
                </a:solidFill>
                <a:latin typeface="Apple SD Gothic Neo"/>
                <a:ea typeface="Apple SD Gothic Neo"/>
                <a:cs typeface="Apple SD Gothic Neo"/>
              </a:defRPr>
            </a:pPr>
            <a:r>
              <a:rPr sz="3000" b="1">
                <a:solidFill>
                  <a:srgbClr val="087F78"/>
                </a:solidFill>
                <a:latin typeface="Apple SD Gothic Neo"/>
                <a:ea typeface="Apple SD Gothic Neo"/>
                <a:cs typeface="Apple SD Gothic Neo"/>
              </a:rPr>
              <a:t>모델</a:t>
            </a:r>
          </a:p>
        </p:txBody>
      </p:sp>
      <p:sp>
        <p:nvSpPr>
          <p:cNvPr id="4" name="Python 코드">
            <a:extLst xmlns:a="http://schemas.openxmlformats.org/drawingml/2006/main">
              <a:ext uri="{FF2B5EF4-FFF2-40B4-BE49-F238E27FC236}">
                <a16:creationId xmlns:a16="http://schemas.microsoft.com/office/drawing/2014/main" id="{BC272431-E584-4030-B66E-3AEDE0757AED}"/>
              </a:ext>
            </a:extLst>
          </p:cNvPr>
          <p:cNvSpPr>
            <a:spLocks xmlns:a="http://schemas.openxmlformats.org/drawingml/2006/main" noGrp="1"/>
          </p:cNvSpPr>
          <p:nvPr/>
        </p:nvSpPr>
        <p:spPr>
          <a:xfrm xmlns:a="http://schemas.openxmlformats.org/drawingml/2006/main">
            <a:off x="6781800" y="2038350"/>
            <a:ext cx="471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3D39"/>
                </a:solidFill>
                <a:latin typeface="Apple SD Gothic Neo"/>
                <a:ea typeface="Apple SD Gothic Neo"/>
                <a:cs typeface="Apple SD Gothic Neo"/>
              </a:defRPr>
            </a:pPr>
            <a:r>
              <a:rPr sz="3000" b="1">
                <a:solidFill>
                  <a:srgbClr val="173D39"/>
                </a:solidFill>
                <a:latin typeface="Apple SD Gothic Neo"/>
                <a:ea typeface="Apple SD Gothic Neo"/>
                <a:cs typeface="Apple SD Gothic Neo"/>
              </a:rPr>
              <a:t>Python 코드</a:t>
            </a:r>
          </a:p>
        </p:txBody>
      </p:sp>
      <p:sp>
        <p:nvSpPr>
          <p:cNvPr id="5" name="">
            <a:extLst xmlns:a="http://schemas.openxmlformats.org/drawingml/2006/main">
              <a:ext uri="{FF2B5EF4-FFF2-40B4-BE49-F238E27FC236}">
                <a16:creationId xmlns:a16="http://schemas.microsoft.com/office/drawing/2014/main" id="{59E7146A-F377-41B7-B665-7AEC3F13F7EB}"/>
              </a:ext>
            </a:extLst>
          </p:cNvPr>
          <p:cNvSpPr>
            <a:spLocks xmlns:a="http://schemas.openxmlformats.org/drawingml/2006/main" noGrp="1"/>
          </p:cNvSpPr>
          <p:nvPr/>
        </p:nvSpPr>
        <p:spPr>
          <a:xfrm xmlns:a="http://schemas.openxmlformats.org/drawingml/2006/main">
            <a:off x="781050" y="2781300"/>
            <a:ext cx="10620375"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
        <p:nvSpPr>
          <p:cNvPr id="6" name="검색어와 소스 선택">
            <a:extLst xmlns:a="http://schemas.openxmlformats.org/drawingml/2006/main">
              <a:ext uri="{FF2B5EF4-FFF2-40B4-BE49-F238E27FC236}">
                <a16:creationId xmlns:a16="http://schemas.microsoft.com/office/drawing/2014/main" id="{DCAB604E-6DA4-4E44-B68B-52B617D844B2}"/>
              </a:ext>
            </a:extLst>
          </p:cNvPr>
          <p:cNvSpPr>
            <a:spLocks xmlns:a="http://schemas.openxmlformats.org/drawingml/2006/main" noGrp="1"/>
          </p:cNvSpPr>
          <p:nvPr/>
        </p:nvSpPr>
        <p:spPr>
          <a:xfrm xmlns:a="http://schemas.openxmlformats.org/drawingml/2006/main">
            <a:off x="800100" y="3105150"/>
            <a:ext cx="5105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C47"/>
                </a:solidFill>
                <a:latin typeface="Apple SD Gothic Neo"/>
                <a:ea typeface="Apple SD Gothic Neo"/>
                <a:cs typeface="Apple SD Gothic Neo"/>
              </a:defRPr>
            </a:pPr>
            <a:r>
              <a:rPr sz="2100" b="0">
                <a:solidFill>
                  <a:srgbClr val="304C47"/>
                </a:solidFill>
                <a:latin typeface="Apple SD Gothic Neo"/>
                <a:ea typeface="Apple SD Gothic Neo"/>
                <a:cs typeface="Apple SD Gothic Neo"/>
              </a:rPr>
              <a:t>검색어와 소스 선택</a:t>
            </a:r>
          </a:p>
        </p:txBody>
      </p:sp>
      <p:sp>
        <p:nvSpPr>
          <p:cNvPr id="7" name="학술 API 요청과 중복 제거">
            <a:extLst xmlns:a="http://schemas.openxmlformats.org/drawingml/2006/main">
              <a:ext uri="{FF2B5EF4-FFF2-40B4-BE49-F238E27FC236}">
                <a16:creationId xmlns:a16="http://schemas.microsoft.com/office/drawing/2014/main" id="{EBD69109-D8B5-4FC0-A78B-11312B4D34C7}"/>
              </a:ext>
            </a:extLst>
          </p:cNvPr>
          <p:cNvSpPr>
            <a:spLocks xmlns:a="http://schemas.openxmlformats.org/drawingml/2006/main" noGrp="1"/>
          </p:cNvSpPr>
          <p:nvPr/>
        </p:nvSpPr>
        <p:spPr>
          <a:xfrm xmlns:a="http://schemas.openxmlformats.org/drawingml/2006/main">
            <a:off x="6791325" y="31051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C47"/>
                </a:solidFill>
                <a:latin typeface="Apple SD Gothic Neo"/>
                <a:ea typeface="Apple SD Gothic Neo"/>
                <a:cs typeface="Apple SD Gothic Neo"/>
              </a:defRPr>
            </a:pPr>
            <a:r>
              <a:rPr sz="2100" b="0">
                <a:solidFill>
                  <a:srgbClr val="304C47"/>
                </a:solidFill>
                <a:latin typeface="Apple SD Gothic Neo"/>
                <a:ea typeface="Apple SD Gothic Neo"/>
                <a:cs typeface="Apple SD Gothic Neo"/>
              </a:rPr>
              <a:t>학술 API 요청과 중복 제거</a:t>
            </a:r>
          </a:p>
        </p:txBody>
      </p:sp>
      <p:sp>
        <p:nvSpPr>
          <p:cNvPr id="8" name="후보 순위와 읽을 구간 판단">
            <a:extLst xmlns:a="http://schemas.openxmlformats.org/drawingml/2006/main">
              <a:ext uri="{FF2B5EF4-FFF2-40B4-BE49-F238E27FC236}">
                <a16:creationId xmlns:a16="http://schemas.microsoft.com/office/drawing/2014/main" id="{E47DC24F-AD1E-469A-99E5-8D5ACD54D7E7}"/>
              </a:ext>
            </a:extLst>
          </p:cNvPr>
          <p:cNvSpPr>
            <a:spLocks xmlns:a="http://schemas.openxmlformats.org/drawingml/2006/main" noGrp="1"/>
          </p:cNvSpPr>
          <p:nvPr/>
        </p:nvSpPr>
        <p:spPr>
          <a:xfrm xmlns:a="http://schemas.openxmlformats.org/drawingml/2006/main">
            <a:off x="800100" y="3819525"/>
            <a:ext cx="5105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C47"/>
                </a:solidFill>
                <a:latin typeface="Apple SD Gothic Neo"/>
                <a:ea typeface="Apple SD Gothic Neo"/>
                <a:cs typeface="Apple SD Gothic Neo"/>
              </a:defRPr>
            </a:pPr>
            <a:r>
              <a:rPr sz="2100" b="0">
                <a:solidFill>
                  <a:srgbClr val="304C47"/>
                </a:solidFill>
                <a:latin typeface="Apple SD Gothic Neo"/>
                <a:ea typeface="Apple SD Gothic Neo"/>
                <a:cs typeface="Apple SD Gothic Neo"/>
              </a:rPr>
              <a:t>후보 순위와 읽을 구간 판단</a:t>
            </a:r>
          </a:p>
        </p:txBody>
      </p:sp>
      <p:sp>
        <p:nvSpPr>
          <p:cNvPr id="9" name="원문 추출과 열람 기록">
            <a:extLst xmlns:a="http://schemas.openxmlformats.org/drawingml/2006/main">
              <a:ext uri="{FF2B5EF4-FFF2-40B4-BE49-F238E27FC236}">
                <a16:creationId xmlns:a16="http://schemas.microsoft.com/office/drawing/2014/main" id="{669E247A-675E-4A57-9144-FF93B62E2981}"/>
              </a:ext>
            </a:extLst>
          </p:cNvPr>
          <p:cNvSpPr>
            <a:spLocks xmlns:a="http://schemas.openxmlformats.org/drawingml/2006/main" noGrp="1"/>
          </p:cNvSpPr>
          <p:nvPr/>
        </p:nvSpPr>
        <p:spPr>
          <a:xfrm xmlns:a="http://schemas.openxmlformats.org/drawingml/2006/main">
            <a:off x="6791325" y="38195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C47"/>
                </a:solidFill>
                <a:latin typeface="Apple SD Gothic Neo"/>
                <a:ea typeface="Apple SD Gothic Neo"/>
                <a:cs typeface="Apple SD Gothic Neo"/>
              </a:defRPr>
            </a:pPr>
            <a:r>
              <a:rPr sz="2100" b="0">
                <a:solidFill>
                  <a:srgbClr val="304C47"/>
                </a:solidFill>
                <a:latin typeface="Apple SD Gothic Neo"/>
                <a:ea typeface="Apple SD Gothic Neo"/>
                <a:cs typeface="Apple SD Gothic Neo"/>
              </a:rPr>
              <a:t>원문 추출과 열람 기록</a:t>
            </a:r>
          </a:p>
        </p:txBody>
      </p:sp>
      <p:sp>
        <p:nvSpPr>
          <p:cNvPr id="10" name="근거를 활용한 설명 작성">
            <a:extLst xmlns:a="http://schemas.openxmlformats.org/drawingml/2006/main">
              <a:ext uri="{FF2B5EF4-FFF2-40B4-BE49-F238E27FC236}">
                <a16:creationId xmlns:a16="http://schemas.microsoft.com/office/drawing/2014/main" id="{26DB2428-0C1A-4A8F-B715-A6770F479D8B}"/>
              </a:ext>
            </a:extLst>
          </p:cNvPr>
          <p:cNvSpPr>
            <a:spLocks xmlns:a="http://schemas.openxmlformats.org/drawingml/2006/main" noGrp="1"/>
          </p:cNvSpPr>
          <p:nvPr/>
        </p:nvSpPr>
        <p:spPr>
          <a:xfrm xmlns:a="http://schemas.openxmlformats.org/drawingml/2006/main">
            <a:off x="800100" y="4533900"/>
            <a:ext cx="5105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C47"/>
                </a:solidFill>
                <a:latin typeface="Apple SD Gothic Neo"/>
                <a:ea typeface="Apple SD Gothic Neo"/>
                <a:cs typeface="Apple SD Gothic Neo"/>
              </a:defRPr>
            </a:pPr>
            <a:r>
              <a:rPr sz="2100" b="0">
                <a:solidFill>
                  <a:srgbClr val="304C47"/>
                </a:solidFill>
                <a:latin typeface="Apple SD Gothic Neo"/>
                <a:ea typeface="Apple SD Gothic Neo"/>
                <a:cs typeface="Apple SD Gothic Neo"/>
              </a:rPr>
              <a:t>근거를 활용한 설명 작성</a:t>
            </a:r>
          </a:p>
        </p:txBody>
      </p:sp>
      <p:sp>
        <p:nvSpPr>
          <p:cNvPr id="11" name="인용 연결과 완료 조건 검사">
            <a:extLst xmlns:a="http://schemas.openxmlformats.org/drawingml/2006/main">
              <a:ext uri="{FF2B5EF4-FFF2-40B4-BE49-F238E27FC236}">
                <a16:creationId xmlns:a16="http://schemas.microsoft.com/office/drawing/2014/main" id="{EF2FE8EC-79DA-4BE7-8D2B-B2F440EB7A4C}"/>
              </a:ext>
            </a:extLst>
          </p:cNvPr>
          <p:cNvSpPr>
            <a:spLocks xmlns:a="http://schemas.openxmlformats.org/drawingml/2006/main" noGrp="1"/>
          </p:cNvSpPr>
          <p:nvPr/>
        </p:nvSpPr>
        <p:spPr>
          <a:xfrm xmlns:a="http://schemas.openxmlformats.org/drawingml/2006/main">
            <a:off x="6791325" y="45339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C47"/>
                </a:solidFill>
                <a:latin typeface="Apple SD Gothic Neo"/>
                <a:ea typeface="Apple SD Gothic Neo"/>
                <a:cs typeface="Apple SD Gothic Neo"/>
              </a:defRPr>
            </a:pPr>
            <a:r>
              <a:rPr sz="2100" b="0">
                <a:solidFill>
                  <a:srgbClr val="304C47"/>
                </a:solidFill>
                <a:latin typeface="Apple SD Gothic Neo"/>
                <a:ea typeface="Apple SD Gothic Neo"/>
                <a:cs typeface="Apple SD Gothic Neo"/>
              </a:rPr>
              <a:t>인용 연결과 완료 조건 검사</a:t>
            </a:r>
          </a:p>
        </p:txBody>
      </p:sp>
      <p:sp>
        <p:nvSpPr>
          <p:cNvPr id="12" name="오류를 보고 다음 행동 선택">
            <a:extLst xmlns:a="http://schemas.openxmlformats.org/drawingml/2006/main">
              <a:ext uri="{FF2B5EF4-FFF2-40B4-BE49-F238E27FC236}">
                <a16:creationId xmlns:a16="http://schemas.microsoft.com/office/drawing/2014/main" id="{7A1056E2-A3B9-421B-BB65-926A022867F3}"/>
              </a:ext>
            </a:extLst>
          </p:cNvPr>
          <p:cNvSpPr>
            <a:spLocks xmlns:a="http://schemas.openxmlformats.org/drawingml/2006/main" noGrp="1"/>
          </p:cNvSpPr>
          <p:nvPr/>
        </p:nvSpPr>
        <p:spPr>
          <a:xfrm xmlns:a="http://schemas.openxmlformats.org/drawingml/2006/main">
            <a:off x="800100" y="5248275"/>
            <a:ext cx="5105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C47"/>
                </a:solidFill>
                <a:latin typeface="Apple SD Gothic Neo"/>
                <a:ea typeface="Apple SD Gothic Neo"/>
                <a:cs typeface="Apple SD Gothic Neo"/>
              </a:defRPr>
            </a:pPr>
            <a:r>
              <a:rPr sz="2100" b="0">
                <a:solidFill>
                  <a:srgbClr val="304C47"/>
                </a:solidFill>
                <a:latin typeface="Apple SD Gothic Neo"/>
                <a:ea typeface="Apple SD Gothic Neo"/>
                <a:cs typeface="Apple SD Gothic Neo"/>
              </a:rPr>
              <a:t>오류를 보고 다음 행동 선택</a:t>
            </a:r>
          </a:p>
        </p:txBody>
      </p:sp>
      <p:sp>
        <p:nvSpPr>
          <p:cNvPr id="13" name="상태 저장과 실행 한도 적용">
            <a:extLst xmlns:a="http://schemas.openxmlformats.org/drawingml/2006/main">
              <a:ext uri="{FF2B5EF4-FFF2-40B4-BE49-F238E27FC236}">
                <a16:creationId xmlns:a16="http://schemas.microsoft.com/office/drawing/2014/main" id="{CE7F50A8-3372-4E28-8B4F-BE765AFA977E}"/>
              </a:ext>
            </a:extLst>
          </p:cNvPr>
          <p:cNvSpPr>
            <a:spLocks xmlns:a="http://schemas.openxmlformats.org/drawingml/2006/main" noGrp="1"/>
          </p:cNvSpPr>
          <p:nvPr/>
        </p:nvSpPr>
        <p:spPr>
          <a:xfrm xmlns:a="http://schemas.openxmlformats.org/drawingml/2006/main">
            <a:off x="6791325" y="52482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C47"/>
                </a:solidFill>
                <a:latin typeface="Apple SD Gothic Neo"/>
                <a:ea typeface="Apple SD Gothic Neo"/>
                <a:cs typeface="Apple SD Gothic Neo"/>
              </a:defRPr>
            </a:pPr>
            <a:r>
              <a:rPr sz="2100" b="0">
                <a:solidFill>
                  <a:srgbClr val="304C47"/>
                </a:solidFill>
                <a:latin typeface="Apple SD Gothic Neo"/>
                <a:ea typeface="Apple SD Gothic Neo"/>
                <a:cs typeface="Apple SD Gothic Neo"/>
              </a:rPr>
              <a:t>상태 저장과 실행 한도 적용</a:t>
            </a:r>
          </a:p>
        </p:txBody>
      </p:sp>
    </p:spTree>
    <p:extLst>
      <p:ext uri="{BB962C8B-B14F-4D97-AF65-F5344CB8AC3E}">
        <p14:creationId xmlns:p14="http://schemas.microsoft.com/office/powerpoint/2010/main" val="695785166"/>
      </p:ext>
    </p:extLst>
  </p:cSld>
</p:sld>
</file>

<file path=ppt/slides/slide10.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41E47D9E-E32A-40D1-966E-6DA2EE5B900C}"/>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원문을 근거와 연결하는 구조</a:t>
            </a:r>
          </a:p>
        </p:txBody>
      </p:sp>
      <p:sp>
        <p:nvSpPr>
          <p:cNvPr id="2" name="다운로드한 원문과 모델이 실제 읽은 구간을 구분">
            <a:extLst xmlns:a="http://schemas.openxmlformats.org/drawingml/2006/main">
              <a:ext uri="{FF2B5EF4-FFF2-40B4-BE49-F238E27FC236}">
                <a16:creationId xmlns:a16="http://schemas.microsoft.com/office/drawing/2014/main" id="{CEA2E29B-2B29-4B47-9FAA-ECFD53FB2779}"/>
              </a:ext>
            </a:extLst>
          </p:cNvPr>
          <p:cNvSpPr>
            <a:spLocks xmlns:a="http://schemas.openxmlformats.org/drawingml/2006/main" noGrp="1"/>
          </p:cNvSpPr>
          <p:nvPr/>
        </p:nvSpPr>
        <p:spPr>
          <a:xfrm xmlns:a="http://schemas.openxmlformats.org/drawingml/2006/main">
            <a:off x="628650" y="12382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다운로드한 원문과 모델이 실제 읽은 구간을 구분</a:t>
            </a:r>
          </a:p>
        </p:txBody>
      </p:sp>
      <p:sp>
        <p:nvSpPr>
          <p:cNvPr id="3" name="10">
            <a:extLst xmlns:a="http://schemas.openxmlformats.org/drawingml/2006/main">
              <a:ext uri="{FF2B5EF4-FFF2-40B4-BE49-F238E27FC236}">
                <a16:creationId xmlns:a16="http://schemas.microsoft.com/office/drawing/2014/main" id="{E26FF70F-5081-4037-9B9F-1C3ED14534EF}"/>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10</a:t>
            </a:r>
          </a:p>
        </p:txBody>
      </p:sp>
      <p:sp>
        <p:nvSpPr>
          <p:cNvPr id="4" name="원문 청크">
            <a:extLst xmlns:a="http://schemas.openxmlformats.org/drawingml/2006/main">
              <a:ext uri="{FF2B5EF4-FFF2-40B4-BE49-F238E27FC236}">
                <a16:creationId xmlns:a16="http://schemas.microsoft.com/office/drawing/2014/main" id="{ED4B93E8-3783-4E77-8716-F72E60844593}"/>
              </a:ext>
            </a:extLst>
          </p:cNvPr>
          <p:cNvSpPr>
            <a:spLocks xmlns:a="http://schemas.openxmlformats.org/drawingml/2006/main" noGrp="1"/>
          </p:cNvSpPr>
          <p:nvPr/>
        </p:nvSpPr>
        <p:spPr>
          <a:xfrm xmlns:a="http://schemas.openxmlformats.org/drawingml/2006/main">
            <a:off x="628650" y="2781300"/>
            <a:ext cx="2333625" cy="11049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5" name="원문 청크">
            <a:extLst xmlns:a="http://schemas.openxmlformats.org/drawingml/2006/main">
              <a:ext uri="{FF2B5EF4-FFF2-40B4-BE49-F238E27FC236}">
                <a16:creationId xmlns:a16="http://schemas.microsoft.com/office/drawing/2014/main" id="{B24D5CFC-7912-4733-A31E-D1ED85DC263B}"/>
              </a:ext>
            </a:extLst>
          </p:cNvPr>
          <p:cNvSpPr>
            <a:spLocks xmlns:a="http://schemas.openxmlformats.org/drawingml/2006/main" noGrp="1"/>
          </p:cNvSpPr>
          <p:nvPr/>
        </p:nvSpPr>
        <p:spPr>
          <a:xfrm xmlns:a="http://schemas.openxmlformats.org/drawingml/2006/main">
            <a:off x="742950" y="2952750"/>
            <a:ext cx="2105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원문 청크</a:t>
            </a:r>
          </a:p>
        </p:txBody>
      </p:sp>
      <p:sp>
        <p:nvSpPr>
          <p:cNvPr id="6" name="읽은 위치 기록">
            <a:extLst xmlns:a="http://schemas.openxmlformats.org/drawingml/2006/main">
              <a:ext uri="{FF2B5EF4-FFF2-40B4-BE49-F238E27FC236}">
                <a16:creationId xmlns:a16="http://schemas.microsoft.com/office/drawing/2014/main" id="{44AC3DA5-7FA4-4258-81E7-FE8C7B9C97FD}"/>
              </a:ext>
            </a:extLst>
          </p:cNvPr>
          <p:cNvSpPr>
            <a:spLocks xmlns:a="http://schemas.openxmlformats.org/drawingml/2006/main" noGrp="1"/>
          </p:cNvSpPr>
          <p:nvPr/>
        </p:nvSpPr>
        <p:spPr>
          <a:xfrm xmlns:a="http://schemas.openxmlformats.org/drawingml/2006/main">
            <a:off x="742950" y="3352800"/>
            <a:ext cx="2105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읽은 위치 기록</a:t>
            </a:r>
          </a:p>
        </p:txBody>
      </p:sp>
      <p:sp>
        <p:nvSpPr>
          <p:cNvPr id="7" name="근거 노트">
            <a:extLst xmlns:a="http://schemas.openxmlformats.org/drawingml/2006/main">
              <a:ext uri="{FF2B5EF4-FFF2-40B4-BE49-F238E27FC236}">
                <a16:creationId xmlns:a16="http://schemas.microsoft.com/office/drawing/2014/main" id="{A90FA250-A8DC-423C-9818-2FE803835EB4}"/>
              </a:ext>
            </a:extLst>
          </p:cNvPr>
          <p:cNvSpPr>
            <a:spLocks xmlns:a="http://schemas.openxmlformats.org/drawingml/2006/main" noGrp="1"/>
          </p:cNvSpPr>
          <p:nvPr/>
        </p:nvSpPr>
        <p:spPr>
          <a:xfrm xmlns:a="http://schemas.openxmlformats.org/drawingml/2006/main">
            <a:off x="3495675" y="2781300"/>
            <a:ext cx="2333625" cy="11049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8" name="근거 노트">
            <a:extLst xmlns:a="http://schemas.openxmlformats.org/drawingml/2006/main">
              <a:ext uri="{FF2B5EF4-FFF2-40B4-BE49-F238E27FC236}">
                <a16:creationId xmlns:a16="http://schemas.microsoft.com/office/drawing/2014/main" id="{42742678-7183-49A7-B6F6-2ACAF69AAE4D}"/>
              </a:ext>
            </a:extLst>
          </p:cNvPr>
          <p:cNvSpPr>
            <a:spLocks xmlns:a="http://schemas.openxmlformats.org/drawingml/2006/main" noGrp="1"/>
          </p:cNvSpPr>
          <p:nvPr/>
        </p:nvSpPr>
        <p:spPr>
          <a:xfrm xmlns:a="http://schemas.openxmlformats.org/drawingml/2006/main">
            <a:off x="3609975" y="2952750"/>
            <a:ext cx="2105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근거 노트</a:t>
            </a:r>
          </a:p>
        </p:txBody>
      </p:sp>
      <p:sp>
        <p:nvSpPr>
          <p:cNvPr id="9" name="정확한 구절과 주장">
            <a:extLst xmlns:a="http://schemas.openxmlformats.org/drawingml/2006/main">
              <a:ext uri="{FF2B5EF4-FFF2-40B4-BE49-F238E27FC236}">
                <a16:creationId xmlns:a16="http://schemas.microsoft.com/office/drawing/2014/main" id="{854DACBF-8EA6-4852-9B2B-695CA7306E0B}"/>
              </a:ext>
            </a:extLst>
          </p:cNvPr>
          <p:cNvSpPr>
            <a:spLocks xmlns:a="http://schemas.openxmlformats.org/drawingml/2006/main" noGrp="1"/>
          </p:cNvSpPr>
          <p:nvPr/>
        </p:nvSpPr>
        <p:spPr>
          <a:xfrm xmlns:a="http://schemas.openxmlformats.org/drawingml/2006/main">
            <a:off x="3609975" y="3352800"/>
            <a:ext cx="2105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정확한 구절과 주장</a:t>
            </a:r>
          </a:p>
        </p:txBody>
      </p:sp>
      <p:sp>
        <p:nvSpPr>
          <p:cNvPr id="10" name="상세 초안">
            <a:extLst xmlns:a="http://schemas.openxmlformats.org/drawingml/2006/main">
              <a:ext uri="{FF2B5EF4-FFF2-40B4-BE49-F238E27FC236}">
                <a16:creationId xmlns:a16="http://schemas.microsoft.com/office/drawing/2014/main" id="{766EE527-C51D-4533-84A5-AA27B17DEFAA}"/>
              </a:ext>
            </a:extLst>
          </p:cNvPr>
          <p:cNvSpPr>
            <a:spLocks xmlns:a="http://schemas.openxmlformats.org/drawingml/2006/main" noGrp="1"/>
          </p:cNvSpPr>
          <p:nvPr/>
        </p:nvSpPr>
        <p:spPr>
          <a:xfrm xmlns:a="http://schemas.openxmlformats.org/drawingml/2006/main">
            <a:off x="6362700" y="2781300"/>
            <a:ext cx="2333625" cy="11049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1" name="상세 초안">
            <a:extLst xmlns:a="http://schemas.openxmlformats.org/drawingml/2006/main">
              <a:ext uri="{FF2B5EF4-FFF2-40B4-BE49-F238E27FC236}">
                <a16:creationId xmlns:a16="http://schemas.microsoft.com/office/drawing/2014/main" id="{981D7EB8-29A9-49AE-971E-7AFF74F8AF6A}"/>
              </a:ext>
            </a:extLst>
          </p:cNvPr>
          <p:cNvSpPr>
            <a:spLocks xmlns:a="http://schemas.openxmlformats.org/drawingml/2006/main" noGrp="1"/>
          </p:cNvSpPr>
          <p:nvPr/>
        </p:nvSpPr>
        <p:spPr>
          <a:xfrm xmlns:a="http://schemas.openxmlformats.org/drawingml/2006/main">
            <a:off x="6477000" y="2952750"/>
            <a:ext cx="2105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상세 초안</a:t>
            </a:r>
          </a:p>
        </p:txBody>
      </p:sp>
      <p:sp>
        <p:nvSpPr>
          <p:cNvPr id="12" name="evidence_ids 연결">
            <a:extLst xmlns:a="http://schemas.openxmlformats.org/drawingml/2006/main">
              <a:ext uri="{FF2B5EF4-FFF2-40B4-BE49-F238E27FC236}">
                <a16:creationId xmlns:a16="http://schemas.microsoft.com/office/drawing/2014/main" id="{E1793BBB-1D69-4DED-9D92-221B97DD95DF}"/>
              </a:ext>
            </a:extLst>
          </p:cNvPr>
          <p:cNvSpPr>
            <a:spLocks xmlns:a="http://schemas.openxmlformats.org/drawingml/2006/main" noGrp="1"/>
          </p:cNvSpPr>
          <p:nvPr/>
        </p:nvSpPr>
        <p:spPr>
          <a:xfrm xmlns:a="http://schemas.openxmlformats.org/drawingml/2006/main">
            <a:off x="6477000" y="3352800"/>
            <a:ext cx="2105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evidence_ids 연결</a:t>
            </a:r>
          </a:p>
        </p:txBody>
      </p:sp>
      <p:sp>
        <p:nvSpPr>
          <p:cNvPr id="13" name="완료 검증">
            <a:extLst xmlns:a="http://schemas.openxmlformats.org/drawingml/2006/main">
              <a:ext uri="{FF2B5EF4-FFF2-40B4-BE49-F238E27FC236}">
                <a16:creationId xmlns:a16="http://schemas.microsoft.com/office/drawing/2014/main" id="{17EED80F-9C4A-4D74-99E3-99F63444580E}"/>
              </a:ext>
            </a:extLst>
          </p:cNvPr>
          <p:cNvSpPr>
            <a:spLocks xmlns:a="http://schemas.openxmlformats.org/drawingml/2006/main" noGrp="1"/>
          </p:cNvSpPr>
          <p:nvPr/>
        </p:nvSpPr>
        <p:spPr>
          <a:xfrm xmlns:a="http://schemas.openxmlformats.org/drawingml/2006/main">
            <a:off x="9229725" y="2781300"/>
            <a:ext cx="2333625" cy="1104900"/>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14" name="완료 검증">
            <a:extLst xmlns:a="http://schemas.openxmlformats.org/drawingml/2006/main">
              <a:ext uri="{FF2B5EF4-FFF2-40B4-BE49-F238E27FC236}">
                <a16:creationId xmlns:a16="http://schemas.microsoft.com/office/drawing/2014/main" id="{63E5A0FD-0FD8-4206-BF8E-82353A546EC7}"/>
              </a:ext>
            </a:extLst>
          </p:cNvPr>
          <p:cNvSpPr>
            <a:spLocks xmlns:a="http://schemas.openxmlformats.org/drawingml/2006/main" noGrp="1"/>
          </p:cNvSpPr>
          <p:nvPr/>
        </p:nvSpPr>
        <p:spPr>
          <a:xfrm xmlns:a="http://schemas.openxmlformats.org/drawingml/2006/main">
            <a:off x="9344025" y="2952750"/>
            <a:ext cx="2105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완료 검증</a:t>
            </a:r>
          </a:p>
        </p:txBody>
      </p:sp>
      <p:sp>
        <p:nvSpPr>
          <p:cNvPr id="15" name="누락과 연결 검사">
            <a:extLst xmlns:a="http://schemas.openxmlformats.org/drawingml/2006/main">
              <a:ext uri="{FF2B5EF4-FFF2-40B4-BE49-F238E27FC236}">
                <a16:creationId xmlns:a16="http://schemas.microsoft.com/office/drawing/2014/main" id="{0865A665-CC12-4CED-8B8B-66A2750DF426}"/>
              </a:ext>
            </a:extLst>
          </p:cNvPr>
          <p:cNvSpPr>
            <a:spLocks xmlns:a="http://schemas.openxmlformats.org/drawingml/2006/main" noGrp="1"/>
          </p:cNvSpPr>
          <p:nvPr/>
        </p:nvSpPr>
        <p:spPr>
          <a:xfrm xmlns:a="http://schemas.openxmlformats.org/drawingml/2006/main">
            <a:off x="9344025" y="3352800"/>
            <a:ext cx="2105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D5EBE3"/>
                </a:solidFill>
                <a:latin typeface="Apple SD Gothic Neo"/>
                <a:ea typeface="Apple SD Gothic Neo"/>
                <a:cs typeface="Apple SD Gothic Neo"/>
              </a:defRPr>
            </a:pPr>
            <a:r>
              <a:rPr sz="1500" b="0">
                <a:solidFill>
                  <a:srgbClr val="D5EBE3"/>
                </a:solidFill>
                <a:latin typeface="Apple SD Gothic Neo"/>
                <a:ea typeface="Apple SD Gothic Neo"/>
                <a:cs typeface="Apple SD Gothic Neo"/>
              </a:rPr>
              <a:t>누락과 연결 검사</a:t>
            </a:r>
          </a:p>
        </p:txBody>
      </p:sp>
      <p:cxnSp>
        <p:nvCxnSpPr>
          <p:cNvPr id="39" name=""/>
          <p:cNvCxnSpPr>
            <a:stCxn xmlns:a="http://schemas.openxmlformats.org/drawingml/2006/main" id="4" idx="3"/>
            <a:endCxn xmlns:a="http://schemas.openxmlformats.org/drawingml/2006/main" id="7" idx="1"/>
          </p:cNvCxnSpPr>
          <p:nvPr/>
        </p:nvCxnSpPr>
        <p:spPr>
          <a:xfrm xmlns:a="http://schemas.openxmlformats.org/drawingml/2006/main">
            <a:off x="2962275" y="3333750"/>
            <a:ext cx="53340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40" name=""/>
          <p:cNvCxnSpPr>
            <a:stCxn xmlns:a="http://schemas.openxmlformats.org/drawingml/2006/main" id="7" idx="3"/>
            <a:endCxn xmlns:a="http://schemas.openxmlformats.org/drawingml/2006/main" id="10" idx="1"/>
          </p:cNvCxnSpPr>
          <p:nvPr/>
        </p:nvCxnSpPr>
        <p:spPr>
          <a:xfrm xmlns:a="http://schemas.openxmlformats.org/drawingml/2006/main">
            <a:off x="5829300" y="3333750"/>
            <a:ext cx="53340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41" name=""/>
          <p:cNvCxnSpPr>
            <a:stCxn xmlns:a="http://schemas.openxmlformats.org/drawingml/2006/main" id="10" idx="3"/>
            <a:endCxn xmlns:a="http://schemas.openxmlformats.org/drawingml/2006/main" id="13" idx="1"/>
          </p:cNvCxnSpPr>
          <p:nvPr/>
        </p:nvCxnSpPr>
        <p:spPr>
          <a:xfrm xmlns:a="http://schemas.openxmlformats.org/drawingml/2006/main">
            <a:off x="8696325" y="3333750"/>
            <a:ext cx="53340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19" name="본문 열람">
            <a:extLst xmlns:a="http://schemas.openxmlformats.org/drawingml/2006/main">
              <a:ext uri="{FF2B5EF4-FFF2-40B4-BE49-F238E27FC236}">
                <a16:creationId xmlns:a16="http://schemas.microsoft.com/office/drawing/2014/main" id="{6419EDDC-C608-43B4-9519-DD55FE8BC113}"/>
              </a:ext>
            </a:extLst>
          </p:cNvPr>
          <p:cNvSpPr>
            <a:spLocks xmlns:a="http://schemas.openxmlformats.org/drawingml/2006/main" noGrp="1"/>
          </p:cNvSpPr>
          <p:nvPr/>
        </p:nvSpPr>
        <p:spPr>
          <a:xfrm xmlns:a="http://schemas.openxmlformats.org/drawingml/2006/main">
            <a:off x="638175" y="4381500"/>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87F78"/>
                </a:solidFill>
                <a:latin typeface="Apple SD Gothic Neo"/>
                <a:ea typeface="Apple SD Gothic Neo"/>
                <a:cs typeface="Apple SD Gothic Neo"/>
              </a:defRPr>
            </a:pPr>
            <a:r>
              <a:rPr sz="2025" b="1">
                <a:solidFill>
                  <a:srgbClr val="087F78"/>
                </a:solidFill>
                <a:latin typeface="Apple SD Gothic Neo"/>
                <a:ea typeface="Apple SD Gothic Neo"/>
                <a:cs typeface="Apple SD Gothic Neo"/>
              </a:rPr>
              <a:t>본문 열람</a:t>
            </a:r>
          </a:p>
        </p:txBody>
      </p:sp>
      <p:sp>
        <p:nvSpPr>
          <p:cNvPr id="20" name="근거 저장">
            <a:extLst xmlns:a="http://schemas.openxmlformats.org/drawingml/2006/main">
              <a:ext uri="{FF2B5EF4-FFF2-40B4-BE49-F238E27FC236}">
                <a16:creationId xmlns:a16="http://schemas.microsoft.com/office/drawing/2014/main" id="{016488EA-6BCB-4DCC-B8F7-0C9FAB50BE59}"/>
              </a:ext>
            </a:extLst>
          </p:cNvPr>
          <p:cNvSpPr>
            <a:spLocks xmlns:a="http://schemas.openxmlformats.org/drawingml/2006/main" noGrp="1"/>
          </p:cNvSpPr>
          <p:nvPr/>
        </p:nvSpPr>
        <p:spPr>
          <a:xfrm xmlns:a="http://schemas.openxmlformats.org/drawingml/2006/main">
            <a:off x="3495675" y="4381500"/>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87F78"/>
                </a:solidFill>
                <a:latin typeface="Apple SD Gothic Neo"/>
                <a:ea typeface="Apple SD Gothic Neo"/>
                <a:cs typeface="Apple SD Gothic Neo"/>
              </a:defRPr>
            </a:pPr>
            <a:r>
              <a:rPr sz="2025" b="1">
                <a:solidFill>
                  <a:srgbClr val="087F78"/>
                </a:solidFill>
                <a:latin typeface="Apple SD Gothic Neo"/>
                <a:ea typeface="Apple SD Gothic Neo"/>
                <a:cs typeface="Apple SD Gothic Neo"/>
              </a:rPr>
              <a:t>근거 저장</a:t>
            </a:r>
          </a:p>
        </p:txBody>
      </p:sp>
      <p:sp>
        <p:nvSpPr>
          <p:cNvPr id="21" name="논문별 작성">
            <a:extLst xmlns:a="http://schemas.openxmlformats.org/drawingml/2006/main">
              <a:ext uri="{FF2B5EF4-FFF2-40B4-BE49-F238E27FC236}">
                <a16:creationId xmlns:a16="http://schemas.microsoft.com/office/drawing/2014/main" id="{5F68DBEE-9272-4366-9CCA-E7A968BA7B7F}"/>
              </a:ext>
            </a:extLst>
          </p:cNvPr>
          <p:cNvSpPr>
            <a:spLocks xmlns:a="http://schemas.openxmlformats.org/drawingml/2006/main" noGrp="1"/>
          </p:cNvSpPr>
          <p:nvPr/>
        </p:nvSpPr>
        <p:spPr>
          <a:xfrm xmlns:a="http://schemas.openxmlformats.org/drawingml/2006/main">
            <a:off x="6372225" y="4381500"/>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87F78"/>
                </a:solidFill>
                <a:latin typeface="Apple SD Gothic Neo"/>
                <a:ea typeface="Apple SD Gothic Neo"/>
                <a:cs typeface="Apple SD Gothic Neo"/>
              </a:defRPr>
            </a:pPr>
            <a:r>
              <a:rPr sz="2025" b="1">
                <a:solidFill>
                  <a:srgbClr val="087F78"/>
                </a:solidFill>
                <a:latin typeface="Apple SD Gothic Neo"/>
                <a:ea typeface="Apple SD Gothic Neo"/>
                <a:cs typeface="Apple SD Gothic Neo"/>
              </a:rPr>
              <a:t>논문별 작성</a:t>
            </a:r>
          </a:p>
        </p:txBody>
      </p:sp>
      <p:sp>
        <p:nvSpPr>
          <p:cNvPr id="22" name="최종 조립">
            <a:extLst xmlns:a="http://schemas.openxmlformats.org/drawingml/2006/main">
              <a:ext uri="{FF2B5EF4-FFF2-40B4-BE49-F238E27FC236}">
                <a16:creationId xmlns:a16="http://schemas.microsoft.com/office/drawing/2014/main" id="{C1DFBFFE-CE99-4AF7-8473-941C101B04B3}"/>
              </a:ext>
            </a:extLst>
          </p:cNvPr>
          <p:cNvSpPr>
            <a:spLocks xmlns:a="http://schemas.openxmlformats.org/drawingml/2006/main" noGrp="1"/>
          </p:cNvSpPr>
          <p:nvPr/>
        </p:nvSpPr>
        <p:spPr>
          <a:xfrm xmlns:a="http://schemas.openxmlformats.org/drawingml/2006/main">
            <a:off x="9229725" y="4381500"/>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87F78"/>
                </a:solidFill>
                <a:latin typeface="Apple SD Gothic Neo"/>
                <a:ea typeface="Apple SD Gothic Neo"/>
                <a:cs typeface="Apple SD Gothic Neo"/>
              </a:defRPr>
            </a:pPr>
            <a:r>
              <a:rPr sz="2025" b="1">
                <a:solidFill>
                  <a:srgbClr val="087F78"/>
                </a:solidFill>
                <a:latin typeface="Apple SD Gothic Neo"/>
                <a:ea typeface="Apple SD Gothic Neo"/>
                <a:cs typeface="Apple SD Gothic Neo"/>
              </a:rPr>
              <a:t>최종 조립</a:t>
            </a:r>
          </a:p>
        </p:txBody>
      </p:sp>
      <p:sp>
        <p:nvSpPr>
          <p:cNvPr id="23" name="참조 검증은 의미적 정확성까지 보장하지 않음">
            <a:extLst xmlns:a="http://schemas.openxmlformats.org/drawingml/2006/main">
              <a:ext uri="{FF2B5EF4-FFF2-40B4-BE49-F238E27FC236}">
                <a16:creationId xmlns:a16="http://schemas.microsoft.com/office/drawing/2014/main" id="{175280A3-92FE-433C-B285-507D3B82A516}"/>
              </a:ext>
            </a:extLst>
          </p:cNvPr>
          <p:cNvSpPr>
            <a:spLocks xmlns:a="http://schemas.openxmlformats.org/drawingml/2006/main" noGrp="1"/>
          </p:cNvSpPr>
          <p:nvPr/>
        </p:nvSpPr>
        <p:spPr>
          <a:xfrm xmlns:a="http://schemas.openxmlformats.org/drawingml/2006/main">
            <a:off x="2238375" y="551497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0">
                <a:solidFill>
                  <a:srgbClr val="A96728"/>
                </a:solidFill>
                <a:latin typeface="Apple SD Gothic Neo"/>
                <a:ea typeface="Apple SD Gothic Neo"/>
                <a:cs typeface="Apple SD Gothic Neo"/>
              </a:defRPr>
            </a:pPr>
            <a:r>
              <a:rPr sz="2025" b="0">
                <a:solidFill>
                  <a:srgbClr val="A96728"/>
                </a:solidFill>
                <a:latin typeface="Apple SD Gothic Neo"/>
                <a:ea typeface="Apple SD Gothic Neo"/>
                <a:cs typeface="Apple SD Gothic Neo"/>
              </a:rPr>
              <a:t>참조 검증은 의미적 정확성까지 보장하지 않음</a:t>
            </a:r>
          </a:p>
        </p:txBody>
      </p:sp>
    </p:spTree>
    <p:extLst>
      <p:ext uri="{BB962C8B-B14F-4D97-AF65-F5344CB8AC3E}">
        <p14:creationId xmlns:p14="http://schemas.microsoft.com/office/powerpoint/2010/main" val="1129348348"/>
      </p:ext>
    </p:extLst>
  </p:cSld>
</p:sld>
</file>

<file path=ppt/slides/slide11.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03D4DB27-16EB-4EAD-906C-1903A27E24B7}"/>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실패도 다음 판단의 입력</a:t>
            </a:r>
          </a:p>
        </p:txBody>
      </p:sp>
      <p:sp>
        <p:nvSpPr>
          <p:cNvPr id="2" name="가능한 대응 예시: 실제 경로는 관측과 모델 선택에 따">
            <a:extLst xmlns:a="http://schemas.openxmlformats.org/drawingml/2006/main">
              <a:ext uri="{FF2B5EF4-FFF2-40B4-BE49-F238E27FC236}">
                <a16:creationId xmlns:a16="http://schemas.microsoft.com/office/drawing/2014/main" id="{98293CD1-6149-4DF3-AF80-9D6DE2D1BBBA}"/>
              </a:ext>
            </a:extLst>
          </p:cNvPr>
          <p:cNvSpPr>
            <a:spLocks xmlns:a="http://schemas.openxmlformats.org/drawingml/2006/main" noGrp="1"/>
          </p:cNvSpPr>
          <p:nvPr/>
        </p:nvSpPr>
        <p:spPr>
          <a:xfrm xmlns:a="http://schemas.openxmlformats.org/drawingml/2006/main">
            <a:off x="628650" y="12382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가능한 대응 예시: 실제 경로는 관측과 모델 선택에 따라 달라짐</a:t>
            </a:r>
          </a:p>
        </p:txBody>
      </p:sp>
      <p:sp>
        <p:nvSpPr>
          <p:cNvPr id="3" name="11">
            <a:extLst xmlns:a="http://schemas.openxmlformats.org/drawingml/2006/main">
              <a:ext uri="{FF2B5EF4-FFF2-40B4-BE49-F238E27FC236}">
                <a16:creationId xmlns:a16="http://schemas.microsoft.com/office/drawing/2014/main" id="{68F7DF00-F5DA-4EAE-81CF-291E0D27550A}"/>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11</a:t>
            </a:r>
          </a:p>
        </p:txBody>
      </p:sp>
      <p:sp>
        <p:nvSpPr>
          <p:cNvPr id="4" name="검색 결과가 부족함">
            <a:extLst xmlns:a="http://schemas.openxmlformats.org/drawingml/2006/main">
              <a:ext uri="{FF2B5EF4-FFF2-40B4-BE49-F238E27FC236}">
                <a16:creationId xmlns:a16="http://schemas.microsoft.com/office/drawing/2014/main" id="{9B24A611-F4C5-4599-99EB-823C6CF2FC26}"/>
              </a:ext>
            </a:extLst>
          </p:cNvPr>
          <p:cNvSpPr>
            <a:spLocks xmlns:a="http://schemas.openxmlformats.org/drawingml/2006/main" noGrp="1"/>
          </p:cNvSpPr>
          <p:nvPr/>
        </p:nvSpPr>
        <p:spPr>
          <a:xfrm xmlns:a="http://schemas.openxmlformats.org/drawingml/2006/main">
            <a:off x="800100" y="2238375"/>
            <a:ext cx="4143375" cy="800100"/>
          </a:xfrm>
          <a:prstGeom xmlns:a="http://schemas.openxmlformats.org/drawingml/2006/main" prst="rect">
            <a:avLst/>
          </a:prstGeom>
          <a:solidFill xmlns:a="http://schemas.openxmlformats.org/drawingml/2006/main">
            <a:srgbClr val="F5EBDB"/>
          </a:solidFill>
          <a:ln xmlns:a="http://schemas.openxmlformats.org/drawingml/2006/main" w="0">
            <a:noFill/>
          </a:ln>
        </p:spPr>
      </p:sp>
      <p:sp>
        <p:nvSpPr>
          <p:cNvPr id="5" name="검색 결과가 부족함">
            <a:extLst xmlns:a="http://schemas.openxmlformats.org/drawingml/2006/main">
              <a:ext uri="{FF2B5EF4-FFF2-40B4-BE49-F238E27FC236}">
                <a16:creationId xmlns:a16="http://schemas.microsoft.com/office/drawing/2014/main" id="{048FFF72-A1D7-4833-901B-5E7CD0636C86}"/>
              </a:ext>
            </a:extLst>
          </p:cNvPr>
          <p:cNvSpPr>
            <a:spLocks xmlns:a="http://schemas.openxmlformats.org/drawingml/2006/main" noGrp="1"/>
          </p:cNvSpPr>
          <p:nvPr/>
        </p:nvSpPr>
        <p:spPr>
          <a:xfrm xmlns:a="http://schemas.openxmlformats.org/drawingml/2006/main">
            <a:off x="914400" y="2238375"/>
            <a:ext cx="39147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A96728"/>
                </a:solidFill>
                <a:latin typeface="Apple SD Gothic Neo"/>
                <a:ea typeface="Apple SD Gothic Neo"/>
                <a:cs typeface="Apple SD Gothic Neo"/>
              </a:defRPr>
            </a:pPr>
            <a:r>
              <a:rPr sz="2100" b="1">
                <a:solidFill>
                  <a:srgbClr val="A96728"/>
                </a:solidFill>
                <a:latin typeface="Apple SD Gothic Neo"/>
                <a:ea typeface="Apple SD Gothic Neo"/>
                <a:cs typeface="Apple SD Gothic Neo"/>
              </a:rPr>
              <a:t>검색 결과가 부족함</a:t>
            </a:r>
          </a:p>
        </p:txBody>
      </p:sp>
      <p:sp>
        <p:nvSpPr>
          <p:cNvPr id="6" name="검색어·소스·페이지 변경">
            <a:extLst xmlns:a="http://schemas.openxmlformats.org/drawingml/2006/main">
              <a:ext uri="{FF2B5EF4-FFF2-40B4-BE49-F238E27FC236}">
                <a16:creationId xmlns:a16="http://schemas.microsoft.com/office/drawing/2014/main" id="{33AA03E3-7C16-4FAB-8A87-A9CF66DCC228}"/>
              </a:ext>
            </a:extLst>
          </p:cNvPr>
          <p:cNvSpPr>
            <a:spLocks xmlns:a="http://schemas.openxmlformats.org/drawingml/2006/main" noGrp="1"/>
          </p:cNvSpPr>
          <p:nvPr/>
        </p:nvSpPr>
        <p:spPr>
          <a:xfrm xmlns:a="http://schemas.openxmlformats.org/drawingml/2006/main">
            <a:off x="6724650" y="2238375"/>
            <a:ext cx="4695825" cy="8001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7" name="검색어·소스·페이지 변경">
            <a:extLst xmlns:a="http://schemas.openxmlformats.org/drawingml/2006/main">
              <a:ext uri="{FF2B5EF4-FFF2-40B4-BE49-F238E27FC236}">
                <a16:creationId xmlns:a16="http://schemas.microsoft.com/office/drawing/2014/main" id="{BB6D91EF-8031-4C47-B6F6-49572BE52664}"/>
              </a:ext>
            </a:extLst>
          </p:cNvPr>
          <p:cNvSpPr>
            <a:spLocks xmlns:a="http://schemas.openxmlformats.org/drawingml/2006/main" noGrp="1"/>
          </p:cNvSpPr>
          <p:nvPr/>
        </p:nvSpPr>
        <p:spPr>
          <a:xfrm xmlns:a="http://schemas.openxmlformats.org/drawingml/2006/main">
            <a:off x="6838950" y="2238375"/>
            <a:ext cx="44672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검색어·소스·페이지 변경</a:t>
            </a:r>
          </a:p>
        </p:txBody>
      </p:sp>
      <p:cxnSp>
        <p:nvCxnSpPr>
          <p:cNvPr id="26" name=""/>
          <p:cNvCxnSpPr>
            <a:stCxn xmlns:a="http://schemas.openxmlformats.org/drawingml/2006/main" id="4" idx="3"/>
            <a:endCxn xmlns:a="http://schemas.openxmlformats.org/drawingml/2006/main" id="6" idx="1"/>
          </p:cNvCxnSpPr>
          <p:nvPr/>
        </p:nvCxnSpPr>
        <p:spPr>
          <a:xfrm xmlns:a="http://schemas.openxmlformats.org/drawingml/2006/main">
            <a:off x="4943475" y="2638425"/>
            <a:ext cx="1781175"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9" name="HTML 원문 조회 실패">
            <a:extLst xmlns:a="http://schemas.openxmlformats.org/drawingml/2006/main">
              <a:ext uri="{FF2B5EF4-FFF2-40B4-BE49-F238E27FC236}">
                <a16:creationId xmlns:a16="http://schemas.microsoft.com/office/drawing/2014/main" id="{38F9F895-7FB6-4671-B450-161D6B2B8747}"/>
              </a:ext>
            </a:extLst>
          </p:cNvPr>
          <p:cNvSpPr>
            <a:spLocks xmlns:a="http://schemas.openxmlformats.org/drawingml/2006/main" noGrp="1"/>
          </p:cNvSpPr>
          <p:nvPr/>
        </p:nvSpPr>
        <p:spPr>
          <a:xfrm xmlns:a="http://schemas.openxmlformats.org/drawingml/2006/main">
            <a:off x="800100" y="3495675"/>
            <a:ext cx="4143375" cy="800100"/>
          </a:xfrm>
          <a:prstGeom xmlns:a="http://schemas.openxmlformats.org/drawingml/2006/main" prst="rect">
            <a:avLst/>
          </a:prstGeom>
          <a:solidFill xmlns:a="http://schemas.openxmlformats.org/drawingml/2006/main">
            <a:srgbClr val="F5EBDB"/>
          </a:solidFill>
          <a:ln xmlns:a="http://schemas.openxmlformats.org/drawingml/2006/main" w="0">
            <a:noFill/>
          </a:ln>
        </p:spPr>
      </p:sp>
      <p:sp>
        <p:nvSpPr>
          <p:cNvPr id="10" name="HTML 원문 조회 실패">
            <a:extLst xmlns:a="http://schemas.openxmlformats.org/drawingml/2006/main">
              <a:ext uri="{FF2B5EF4-FFF2-40B4-BE49-F238E27FC236}">
                <a16:creationId xmlns:a16="http://schemas.microsoft.com/office/drawing/2014/main" id="{70CA4540-D7FB-49EA-BA10-16F2549A4457}"/>
              </a:ext>
            </a:extLst>
          </p:cNvPr>
          <p:cNvSpPr>
            <a:spLocks xmlns:a="http://schemas.openxmlformats.org/drawingml/2006/main" noGrp="1"/>
          </p:cNvSpPr>
          <p:nvPr/>
        </p:nvSpPr>
        <p:spPr>
          <a:xfrm xmlns:a="http://schemas.openxmlformats.org/drawingml/2006/main">
            <a:off x="914400" y="3495675"/>
            <a:ext cx="39147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A96728"/>
                </a:solidFill>
                <a:latin typeface="Apple SD Gothic Neo"/>
                <a:ea typeface="Apple SD Gothic Neo"/>
                <a:cs typeface="Apple SD Gothic Neo"/>
              </a:defRPr>
            </a:pPr>
            <a:r>
              <a:rPr sz="2100" b="1">
                <a:solidFill>
                  <a:srgbClr val="A96728"/>
                </a:solidFill>
                <a:latin typeface="Apple SD Gothic Neo"/>
                <a:ea typeface="Apple SD Gothic Neo"/>
                <a:cs typeface="Apple SD Gothic Neo"/>
              </a:rPr>
              <a:t>HTML 원문 조회 실패</a:t>
            </a:r>
          </a:p>
        </p:txBody>
      </p:sp>
      <p:sp>
        <p:nvSpPr>
          <p:cNvPr id="11" name="PDF 경로 또는 다른 후보 선택">
            <a:extLst xmlns:a="http://schemas.openxmlformats.org/drawingml/2006/main">
              <a:ext uri="{FF2B5EF4-FFF2-40B4-BE49-F238E27FC236}">
                <a16:creationId xmlns:a16="http://schemas.microsoft.com/office/drawing/2014/main" id="{47407037-4F90-4B2D-9449-58BF8D98B303}"/>
              </a:ext>
            </a:extLst>
          </p:cNvPr>
          <p:cNvSpPr>
            <a:spLocks xmlns:a="http://schemas.openxmlformats.org/drawingml/2006/main" noGrp="1"/>
          </p:cNvSpPr>
          <p:nvPr/>
        </p:nvSpPr>
        <p:spPr>
          <a:xfrm xmlns:a="http://schemas.openxmlformats.org/drawingml/2006/main">
            <a:off x="6724650" y="3495675"/>
            <a:ext cx="4695825" cy="8001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2" name="PDF 경로 또는 다른 후보 선택">
            <a:extLst xmlns:a="http://schemas.openxmlformats.org/drawingml/2006/main">
              <a:ext uri="{FF2B5EF4-FFF2-40B4-BE49-F238E27FC236}">
                <a16:creationId xmlns:a16="http://schemas.microsoft.com/office/drawing/2014/main" id="{D3D20F73-0BAD-4995-A095-20FA6DE2DF3F}"/>
              </a:ext>
            </a:extLst>
          </p:cNvPr>
          <p:cNvSpPr>
            <a:spLocks xmlns:a="http://schemas.openxmlformats.org/drawingml/2006/main" noGrp="1"/>
          </p:cNvSpPr>
          <p:nvPr/>
        </p:nvSpPr>
        <p:spPr>
          <a:xfrm xmlns:a="http://schemas.openxmlformats.org/drawingml/2006/main">
            <a:off x="6838950" y="3495675"/>
            <a:ext cx="44672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PDF 경로 또는 다른 후보 선택</a:t>
            </a:r>
          </a:p>
        </p:txBody>
      </p:sp>
      <p:cxnSp>
        <p:nvCxnSpPr>
          <p:cNvPr id="31" name=""/>
          <p:cNvCxnSpPr>
            <a:stCxn xmlns:a="http://schemas.openxmlformats.org/drawingml/2006/main" id="9" idx="3"/>
            <a:endCxn xmlns:a="http://schemas.openxmlformats.org/drawingml/2006/main" id="11" idx="1"/>
          </p:cNvCxnSpPr>
          <p:nvPr/>
        </p:nvCxnSpPr>
        <p:spPr>
          <a:xfrm xmlns:a="http://schemas.openxmlformats.org/drawingml/2006/main">
            <a:off x="4943475" y="3895725"/>
            <a:ext cx="1781175"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
        <p:nvSpPr>
          <p:cNvPr id="14" name="초안의 근거 검증 실패">
            <a:extLst xmlns:a="http://schemas.openxmlformats.org/drawingml/2006/main">
              <a:ext uri="{FF2B5EF4-FFF2-40B4-BE49-F238E27FC236}">
                <a16:creationId xmlns:a16="http://schemas.microsoft.com/office/drawing/2014/main" id="{796D0457-D18D-480C-BA37-80792AFB2F2F}"/>
              </a:ext>
            </a:extLst>
          </p:cNvPr>
          <p:cNvSpPr>
            <a:spLocks xmlns:a="http://schemas.openxmlformats.org/drawingml/2006/main" noGrp="1"/>
          </p:cNvSpPr>
          <p:nvPr/>
        </p:nvSpPr>
        <p:spPr>
          <a:xfrm xmlns:a="http://schemas.openxmlformats.org/drawingml/2006/main">
            <a:off x="800100" y="4752975"/>
            <a:ext cx="4143375" cy="800100"/>
          </a:xfrm>
          <a:prstGeom xmlns:a="http://schemas.openxmlformats.org/drawingml/2006/main" prst="rect">
            <a:avLst/>
          </a:prstGeom>
          <a:solidFill xmlns:a="http://schemas.openxmlformats.org/drawingml/2006/main">
            <a:srgbClr val="F5EBDB"/>
          </a:solidFill>
          <a:ln xmlns:a="http://schemas.openxmlformats.org/drawingml/2006/main" w="0">
            <a:noFill/>
          </a:ln>
        </p:spPr>
      </p:sp>
      <p:sp>
        <p:nvSpPr>
          <p:cNvPr id="15" name="초안의 근거 검증 실패">
            <a:extLst xmlns:a="http://schemas.openxmlformats.org/drawingml/2006/main">
              <a:ext uri="{FF2B5EF4-FFF2-40B4-BE49-F238E27FC236}">
                <a16:creationId xmlns:a16="http://schemas.microsoft.com/office/drawing/2014/main" id="{62120B65-DD05-4938-8310-D074E5E4B281}"/>
              </a:ext>
            </a:extLst>
          </p:cNvPr>
          <p:cNvSpPr>
            <a:spLocks xmlns:a="http://schemas.openxmlformats.org/drawingml/2006/main" noGrp="1"/>
          </p:cNvSpPr>
          <p:nvPr/>
        </p:nvSpPr>
        <p:spPr>
          <a:xfrm xmlns:a="http://schemas.openxmlformats.org/drawingml/2006/main">
            <a:off x="914400" y="4752975"/>
            <a:ext cx="39147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A96728"/>
                </a:solidFill>
                <a:latin typeface="Apple SD Gothic Neo"/>
                <a:ea typeface="Apple SD Gothic Neo"/>
                <a:cs typeface="Apple SD Gothic Neo"/>
              </a:defRPr>
            </a:pPr>
            <a:r>
              <a:rPr sz="2100" b="1">
                <a:solidFill>
                  <a:srgbClr val="A96728"/>
                </a:solidFill>
                <a:latin typeface="Apple SD Gothic Neo"/>
                <a:ea typeface="Apple SD Gothic Neo"/>
                <a:cs typeface="Apple SD Gothic Neo"/>
              </a:rPr>
              <a:t>초안의 근거 검증 실패</a:t>
            </a:r>
          </a:p>
        </p:txBody>
      </p:sp>
      <p:sp>
        <p:nvSpPr>
          <p:cNvPr id="16" name="본문 추가 열람과 초안 수정">
            <a:extLst xmlns:a="http://schemas.openxmlformats.org/drawingml/2006/main">
              <a:ext uri="{FF2B5EF4-FFF2-40B4-BE49-F238E27FC236}">
                <a16:creationId xmlns:a16="http://schemas.microsoft.com/office/drawing/2014/main" id="{4755208F-2D3D-4F12-B5F9-A2024996FD96}"/>
              </a:ext>
            </a:extLst>
          </p:cNvPr>
          <p:cNvSpPr>
            <a:spLocks xmlns:a="http://schemas.openxmlformats.org/drawingml/2006/main" noGrp="1"/>
          </p:cNvSpPr>
          <p:nvPr/>
        </p:nvSpPr>
        <p:spPr>
          <a:xfrm xmlns:a="http://schemas.openxmlformats.org/drawingml/2006/main">
            <a:off x="6724650" y="4752975"/>
            <a:ext cx="4695825" cy="8001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7" name="본문 추가 열람과 초안 수정">
            <a:extLst xmlns:a="http://schemas.openxmlformats.org/drawingml/2006/main">
              <a:ext uri="{FF2B5EF4-FFF2-40B4-BE49-F238E27FC236}">
                <a16:creationId xmlns:a16="http://schemas.microsoft.com/office/drawing/2014/main" id="{BB4948A5-376A-4067-89B0-064EC2F1822D}"/>
              </a:ext>
            </a:extLst>
          </p:cNvPr>
          <p:cNvSpPr>
            <a:spLocks xmlns:a="http://schemas.openxmlformats.org/drawingml/2006/main" noGrp="1"/>
          </p:cNvSpPr>
          <p:nvPr/>
        </p:nvSpPr>
        <p:spPr>
          <a:xfrm xmlns:a="http://schemas.openxmlformats.org/drawingml/2006/main">
            <a:off x="6838950" y="4752975"/>
            <a:ext cx="44672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본문 추가 열람과 초안 수정</a:t>
            </a:r>
          </a:p>
        </p:txBody>
      </p:sp>
      <p:cxnSp>
        <p:nvCxnSpPr>
          <p:cNvPr id="36" name=""/>
          <p:cNvCxnSpPr>
            <a:stCxn xmlns:a="http://schemas.openxmlformats.org/drawingml/2006/main" id="14" idx="3"/>
            <a:endCxn xmlns:a="http://schemas.openxmlformats.org/drawingml/2006/main" id="16" idx="1"/>
          </p:cNvCxnSpPr>
          <p:nvPr/>
        </p:nvCxnSpPr>
        <p:spPr>
          <a:xfrm xmlns:a="http://schemas.openxmlformats.org/drawingml/2006/main">
            <a:off x="4943475" y="5153025"/>
            <a:ext cx="1781175"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spTree>
    <p:extLst>
      <p:ext uri="{BB962C8B-B14F-4D97-AF65-F5344CB8AC3E}">
        <p14:creationId xmlns:p14="http://schemas.microsoft.com/office/powerpoint/2010/main" val="2003371065"/>
      </p:ext>
    </p:extLst>
  </p:cSld>
</p:sld>
</file>

<file path=ppt/slides/slide12.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34" name="slide-title">
            <a:extLst xmlns:a="http://schemas.openxmlformats.org/drawingml/2006/main">
              <a:ext uri="{FF2B5EF4-FFF2-40B4-BE49-F238E27FC236}">
                <a16:creationId xmlns:a16="http://schemas.microsoft.com/office/drawing/2014/main" id="{DEB8EB2E-7507-4E7C-AC07-B4E21D22F0D4}"/>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실행을 연결하는 핵심 파일</a:t>
            </a:r>
          </a:p>
        </p:txBody>
      </p:sp>
      <p:sp>
        <p:nvSpPr>
          <p:cNvPr id="2" name="단일 에이전트와 실행을 돕는 Python 모듈">
            <a:extLst xmlns:a="http://schemas.openxmlformats.org/drawingml/2006/main">
              <a:ext uri="{FF2B5EF4-FFF2-40B4-BE49-F238E27FC236}">
                <a16:creationId xmlns:a16="http://schemas.microsoft.com/office/drawing/2014/main" id="{33893A1E-34F7-4CD5-860A-88918F3BF462}"/>
              </a:ext>
            </a:extLst>
          </p:cNvPr>
          <p:cNvSpPr>
            <a:spLocks xmlns:a="http://schemas.openxmlformats.org/drawingml/2006/main" noGrp="1"/>
          </p:cNvSpPr>
          <p:nvPr/>
        </p:nvSpPr>
        <p:spPr>
          <a:xfrm xmlns:a="http://schemas.openxmlformats.org/drawingml/2006/main">
            <a:off x="628650" y="12382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단일 에이전트와 실행을 돕는 Python 모듈</a:t>
            </a:r>
          </a:p>
        </p:txBody>
      </p:sp>
      <p:sp>
        <p:nvSpPr>
          <p:cNvPr id="3" name="12">
            <a:extLst xmlns:a="http://schemas.openxmlformats.org/drawingml/2006/main">
              <a:ext uri="{FF2B5EF4-FFF2-40B4-BE49-F238E27FC236}">
                <a16:creationId xmlns:a16="http://schemas.microsoft.com/office/drawing/2014/main" id="{0D119B26-DC4D-4859-9FEA-EEF0D2365D89}"/>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12</a:t>
            </a:r>
          </a:p>
        </p:txBody>
      </p:sp>
      <p:sp>
        <p:nvSpPr>
          <p:cNvPr id="4" name="app.py">
            <a:extLst xmlns:a="http://schemas.openxmlformats.org/drawingml/2006/main">
              <a:ext uri="{FF2B5EF4-FFF2-40B4-BE49-F238E27FC236}">
                <a16:creationId xmlns:a16="http://schemas.microsoft.com/office/drawing/2014/main" id="{D26FB795-502D-4B24-87DA-3AF7FC959A4B}"/>
              </a:ext>
            </a:extLst>
          </p:cNvPr>
          <p:cNvSpPr>
            <a:spLocks xmlns:a="http://schemas.openxmlformats.org/drawingml/2006/main" noGrp="1"/>
          </p:cNvSpPr>
          <p:nvPr/>
        </p:nvSpPr>
        <p:spPr>
          <a:xfrm xmlns:a="http://schemas.openxmlformats.org/drawingml/2006/main">
            <a:off x="609600" y="2428875"/>
            <a:ext cx="2152650" cy="9906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5" name="app.py">
            <a:extLst xmlns:a="http://schemas.openxmlformats.org/drawingml/2006/main">
              <a:ext uri="{FF2B5EF4-FFF2-40B4-BE49-F238E27FC236}">
                <a16:creationId xmlns:a16="http://schemas.microsoft.com/office/drawing/2014/main" id="{010C229C-B4A0-4D55-ADDA-3647DAFF77C9}"/>
              </a:ext>
            </a:extLst>
          </p:cNvPr>
          <p:cNvSpPr>
            <a:spLocks xmlns:a="http://schemas.openxmlformats.org/drawingml/2006/main" noGrp="1"/>
          </p:cNvSpPr>
          <p:nvPr/>
        </p:nvSpPr>
        <p:spPr>
          <a:xfrm xmlns:a="http://schemas.openxmlformats.org/drawingml/2006/main">
            <a:off x="723900" y="2600325"/>
            <a:ext cx="1924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app.py</a:t>
            </a:r>
          </a:p>
        </p:txBody>
      </p:sp>
      <p:sp>
        <p:nvSpPr>
          <p:cNvPr id="6" name="입력과 결과 화면">
            <a:extLst xmlns:a="http://schemas.openxmlformats.org/drawingml/2006/main">
              <a:ext uri="{FF2B5EF4-FFF2-40B4-BE49-F238E27FC236}">
                <a16:creationId xmlns:a16="http://schemas.microsoft.com/office/drawing/2014/main" id="{9784C52D-A02C-462A-ACF2-775E558CFDE2}"/>
              </a:ext>
            </a:extLst>
          </p:cNvPr>
          <p:cNvSpPr>
            <a:spLocks xmlns:a="http://schemas.openxmlformats.org/drawingml/2006/main" noGrp="1"/>
          </p:cNvSpPr>
          <p:nvPr/>
        </p:nvSpPr>
        <p:spPr>
          <a:xfrm xmlns:a="http://schemas.openxmlformats.org/drawingml/2006/main">
            <a:off x="723900" y="30003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입력과 결과 화면</a:t>
            </a:r>
          </a:p>
        </p:txBody>
      </p:sp>
      <p:sp>
        <p:nvSpPr>
          <p:cNvPr id="7" name="worker.py">
            <a:extLst xmlns:a="http://schemas.openxmlformats.org/drawingml/2006/main">
              <a:ext uri="{FF2B5EF4-FFF2-40B4-BE49-F238E27FC236}">
                <a16:creationId xmlns:a16="http://schemas.microsoft.com/office/drawing/2014/main" id="{618146EC-F584-4A71-A11E-388C28C2A04C}"/>
              </a:ext>
            </a:extLst>
          </p:cNvPr>
          <p:cNvSpPr>
            <a:spLocks xmlns:a="http://schemas.openxmlformats.org/drawingml/2006/main" noGrp="1"/>
          </p:cNvSpPr>
          <p:nvPr/>
        </p:nvSpPr>
        <p:spPr>
          <a:xfrm xmlns:a="http://schemas.openxmlformats.org/drawingml/2006/main">
            <a:off x="3429000" y="2428875"/>
            <a:ext cx="2333625" cy="9906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8" name="worker.py">
            <a:extLst xmlns:a="http://schemas.openxmlformats.org/drawingml/2006/main">
              <a:ext uri="{FF2B5EF4-FFF2-40B4-BE49-F238E27FC236}">
                <a16:creationId xmlns:a16="http://schemas.microsoft.com/office/drawing/2014/main" id="{E4D8D6D2-2CC9-4A11-AE8B-8A2EDB258B4E}"/>
              </a:ext>
            </a:extLst>
          </p:cNvPr>
          <p:cNvSpPr>
            <a:spLocks xmlns:a="http://schemas.openxmlformats.org/drawingml/2006/main" noGrp="1"/>
          </p:cNvSpPr>
          <p:nvPr/>
        </p:nvSpPr>
        <p:spPr>
          <a:xfrm xmlns:a="http://schemas.openxmlformats.org/drawingml/2006/main">
            <a:off x="3543300" y="2600325"/>
            <a:ext cx="2105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173D39"/>
                </a:solidFill>
                <a:latin typeface="Apple SD Gothic Neo"/>
                <a:ea typeface="Apple SD Gothic Neo"/>
                <a:cs typeface="Apple SD Gothic Neo"/>
              </a:defRPr>
            </a:pPr>
            <a:r>
              <a:rPr sz="2100" b="1">
                <a:solidFill>
                  <a:srgbClr val="173D39"/>
                </a:solidFill>
                <a:latin typeface="Apple SD Gothic Neo"/>
                <a:ea typeface="Apple SD Gothic Neo"/>
                <a:cs typeface="Apple SD Gothic Neo"/>
              </a:rPr>
              <a:t>worker.py</a:t>
            </a:r>
          </a:p>
        </p:txBody>
      </p:sp>
      <p:sp>
        <p:nvSpPr>
          <p:cNvPr id="9" name="실행 관리">
            <a:extLst xmlns:a="http://schemas.openxmlformats.org/drawingml/2006/main">
              <a:ext uri="{FF2B5EF4-FFF2-40B4-BE49-F238E27FC236}">
                <a16:creationId xmlns:a16="http://schemas.microsoft.com/office/drawing/2014/main" id="{6EE580B8-C581-4F74-A8E3-1F7E8A94B5B1}"/>
              </a:ext>
            </a:extLst>
          </p:cNvPr>
          <p:cNvSpPr>
            <a:spLocks xmlns:a="http://schemas.openxmlformats.org/drawingml/2006/main" noGrp="1"/>
          </p:cNvSpPr>
          <p:nvPr/>
        </p:nvSpPr>
        <p:spPr>
          <a:xfrm xmlns:a="http://schemas.openxmlformats.org/drawingml/2006/main">
            <a:off x="3543300" y="3000375"/>
            <a:ext cx="21050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실행 관리</a:t>
            </a:r>
          </a:p>
        </p:txBody>
      </p:sp>
      <p:sp>
        <p:nvSpPr>
          <p:cNvPr id="10" name="agent.py">
            <a:extLst xmlns:a="http://schemas.openxmlformats.org/drawingml/2006/main">
              <a:ext uri="{FF2B5EF4-FFF2-40B4-BE49-F238E27FC236}">
                <a16:creationId xmlns:a16="http://schemas.microsoft.com/office/drawing/2014/main" id="{B15367BB-FE3C-43E0-BD1A-A0B6A7DDDA40}"/>
              </a:ext>
            </a:extLst>
          </p:cNvPr>
          <p:cNvSpPr>
            <a:spLocks xmlns:a="http://schemas.openxmlformats.org/drawingml/2006/main" noGrp="1"/>
          </p:cNvSpPr>
          <p:nvPr/>
        </p:nvSpPr>
        <p:spPr>
          <a:xfrm xmlns:a="http://schemas.openxmlformats.org/drawingml/2006/main">
            <a:off x="6524625" y="2428875"/>
            <a:ext cx="2381250" cy="990600"/>
          </a:xfrm>
          <a:prstGeom xmlns:a="http://schemas.openxmlformats.org/drawingml/2006/main" prst="rect">
            <a:avLst/>
          </a:prstGeom>
          <a:solidFill xmlns:a="http://schemas.openxmlformats.org/drawingml/2006/main">
            <a:srgbClr val="087F78"/>
          </a:solidFill>
          <a:ln xmlns:a="http://schemas.openxmlformats.org/drawingml/2006/main" w="0">
            <a:noFill/>
          </a:ln>
        </p:spPr>
      </p:sp>
      <p:sp>
        <p:nvSpPr>
          <p:cNvPr id="11" name="agent.py">
            <a:extLst xmlns:a="http://schemas.openxmlformats.org/drawingml/2006/main">
              <a:ext uri="{FF2B5EF4-FFF2-40B4-BE49-F238E27FC236}">
                <a16:creationId xmlns:a16="http://schemas.microsoft.com/office/drawing/2014/main" id="{23F81E58-D0A8-45F9-81AC-BC4DEEAFFC16}"/>
              </a:ext>
            </a:extLst>
          </p:cNvPr>
          <p:cNvSpPr>
            <a:spLocks xmlns:a="http://schemas.openxmlformats.org/drawingml/2006/main" noGrp="1"/>
          </p:cNvSpPr>
          <p:nvPr/>
        </p:nvSpPr>
        <p:spPr>
          <a:xfrm xmlns:a="http://schemas.openxmlformats.org/drawingml/2006/main">
            <a:off x="6638925" y="2600325"/>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agent.py</a:t>
            </a:r>
          </a:p>
        </p:txBody>
      </p:sp>
      <p:sp>
        <p:nvSpPr>
          <p:cNvPr id="12" name="반복 제어">
            <a:extLst xmlns:a="http://schemas.openxmlformats.org/drawingml/2006/main">
              <a:ext uri="{FF2B5EF4-FFF2-40B4-BE49-F238E27FC236}">
                <a16:creationId xmlns:a16="http://schemas.microsoft.com/office/drawing/2014/main" id="{9C0954A0-04D2-4277-A54C-414BBBD7E68B}"/>
              </a:ext>
            </a:extLst>
          </p:cNvPr>
          <p:cNvSpPr>
            <a:spLocks xmlns:a="http://schemas.openxmlformats.org/drawingml/2006/main" noGrp="1"/>
          </p:cNvSpPr>
          <p:nvPr/>
        </p:nvSpPr>
        <p:spPr>
          <a:xfrm xmlns:a="http://schemas.openxmlformats.org/drawingml/2006/main">
            <a:off x="6638925" y="3000375"/>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D5EBE3"/>
                </a:solidFill>
                <a:latin typeface="Apple SD Gothic Neo"/>
                <a:ea typeface="Apple SD Gothic Neo"/>
                <a:cs typeface="Apple SD Gothic Neo"/>
              </a:defRPr>
            </a:pPr>
            <a:r>
              <a:rPr sz="1500" b="0">
                <a:solidFill>
                  <a:srgbClr val="D5EBE3"/>
                </a:solidFill>
                <a:latin typeface="Apple SD Gothic Neo"/>
                <a:ea typeface="Apple SD Gothic Neo"/>
                <a:cs typeface="Apple SD Gothic Neo"/>
              </a:rPr>
              <a:t>반복 제어</a:t>
            </a:r>
          </a:p>
        </p:txBody>
      </p:sp>
      <p:sp>
        <p:nvSpPr>
          <p:cNvPr id="13" name="provider.py">
            <a:extLst xmlns:a="http://schemas.openxmlformats.org/drawingml/2006/main">
              <a:ext uri="{FF2B5EF4-FFF2-40B4-BE49-F238E27FC236}">
                <a16:creationId xmlns:a16="http://schemas.microsoft.com/office/drawing/2014/main" id="{52732315-E2D9-4C95-A941-181FC18B191C}"/>
              </a:ext>
            </a:extLst>
          </p:cNvPr>
          <p:cNvSpPr>
            <a:spLocks xmlns:a="http://schemas.openxmlformats.org/drawingml/2006/main" noGrp="1"/>
          </p:cNvSpPr>
          <p:nvPr/>
        </p:nvSpPr>
        <p:spPr>
          <a:xfrm xmlns:a="http://schemas.openxmlformats.org/drawingml/2006/main">
            <a:off x="9572625" y="2428875"/>
            <a:ext cx="2047875" cy="9906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14" name="provider.py">
            <a:extLst xmlns:a="http://schemas.openxmlformats.org/drawingml/2006/main">
              <a:ext uri="{FF2B5EF4-FFF2-40B4-BE49-F238E27FC236}">
                <a16:creationId xmlns:a16="http://schemas.microsoft.com/office/drawing/2014/main" id="{75D5BB0D-C32E-47FB-A967-04125A8E89DF}"/>
              </a:ext>
            </a:extLst>
          </p:cNvPr>
          <p:cNvSpPr>
            <a:spLocks xmlns:a="http://schemas.openxmlformats.org/drawingml/2006/main" noGrp="1"/>
          </p:cNvSpPr>
          <p:nvPr/>
        </p:nvSpPr>
        <p:spPr>
          <a:xfrm xmlns:a="http://schemas.openxmlformats.org/drawingml/2006/main">
            <a:off x="9686925" y="2600325"/>
            <a:ext cx="1819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73D39"/>
                </a:solidFill>
                <a:latin typeface="Apple SD Gothic Neo"/>
                <a:ea typeface="Apple SD Gothic Neo"/>
                <a:cs typeface="Apple SD Gothic Neo"/>
              </a:defRPr>
            </a:pPr>
            <a:r>
              <a:rPr sz="2025" b="1">
                <a:solidFill>
                  <a:srgbClr val="173D39"/>
                </a:solidFill>
                <a:latin typeface="Apple SD Gothic Neo"/>
                <a:ea typeface="Apple SD Gothic Neo"/>
                <a:cs typeface="Apple SD Gothic Neo"/>
              </a:rPr>
              <a:t>provider.py</a:t>
            </a:r>
          </a:p>
        </p:txBody>
      </p:sp>
      <p:sp>
        <p:nvSpPr>
          <p:cNvPr id="15" name="OpenAI API">
            <a:extLst xmlns:a="http://schemas.openxmlformats.org/drawingml/2006/main">
              <a:ext uri="{FF2B5EF4-FFF2-40B4-BE49-F238E27FC236}">
                <a16:creationId xmlns:a16="http://schemas.microsoft.com/office/drawing/2014/main" id="{6419C72C-A99B-4C64-9C60-D5A743245730}"/>
              </a:ext>
            </a:extLst>
          </p:cNvPr>
          <p:cNvSpPr>
            <a:spLocks xmlns:a="http://schemas.openxmlformats.org/drawingml/2006/main" noGrp="1"/>
          </p:cNvSpPr>
          <p:nvPr/>
        </p:nvSpPr>
        <p:spPr>
          <a:xfrm xmlns:a="http://schemas.openxmlformats.org/drawingml/2006/main">
            <a:off x="9686925" y="3000375"/>
            <a:ext cx="1819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OpenAI API</a:t>
            </a:r>
          </a:p>
        </p:txBody>
      </p:sp>
      <p:cxnSp>
        <p:nvCxnSpPr>
          <p:cNvPr id="49" name=""/>
          <p:cNvCxnSpPr>
            <a:stCxn xmlns:a="http://schemas.openxmlformats.org/drawingml/2006/main" id="4" idx="3"/>
            <a:endCxn xmlns:a="http://schemas.openxmlformats.org/drawingml/2006/main" id="7" idx="1"/>
          </p:cNvCxnSpPr>
          <p:nvPr/>
        </p:nvCxnSpPr>
        <p:spPr>
          <a:xfrm xmlns:a="http://schemas.openxmlformats.org/drawingml/2006/main">
            <a:off x="2762250" y="2924175"/>
            <a:ext cx="6667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50" name=""/>
          <p:cNvCxnSpPr>
            <a:stCxn xmlns:a="http://schemas.openxmlformats.org/drawingml/2006/main" id="7" idx="3"/>
            <a:endCxn xmlns:a="http://schemas.openxmlformats.org/drawingml/2006/main" id="10" idx="1"/>
          </p:cNvCxnSpPr>
          <p:nvPr/>
        </p:nvCxnSpPr>
        <p:spPr>
          <a:xfrm xmlns:a="http://schemas.openxmlformats.org/drawingml/2006/main">
            <a:off x="5762625" y="2924175"/>
            <a:ext cx="76200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51" name=""/>
          <p:cNvCxnSpPr>
            <a:stCxn xmlns:a="http://schemas.openxmlformats.org/drawingml/2006/main" id="10" idx="3"/>
            <a:endCxn xmlns:a="http://schemas.openxmlformats.org/drawingml/2006/main" id="13" idx="1"/>
          </p:cNvCxnSpPr>
          <p:nvPr/>
        </p:nvCxnSpPr>
        <p:spPr>
          <a:xfrm xmlns:a="http://schemas.openxmlformats.org/drawingml/2006/main">
            <a:off x="8905875" y="2924175"/>
            <a:ext cx="666750" cy="0"/>
          </a:xfrm>
          <a:prstGeom xmlns:a="http://schemas.openxmlformats.org/drawingml/2006/main" prst="straightConnector1">
            <a:avLst/>
          </a:prstGeom>
          <a:ln xmlns:a="http://schemas.openxmlformats.org/drawingml/2006/main" w="24765">
            <a:solidFill>
              <a:srgbClr val="087F78"/>
            </a:solidFill>
            <a:prstDash val="solid"/>
            <a:headEnd type="triangle" w="med" len="med"/>
            <a:tailEnd type="triangle" w="med" len="med"/>
          </a:ln>
        </p:spPr>
      </p:cxnSp>
      <p:sp>
        <p:nvSpPr>
          <p:cNvPr id="19" name="RunState / Store">
            <a:extLst xmlns:a="http://schemas.openxmlformats.org/drawingml/2006/main">
              <a:ext uri="{FF2B5EF4-FFF2-40B4-BE49-F238E27FC236}">
                <a16:creationId xmlns:a16="http://schemas.microsoft.com/office/drawing/2014/main" id="{42E69042-26F7-4BBE-BCB7-8633C4714BFE}"/>
              </a:ext>
            </a:extLst>
          </p:cNvPr>
          <p:cNvSpPr>
            <a:spLocks xmlns:a="http://schemas.openxmlformats.org/drawingml/2006/main" noGrp="1"/>
          </p:cNvSpPr>
          <p:nvPr/>
        </p:nvSpPr>
        <p:spPr>
          <a:xfrm xmlns:a="http://schemas.openxmlformats.org/drawingml/2006/main">
            <a:off x="609600" y="4476750"/>
            <a:ext cx="2152650" cy="9906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20" name="RunState / Store">
            <a:extLst xmlns:a="http://schemas.openxmlformats.org/drawingml/2006/main">
              <a:ext uri="{FF2B5EF4-FFF2-40B4-BE49-F238E27FC236}">
                <a16:creationId xmlns:a16="http://schemas.microsoft.com/office/drawing/2014/main" id="{5D3AE033-18A4-4F41-B5FB-B59B7886F8F8}"/>
              </a:ext>
            </a:extLst>
          </p:cNvPr>
          <p:cNvSpPr>
            <a:spLocks xmlns:a="http://schemas.openxmlformats.org/drawingml/2006/main" noGrp="1"/>
          </p:cNvSpPr>
          <p:nvPr/>
        </p:nvSpPr>
        <p:spPr>
          <a:xfrm xmlns:a="http://schemas.openxmlformats.org/drawingml/2006/main">
            <a:off x="723900" y="4648200"/>
            <a:ext cx="1924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3D39"/>
                </a:solidFill>
                <a:latin typeface="Apple SD Gothic Neo"/>
                <a:ea typeface="Apple SD Gothic Neo"/>
                <a:cs typeface="Apple SD Gothic Neo"/>
              </a:defRPr>
            </a:pPr>
            <a:r>
              <a:rPr sz="1800" b="1">
                <a:solidFill>
                  <a:srgbClr val="173D39"/>
                </a:solidFill>
                <a:latin typeface="Apple SD Gothic Neo"/>
                <a:ea typeface="Apple SD Gothic Neo"/>
                <a:cs typeface="Apple SD Gothic Neo"/>
              </a:rPr>
              <a:t>RunState / Store</a:t>
            </a:r>
          </a:p>
        </p:txBody>
      </p:sp>
      <p:sp>
        <p:nvSpPr>
          <p:cNvPr id="21" name="상태와 JSON 저장">
            <a:extLst xmlns:a="http://schemas.openxmlformats.org/drawingml/2006/main">
              <a:ext uri="{FF2B5EF4-FFF2-40B4-BE49-F238E27FC236}">
                <a16:creationId xmlns:a16="http://schemas.microsoft.com/office/drawing/2014/main" id="{C2F5D940-E271-4B38-9569-A06FF5FB23A9}"/>
              </a:ext>
            </a:extLst>
          </p:cNvPr>
          <p:cNvSpPr>
            <a:spLocks xmlns:a="http://schemas.openxmlformats.org/drawingml/2006/main" noGrp="1"/>
          </p:cNvSpPr>
          <p:nvPr/>
        </p:nvSpPr>
        <p:spPr>
          <a:xfrm xmlns:a="http://schemas.openxmlformats.org/drawingml/2006/main">
            <a:off x="723900" y="5048250"/>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77B73"/>
                </a:solidFill>
                <a:latin typeface="Apple SD Gothic Neo"/>
                <a:ea typeface="Apple SD Gothic Neo"/>
                <a:cs typeface="Apple SD Gothic Neo"/>
              </a:defRPr>
            </a:pPr>
            <a:r>
              <a:rPr sz="1575" b="0">
                <a:solidFill>
                  <a:srgbClr val="677B73"/>
                </a:solidFill>
                <a:latin typeface="Apple SD Gothic Neo"/>
                <a:ea typeface="Apple SD Gothic Neo"/>
                <a:cs typeface="Apple SD Gothic Neo"/>
              </a:rPr>
              <a:t>상태와 JSON 저장</a:t>
            </a:r>
          </a:p>
        </p:txBody>
      </p:sp>
      <p:sp>
        <p:nvSpPr>
          <p:cNvPr id="22" name="tools.py">
            <a:extLst xmlns:a="http://schemas.openxmlformats.org/drawingml/2006/main">
              <a:ext uri="{FF2B5EF4-FFF2-40B4-BE49-F238E27FC236}">
                <a16:creationId xmlns:a16="http://schemas.microsoft.com/office/drawing/2014/main" id="{15A876B6-1022-4BF6-91E4-12DB07652B84}"/>
              </a:ext>
            </a:extLst>
          </p:cNvPr>
          <p:cNvSpPr>
            <a:spLocks xmlns:a="http://schemas.openxmlformats.org/drawingml/2006/main" noGrp="1"/>
          </p:cNvSpPr>
          <p:nvPr/>
        </p:nvSpPr>
        <p:spPr>
          <a:xfrm xmlns:a="http://schemas.openxmlformats.org/drawingml/2006/main">
            <a:off x="6524625" y="4476750"/>
            <a:ext cx="2381250" cy="9906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23" name="tools.py">
            <a:extLst xmlns:a="http://schemas.openxmlformats.org/drawingml/2006/main">
              <a:ext uri="{FF2B5EF4-FFF2-40B4-BE49-F238E27FC236}">
                <a16:creationId xmlns:a16="http://schemas.microsoft.com/office/drawing/2014/main" id="{3F71EE30-14EB-4738-90E2-F2323FE1E299}"/>
              </a:ext>
            </a:extLst>
          </p:cNvPr>
          <p:cNvSpPr>
            <a:spLocks xmlns:a="http://schemas.openxmlformats.org/drawingml/2006/main" noGrp="1"/>
          </p:cNvSpPr>
          <p:nvPr/>
        </p:nvSpPr>
        <p:spPr>
          <a:xfrm xmlns:a="http://schemas.openxmlformats.org/drawingml/2006/main">
            <a:off x="6638925" y="46482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73D39"/>
                </a:solidFill>
                <a:latin typeface="Apple SD Gothic Neo"/>
                <a:ea typeface="Apple SD Gothic Neo"/>
                <a:cs typeface="Apple SD Gothic Neo"/>
              </a:defRPr>
            </a:pPr>
            <a:r>
              <a:rPr sz="2025" b="1">
                <a:solidFill>
                  <a:srgbClr val="173D39"/>
                </a:solidFill>
                <a:latin typeface="Apple SD Gothic Neo"/>
                <a:ea typeface="Apple SD Gothic Neo"/>
                <a:cs typeface="Apple SD Gothic Neo"/>
              </a:rPr>
              <a:t>tools.py</a:t>
            </a:r>
          </a:p>
        </p:txBody>
      </p:sp>
      <p:sp>
        <p:nvSpPr>
          <p:cNvPr id="24" name="도구 검증과 실행">
            <a:extLst xmlns:a="http://schemas.openxmlformats.org/drawingml/2006/main">
              <a:ext uri="{FF2B5EF4-FFF2-40B4-BE49-F238E27FC236}">
                <a16:creationId xmlns:a16="http://schemas.microsoft.com/office/drawing/2014/main" id="{FB117978-4BBC-43F8-8AA2-FA3A03628FA0}"/>
              </a:ext>
            </a:extLst>
          </p:cNvPr>
          <p:cNvSpPr>
            <a:spLocks xmlns:a="http://schemas.openxmlformats.org/drawingml/2006/main" noGrp="1"/>
          </p:cNvSpPr>
          <p:nvPr/>
        </p:nvSpPr>
        <p:spPr>
          <a:xfrm xmlns:a="http://schemas.openxmlformats.org/drawingml/2006/main">
            <a:off x="6638925" y="5048250"/>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도구 검증과 실행</a:t>
            </a:r>
          </a:p>
        </p:txBody>
      </p:sp>
      <p:sp>
        <p:nvSpPr>
          <p:cNvPr id="25" name="sources.py">
            <a:extLst xmlns:a="http://schemas.openxmlformats.org/drawingml/2006/main">
              <a:ext uri="{FF2B5EF4-FFF2-40B4-BE49-F238E27FC236}">
                <a16:creationId xmlns:a16="http://schemas.microsoft.com/office/drawing/2014/main" id="{A778EABD-93A7-473F-BB79-27F962066E2F}"/>
              </a:ext>
            </a:extLst>
          </p:cNvPr>
          <p:cNvSpPr>
            <a:spLocks xmlns:a="http://schemas.openxmlformats.org/drawingml/2006/main" noGrp="1"/>
          </p:cNvSpPr>
          <p:nvPr/>
        </p:nvSpPr>
        <p:spPr>
          <a:xfrm xmlns:a="http://schemas.openxmlformats.org/drawingml/2006/main">
            <a:off x="9572625" y="4476750"/>
            <a:ext cx="2047875" cy="990600"/>
          </a:xfrm>
          <a:prstGeom xmlns:a="http://schemas.openxmlformats.org/drawingml/2006/main" prst="rect">
            <a:avLst/>
          </a:prstGeom>
          <a:solidFill xmlns:a="http://schemas.openxmlformats.org/drawingml/2006/main">
            <a:srgbClr val="E5EEEA"/>
          </a:solidFill>
          <a:ln xmlns:a="http://schemas.openxmlformats.org/drawingml/2006/main" w="0">
            <a:noFill/>
          </a:ln>
        </p:spPr>
      </p:sp>
      <p:sp>
        <p:nvSpPr>
          <p:cNvPr id="26" name="sources.py">
            <a:extLst xmlns:a="http://schemas.openxmlformats.org/drawingml/2006/main">
              <a:ext uri="{FF2B5EF4-FFF2-40B4-BE49-F238E27FC236}">
                <a16:creationId xmlns:a16="http://schemas.microsoft.com/office/drawing/2014/main" id="{F4E30DC7-5AA1-4AF4-AEA1-89D5021D76CE}"/>
              </a:ext>
            </a:extLst>
          </p:cNvPr>
          <p:cNvSpPr>
            <a:spLocks xmlns:a="http://schemas.openxmlformats.org/drawingml/2006/main" noGrp="1"/>
          </p:cNvSpPr>
          <p:nvPr/>
        </p:nvSpPr>
        <p:spPr>
          <a:xfrm xmlns:a="http://schemas.openxmlformats.org/drawingml/2006/main">
            <a:off x="9686925" y="4648200"/>
            <a:ext cx="1819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73D39"/>
                </a:solidFill>
                <a:latin typeface="Apple SD Gothic Neo"/>
                <a:ea typeface="Apple SD Gothic Neo"/>
                <a:cs typeface="Apple SD Gothic Neo"/>
              </a:defRPr>
            </a:pPr>
            <a:r>
              <a:rPr sz="2025" b="1">
                <a:solidFill>
                  <a:srgbClr val="173D39"/>
                </a:solidFill>
                <a:latin typeface="Apple SD Gothic Neo"/>
                <a:ea typeface="Apple SD Gothic Neo"/>
                <a:cs typeface="Apple SD Gothic Neo"/>
              </a:rPr>
              <a:t>sources.py</a:t>
            </a:r>
          </a:p>
        </p:txBody>
      </p:sp>
      <p:sp>
        <p:nvSpPr>
          <p:cNvPr id="27" name="학술 자료 조회">
            <a:extLst xmlns:a="http://schemas.openxmlformats.org/drawingml/2006/main">
              <a:ext uri="{FF2B5EF4-FFF2-40B4-BE49-F238E27FC236}">
                <a16:creationId xmlns:a16="http://schemas.microsoft.com/office/drawing/2014/main" id="{548DDAFB-970C-4582-89DF-782199934D39}"/>
              </a:ext>
            </a:extLst>
          </p:cNvPr>
          <p:cNvSpPr>
            <a:spLocks xmlns:a="http://schemas.openxmlformats.org/drawingml/2006/main" noGrp="1"/>
          </p:cNvSpPr>
          <p:nvPr/>
        </p:nvSpPr>
        <p:spPr>
          <a:xfrm xmlns:a="http://schemas.openxmlformats.org/drawingml/2006/main">
            <a:off x="9686925" y="5048250"/>
            <a:ext cx="1819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677B73"/>
                </a:solidFill>
                <a:latin typeface="Apple SD Gothic Neo"/>
                <a:ea typeface="Apple SD Gothic Neo"/>
                <a:cs typeface="Apple SD Gothic Neo"/>
              </a:defRPr>
            </a:pPr>
            <a:r>
              <a:rPr sz="1500" b="0">
                <a:solidFill>
                  <a:srgbClr val="677B73"/>
                </a:solidFill>
                <a:latin typeface="Apple SD Gothic Neo"/>
                <a:ea typeface="Apple SD Gothic Neo"/>
                <a:cs typeface="Apple SD Gothic Neo"/>
              </a:rPr>
              <a:t>학술 자료 조회</a:t>
            </a:r>
          </a:p>
        </p:txBody>
      </p:sp>
      <p:cxnSp>
        <p:nvCxnSpPr>
          <p:cNvPr id="61" name=""/>
          <p:cNvCxnSpPr>
            <a:stCxn xmlns:a="http://schemas.openxmlformats.org/drawingml/2006/main" id="10" idx="2"/>
            <a:endCxn xmlns:a="http://schemas.openxmlformats.org/drawingml/2006/main" id="22" idx="0"/>
          </p:cNvCxnSpPr>
          <p:nvPr/>
        </p:nvCxnSpPr>
        <p:spPr>
          <a:xfrm xmlns:a="http://schemas.openxmlformats.org/drawingml/2006/main">
            <a:off x="7715250" y="3419475"/>
            <a:ext cx="0" cy="1057275"/>
          </a:xfrm>
          <a:prstGeom xmlns:a="http://schemas.openxmlformats.org/drawingml/2006/main" prst="straightConnector1">
            <a:avLst/>
          </a:prstGeom>
          <a:ln xmlns:a="http://schemas.openxmlformats.org/drawingml/2006/main" w="24765">
            <a:solidFill>
              <a:srgbClr val="087F78"/>
            </a:solidFill>
            <a:prstDash val="solid"/>
            <a:headEnd type="triangle" w="med" len="med"/>
            <a:tailEnd type="triangle" w="med" len="med"/>
          </a:ln>
        </p:spPr>
      </p:cxnSp>
      <p:cxnSp>
        <p:nvCxnSpPr>
          <p:cNvPr id="62" name=""/>
          <p:cNvCxnSpPr>
            <a:stCxn xmlns:a="http://schemas.openxmlformats.org/drawingml/2006/main" id="22" idx="3"/>
            <a:endCxn xmlns:a="http://schemas.openxmlformats.org/drawingml/2006/main" id="25" idx="1"/>
          </p:cNvCxnSpPr>
          <p:nvPr/>
        </p:nvCxnSpPr>
        <p:spPr>
          <a:xfrm xmlns:a="http://schemas.openxmlformats.org/drawingml/2006/main">
            <a:off x="8905875" y="4972050"/>
            <a:ext cx="666750"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63" name=""/>
          <p:cNvCxnSpPr>
            <a:stCxn xmlns:a="http://schemas.openxmlformats.org/drawingml/2006/main" id="22" idx="1"/>
            <a:endCxn xmlns:a="http://schemas.openxmlformats.org/drawingml/2006/main" id="19" idx="3"/>
          </p:cNvCxnSpPr>
          <p:nvPr/>
        </p:nvCxnSpPr>
        <p:spPr>
          <a:xfrm xmlns:a="http://schemas.openxmlformats.org/drawingml/2006/main" flipH="1">
            <a:off x="2762250" y="4972050"/>
            <a:ext cx="3762375" cy="0"/>
          </a:xfrm>
          <a:prstGeom xmlns:a="http://schemas.openxmlformats.org/drawingml/2006/main" prst="straightConnector1">
            <a:avLst/>
          </a:prstGeom>
          <a:ln xmlns:a="http://schemas.openxmlformats.org/drawingml/2006/main" w="24765">
            <a:solidFill>
              <a:srgbClr val="087F78"/>
            </a:solidFill>
            <a:prstDash val="solid"/>
            <a:tailEnd type="triangle" w="med" len="med"/>
          </a:ln>
        </p:spPr>
      </p:cxnSp>
      <p:cxnSp>
        <p:nvCxnSpPr>
          <p:cNvPr id="64" name=""/>
          <p:cNvCxnSpPr>
            <a:stCxn xmlns:a="http://schemas.openxmlformats.org/drawingml/2006/main" id="19" idx="0"/>
            <a:endCxn xmlns:a="http://schemas.openxmlformats.org/drawingml/2006/main" id="4" idx="2"/>
          </p:cNvCxnSpPr>
          <p:nvPr/>
        </p:nvCxnSpPr>
        <p:spPr>
          <a:xfrm xmlns:a="http://schemas.openxmlformats.org/drawingml/2006/main" flipV="1">
            <a:off x="1685925" y="3419475"/>
            <a:ext cx="0" cy="1057275"/>
          </a:xfrm>
          <a:prstGeom xmlns:a="http://schemas.openxmlformats.org/drawingml/2006/main" prst="straightConnector1">
            <a:avLst/>
          </a:prstGeom>
          <a:ln xmlns:a="http://schemas.openxmlformats.org/drawingml/2006/main" w="24765">
            <a:solidFill>
              <a:srgbClr val="AFC4BA"/>
            </a:solidFill>
            <a:prstDash val="dash"/>
            <a:tailEnd type="triangle" w="med" len="med"/>
          </a:ln>
        </p:spPr>
      </p:cxnSp>
      <p:sp>
        <p:nvSpPr>
          <p:cNvPr id="32" name="상태 갱신과 저장">
            <a:extLst xmlns:a="http://schemas.openxmlformats.org/drawingml/2006/main">
              <a:ext uri="{FF2B5EF4-FFF2-40B4-BE49-F238E27FC236}">
                <a16:creationId xmlns:a16="http://schemas.microsoft.com/office/drawing/2014/main" id="{494028E2-1947-4E82-A993-45CF724975D5}"/>
              </a:ext>
            </a:extLst>
          </p:cNvPr>
          <p:cNvSpPr>
            <a:spLocks xmlns:a="http://schemas.openxmlformats.org/drawingml/2006/main" noGrp="1"/>
          </p:cNvSpPr>
          <p:nvPr/>
        </p:nvSpPr>
        <p:spPr>
          <a:xfrm xmlns:a="http://schemas.openxmlformats.org/drawingml/2006/main">
            <a:off x="3429000" y="464820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677B73"/>
                </a:solidFill>
                <a:latin typeface="Apple SD Gothic Neo"/>
                <a:ea typeface="Apple SD Gothic Neo"/>
                <a:cs typeface="Apple SD Gothic Neo"/>
              </a:defRPr>
            </a:pPr>
            <a:r>
              <a:rPr sz="1800" b="0">
                <a:solidFill>
                  <a:srgbClr val="677B73"/>
                </a:solidFill>
                <a:latin typeface="Apple SD Gothic Neo"/>
                <a:ea typeface="Apple SD Gothic Neo"/>
                <a:cs typeface="Apple SD Gothic Neo"/>
              </a:rPr>
              <a:t>상태 갱신과 저장</a:t>
            </a:r>
          </a:p>
        </p:txBody>
      </p:sp>
      <p:sp>
        <p:nvSpPr>
          <p:cNvPr id="33" name="화면은 상태를 주기적으로 조회">
            <a:extLst xmlns:a="http://schemas.openxmlformats.org/drawingml/2006/main">
              <a:ext uri="{FF2B5EF4-FFF2-40B4-BE49-F238E27FC236}">
                <a16:creationId xmlns:a16="http://schemas.microsoft.com/office/drawing/2014/main" id="{F905CFCA-2C89-4F08-8699-3F3A24698ED7}"/>
              </a:ext>
            </a:extLst>
          </p:cNvPr>
          <p:cNvSpPr>
            <a:spLocks xmlns:a="http://schemas.openxmlformats.org/drawingml/2006/main" noGrp="1"/>
          </p:cNvSpPr>
          <p:nvPr/>
        </p:nvSpPr>
        <p:spPr>
          <a:xfrm xmlns:a="http://schemas.openxmlformats.org/drawingml/2006/main">
            <a:off x="714375" y="58483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화면은 상태를 주기적으로 조회</a:t>
            </a:r>
          </a:p>
        </p:txBody>
      </p:sp>
    </p:spTree>
    <p:extLst>
      <p:ext uri="{BB962C8B-B14F-4D97-AF65-F5344CB8AC3E}">
        <p14:creationId xmlns:p14="http://schemas.microsoft.com/office/powerpoint/2010/main" val="662330406"/>
      </p:ext>
    </p:extLst>
  </p:cSld>
</p:sld>
</file>

<file path=ppt/slides/slide13.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4230073F-3B04-454A-A0DE-030CB958CC81}"/>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시연에서 확인할 장면</a:t>
            </a:r>
          </a:p>
        </p:txBody>
      </p:sp>
      <p:sp>
        <p:nvSpPr>
          <p:cNvPr id="2" name="13">
            <a:extLst xmlns:a="http://schemas.openxmlformats.org/drawingml/2006/main">
              <a:ext uri="{FF2B5EF4-FFF2-40B4-BE49-F238E27FC236}">
                <a16:creationId xmlns:a16="http://schemas.microsoft.com/office/drawing/2014/main" id="{CB268E97-B85E-4235-8246-07B704C5FD81}"/>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13</a:t>
            </a:r>
          </a:p>
        </p:txBody>
      </p:sp>
      <p:sp>
        <p:nvSpPr>
          <p:cNvPr id="3" name="실제 논문">
            <a:extLst xmlns:a="http://schemas.openxmlformats.org/drawingml/2006/main">
              <a:ext uri="{FF2B5EF4-FFF2-40B4-BE49-F238E27FC236}">
                <a16:creationId xmlns:a16="http://schemas.microsoft.com/office/drawing/2014/main" id="{61D84323-9B86-407C-98CA-2E8ECD04D7F2}"/>
              </a:ext>
            </a:extLst>
          </p:cNvPr>
          <p:cNvSpPr>
            <a:spLocks xmlns:a="http://schemas.openxmlformats.org/drawingml/2006/main" noGrp="1"/>
          </p:cNvSpPr>
          <p:nvPr/>
        </p:nvSpPr>
        <p:spPr>
          <a:xfrm xmlns:a="http://schemas.openxmlformats.org/drawingml/2006/main">
            <a:off x="723900" y="19716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87F78"/>
                </a:solidFill>
                <a:latin typeface="Apple SD Gothic Neo"/>
                <a:ea typeface="Apple SD Gothic Neo"/>
                <a:cs typeface="Apple SD Gothic Neo"/>
              </a:defRPr>
            </a:pPr>
            <a:r>
              <a:rPr sz="2550" b="1">
                <a:solidFill>
                  <a:srgbClr val="087F78"/>
                </a:solidFill>
                <a:latin typeface="Apple SD Gothic Neo"/>
                <a:ea typeface="Apple SD Gothic Neo"/>
                <a:cs typeface="Apple SD Gothic Neo"/>
              </a:rPr>
              <a:t>실제 논문</a:t>
            </a:r>
          </a:p>
        </p:txBody>
      </p:sp>
      <p:sp>
        <p:nvSpPr>
          <p:cNvPr id="4" name="OpenAI 모델 + 공개 학술 API">
            <a:extLst xmlns:a="http://schemas.openxmlformats.org/drawingml/2006/main">
              <a:ext uri="{FF2B5EF4-FFF2-40B4-BE49-F238E27FC236}">
                <a16:creationId xmlns:a16="http://schemas.microsoft.com/office/drawing/2014/main" id="{3F852F3C-B8AA-4015-BEFC-22FE26439012}"/>
              </a:ext>
            </a:extLst>
          </p:cNvPr>
          <p:cNvSpPr>
            <a:spLocks xmlns:a="http://schemas.openxmlformats.org/drawingml/2006/main" noGrp="1"/>
          </p:cNvSpPr>
          <p:nvPr/>
        </p:nvSpPr>
        <p:spPr>
          <a:xfrm xmlns:a="http://schemas.openxmlformats.org/drawingml/2006/main">
            <a:off x="723900" y="25717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04C47"/>
                </a:solidFill>
                <a:latin typeface="Apple SD Gothic Neo"/>
                <a:ea typeface="Apple SD Gothic Neo"/>
                <a:cs typeface="Apple SD Gothic Neo"/>
              </a:defRPr>
            </a:pPr>
            <a:r>
              <a:rPr sz="2025" b="0">
                <a:solidFill>
                  <a:srgbClr val="304C47"/>
                </a:solidFill>
                <a:latin typeface="Apple SD Gothic Neo"/>
                <a:ea typeface="Apple SD Gothic Neo"/>
                <a:cs typeface="Apple SD Gothic Neo"/>
              </a:rPr>
              <a:t>OpenAI 모델 + 공개 학술 API</a:t>
            </a:r>
          </a:p>
        </p:txBody>
      </p:sp>
      <p:sp>
        <p:nvSpPr>
          <p:cNvPr id="5" name="예시 체험">
            <a:extLst xmlns:a="http://schemas.openxmlformats.org/drawingml/2006/main">
              <a:ext uri="{FF2B5EF4-FFF2-40B4-BE49-F238E27FC236}">
                <a16:creationId xmlns:a16="http://schemas.microsoft.com/office/drawing/2014/main" id="{9717F0D8-3A92-401C-A085-1DDDA58802BB}"/>
              </a:ext>
            </a:extLst>
          </p:cNvPr>
          <p:cNvSpPr>
            <a:spLocks xmlns:a="http://schemas.openxmlformats.org/drawingml/2006/main" noGrp="1"/>
          </p:cNvSpPr>
          <p:nvPr/>
        </p:nvSpPr>
        <p:spPr>
          <a:xfrm xmlns:a="http://schemas.openxmlformats.org/drawingml/2006/main">
            <a:off x="6877050" y="197167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3D39"/>
                </a:solidFill>
                <a:latin typeface="Apple SD Gothic Neo"/>
                <a:ea typeface="Apple SD Gothic Neo"/>
                <a:cs typeface="Apple SD Gothic Neo"/>
              </a:defRPr>
            </a:pPr>
            <a:r>
              <a:rPr sz="2550" b="1">
                <a:solidFill>
                  <a:srgbClr val="173D39"/>
                </a:solidFill>
                <a:latin typeface="Apple SD Gothic Neo"/>
                <a:ea typeface="Apple SD Gothic Neo"/>
                <a:cs typeface="Apple SD Gothic Neo"/>
              </a:rPr>
              <a:t>예시 체험</a:t>
            </a:r>
          </a:p>
        </p:txBody>
      </p:sp>
      <p:sp>
        <p:nvSpPr>
          <p:cNvPr id="6" name="고정 응답 + 합성 논문">
            <a:extLst xmlns:a="http://schemas.openxmlformats.org/drawingml/2006/main">
              <a:ext uri="{FF2B5EF4-FFF2-40B4-BE49-F238E27FC236}">
                <a16:creationId xmlns:a16="http://schemas.microsoft.com/office/drawing/2014/main" id="{DB35A35C-173B-4378-92B5-E1B842A2FED9}"/>
              </a:ext>
            </a:extLst>
          </p:cNvPr>
          <p:cNvSpPr>
            <a:spLocks xmlns:a="http://schemas.openxmlformats.org/drawingml/2006/main" noGrp="1"/>
          </p:cNvSpPr>
          <p:nvPr/>
        </p:nvSpPr>
        <p:spPr>
          <a:xfrm xmlns:a="http://schemas.openxmlformats.org/drawingml/2006/main">
            <a:off x="6877050" y="25717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04C47"/>
                </a:solidFill>
                <a:latin typeface="Apple SD Gothic Neo"/>
                <a:ea typeface="Apple SD Gothic Neo"/>
                <a:cs typeface="Apple SD Gothic Neo"/>
              </a:defRPr>
            </a:pPr>
            <a:r>
              <a:rPr sz="2025" b="0">
                <a:solidFill>
                  <a:srgbClr val="304C47"/>
                </a:solidFill>
                <a:latin typeface="Apple SD Gothic Neo"/>
                <a:ea typeface="Apple SD Gothic Neo"/>
                <a:cs typeface="Apple SD Gothic Neo"/>
              </a:rPr>
              <a:t>고정 응답 + 합성 논문</a:t>
            </a:r>
          </a:p>
        </p:txBody>
      </p:sp>
      <p:sp>
        <p:nvSpPr>
          <p:cNvPr id="7" name="">
            <a:extLst xmlns:a="http://schemas.openxmlformats.org/drawingml/2006/main">
              <a:ext uri="{FF2B5EF4-FFF2-40B4-BE49-F238E27FC236}">
                <a16:creationId xmlns:a16="http://schemas.microsoft.com/office/drawing/2014/main" id="{A64B0C9D-5E08-4A15-A5B7-A9215FDDB917}"/>
              </a:ext>
            </a:extLst>
          </p:cNvPr>
          <p:cNvSpPr>
            <a:spLocks xmlns:a="http://schemas.openxmlformats.org/drawingml/2006/main" noGrp="1"/>
          </p:cNvSpPr>
          <p:nvPr/>
        </p:nvSpPr>
        <p:spPr>
          <a:xfrm xmlns:a="http://schemas.openxmlformats.org/drawingml/2006/main">
            <a:off x="685800" y="3381375"/>
            <a:ext cx="10820400"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
        <p:nvSpPr>
          <p:cNvPr id="8" name="01">
            <a:extLst xmlns:a="http://schemas.openxmlformats.org/drawingml/2006/main">
              <a:ext uri="{FF2B5EF4-FFF2-40B4-BE49-F238E27FC236}">
                <a16:creationId xmlns:a16="http://schemas.microsoft.com/office/drawing/2014/main" id="{79224B5B-AC97-41AA-810C-214BE9457997}"/>
              </a:ext>
            </a:extLst>
          </p:cNvPr>
          <p:cNvSpPr>
            <a:spLocks xmlns:a="http://schemas.openxmlformats.org/drawingml/2006/main" noGrp="1"/>
          </p:cNvSpPr>
          <p:nvPr/>
        </p:nvSpPr>
        <p:spPr>
          <a:xfrm xmlns:a="http://schemas.openxmlformats.org/drawingml/2006/main">
            <a:off x="723900" y="3981450"/>
            <a:ext cx="95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78"/>
                </a:solidFill>
                <a:latin typeface="Apple SD Gothic Neo"/>
                <a:ea typeface="Apple SD Gothic Neo"/>
                <a:cs typeface="Apple SD Gothic Neo"/>
              </a:defRPr>
            </a:pPr>
            <a:r>
              <a:rPr sz="2850" b="1">
                <a:solidFill>
                  <a:srgbClr val="087F78"/>
                </a:solidFill>
                <a:latin typeface="Apple SD Gothic Neo"/>
                <a:ea typeface="Apple SD Gothic Neo"/>
                <a:cs typeface="Apple SD Gothic Neo"/>
              </a:rPr>
              <a:t>01</a:t>
            </a:r>
          </a:p>
        </p:txBody>
      </p:sp>
      <p:sp>
        <p:nvSpPr>
          <p:cNvPr id="9" name="진행 화면">
            <a:extLst xmlns:a="http://schemas.openxmlformats.org/drawingml/2006/main">
              <a:ext uri="{FF2B5EF4-FFF2-40B4-BE49-F238E27FC236}">
                <a16:creationId xmlns:a16="http://schemas.microsoft.com/office/drawing/2014/main" id="{78CD7536-1D43-4B02-908F-F2EA3EB94925}"/>
              </a:ext>
            </a:extLst>
          </p:cNvPr>
          <p:cNvSpPr>
            <a:spLocks xmlns:a="http://schemas.openxmlformats.org/drawingml/2006/main" noGrp="1"/>
          </p:cNvSpPr>
          <p:nvPr/>
        </p:nvSpPr>
        <p:spPr>
          <a:xfrm xmlns:a="http://schemas.openxmlformats.org/drawingml/2006/main">
            <a:off x="723900" y="4695825"/>
            <a:ext cx="350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4C47"/>
                </a:solidFill>
                <a:latin typeface="Apple SD Gothic Neo"/>
                <a:ea typeface="Apple SD Gothic Neo"/>
                <a:cs typeface="Apple SD Gothic Neo"/>
              </a:defRPr>
            </a:pPr>
            <a:r>
              <a:rPr sz="2250" b="1">
                <a:solidFill>
                  <a:srgbClr val="304C47"/>
                </a:solidFill>
                <a:latin typeface="Apple SD Gothic Neo"/>
                <a:ea typeface="Apple SD Gothic Neo"/>
                <a:cs typeface="Apple SD Gothic Neo"/>
              </a:rPr>
              <a:t>진행 화면</a:t>
            </a:r>
          </a:p>
        </p:txBody>
      </p:sp>
      <p:sp>
        <p:nvSpPr>
          <p:cNvPr id="10" name="검색어와 읽는 구간">
            <a:extLst xmlns:a="http://schemas.openxmlformats.org/drawingml/2006/main">
              <a:ext uri="{FF2B5EF4-FFF2-40B4-BE49-F238E27FC236}">
                <a16:creationId xmlns:a16="http://schemas.microsoft.com/office/drawing/2014/main" id="{CE035B8B-16AC-44B6-9021-CD40E31AF7AC}"/>
              </a:ext>
            </a:extLst>
          </p:cNvPr>
          <p:cNvSpPr>
            <a:spLocks xmlns:a="http://schemas.openxmlformats.org/drawingml/2006/main" noGrp="1"/>
          </p:cNvSpPr>
          <p:nvPr/>
        </p:nvSpPr>
        <p:spPr>
          <a:xfrm xmlns:a="http://schemas.openxmlformats.org/drawingml/2006/main">
            <a:off x="723900" y="5248275"/>
            <a:ext cx="3495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검색어와 읽는 구간</a:t>
            </a:r>
          </a:p>
        </p:txBody>
      </p:sp>
      <p:sp>
        <p:nvSpPr>
          <p:cNvPr id="11" name="02">
            <a:extLst xmlns:a="http://schemas.openxmlformats.org/drawingml/2006/main">
              <a:ext uri="{FF2B5EF4-FFF2-40B4-BE49-F238E27FC236}">
                <a16:creationId xmlns:a16="http://schemas.microsoft.com/office/drawing/2014/main" id="{3C04D230-1689-47A8-94F2-AE72B6BFDEDB}"/>
              </a:ext>
            </a:extLst>
          </p:cNvPr>
          <p:cNvSpPr>
            <a:spLocks xmlns:a="http://schemas.openxmlformats.org/drawingml/2006/main" noGrp="1"/>
          </p:cNvSpPr>
          <p:nvPr/>
        </p:nvSpPr>
        <p:spPr>
          <a:xfrm xmlns:a="http://schemas.openxmlformats.org/drawingml/2006/main">
            <a:off x="4600575" y="3981450"/>
            <a:ext cx="95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78"/>
                </a:solidFill>
                <a:latin typeface="Apple SD Gothic Neo"/>
                <a:ea typeface="Apple SD Gothic Neo"/>
                <a:cs typeface="Apple SD Gothic Neo"/>
              </a:defRPr>
            </a:pPr>
            <a:r>
              <a:rPr sz="2850" b="1">
                <a:solidFill>
                  <a:srgbClr val="087F78"/>
                </a:solidFill>
                <a:latin typeface="Apple SD Gothic Neo"/>
                <a:ea typeface="Apple SD Gothic Neo"/>
                <a:cs typeface="Apple SD Gothic Neo"/>
              </a:rPr>
              <a:t>02</a:t>
            </a:r>
          </a:p>
        </p:txBody>
      </p:sp>
      <p:sp>
        <p:nvSpPr>
          <p:cNvPr id="12" name="전체 후보 평가">
            <a:extLst xmlns:a="http://schemas.openxmlformats.org/drawingml/2006/main">
              <a:ext uri="{FF2B5EF4-FFF2-40B4-BE49-F238E27FC236}">
                <a16:creationId xmlns:a16="http://schemas.microsoft.com/office/drawing/2014/main" id="{2C6081EF-478F-456F-8929-9FF08117F2A9}"/>
              </a:ext>
            </a:extLst>
          </p:cNvPr>
          <p:cNvSpPr>
            <a:spLocks xmlns:a="http://schemas.openxmlformats.org/drawingml/2006/main" noGrp="1"/>
          </p:cNvSpPr>
          <p:nvPr/>
        </p:nvSpPr>
        <p:spPr>
          <a:xfrm xmlns:a="http://schemas.openxmlformats.org/drawingml/2006/main">
            <a:off x="4600575" y="4695825"/>
            <a:ext cx="350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4C47"/>
                </a:solidFill>
                <a:latin typeface="Apple SD Gothic Neo"/>
                <a:ea typeface="Apple SD Gothic Neo"/>
                <a:cs typeface="Apple SD Gothic Neo"/>
              </a:defRPr>
            </a:pPr>
            <a:r>
              <a:rPr sz="2250" b="1">
                <a:solidFill>
                  <a:srgbClr val="304C47"/>
                </a:solidFill>
                <a:latin typeface="Apple SD Gothic Neo"/>
                <a:ea typeface="Apple SD Gothic Neo"/>
                <a:cs typeface="Apple SD Gothic Neo"/>
              </a:rPr>
              <a:t>전체 후보 평가</a:t>
            </a:r>
          </a:p>
        </p:txBody>
      </p:sp>
      <p:sp>
        <p:nvSpPr>
          <p:cNvPr id="13" name="선정·제외 이유">
            <a:extLst xmlns:a="http://schemas.openxmlformats.org/drawingml/2006/main">
              <a:ext uri="{FF2B5EF4-FFF2-40B4-BE49-F238E27FC236}">
                <a16:creationId xmlns:a16="http://schemas.microsoft.com/office/drawing/2014/main" id="{E8D554D3-0AAD-4F07-9F47-353CEF776BD9}"/>
              </a:ext>
            </a:extLst>
          </p:cNvPr>
          <p:cNvSpPr>
            <a:spLocks xmlns:a="http://schemas.openxmlformats.org/drawingml/2006/main" noGrp="1"/>
          </p:cNvSpPr>
          <p:nvPr/>
        </p:nvSpPr>
        <p:spPr>
          <a:xfrm xmlns:a="http://schemas.openxmlformats.org/drawingml/2006/main">
            <a:off x="4600575" y="5248275"/>
            <a:ext cx="3495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선정·제외 이유</a:t>
            </a:r>
          </a:p>
        </p:txBody>
      </p:sp>
      <p:sp>
        <p:nvSpPr>
          <p:cNvPr id="14" name="03">
            <a:extLst xmlns:a="http://schemas.openxmlformats.org/drawingml/2006/main">
              <a:ext uri="{FF2B5EF4-FFF2-40B4-BE49-F238E27FC236}">
                <a16:creationId xmlns:a16="http://schemas.microsoft.com/office/drawing/2014/main" id="{56293EB9-135E-4B8E-94AC-F4F9BC6C4D07}"/>
              </a:ext>
            </a:extLst>
          </p:cNvPr>
          <p:cNvSpPr>
            <a:spLocks xmlns:a="http://schemas.openxmlformats.org/drawingml/2006/main" noGrp="1"/>
          </p:cNvSpPr>
          <p:nvPr/>
        </p:nvSpPr>
        <p:spPr>
          <a:xfrm xmlns:a="http://schemas.openxmlformats.org/drawingml/2006/main">
            <a:off x="8477250" y="3981450"/>
            <a:ext cx="95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78"/>
                </a:solidFill>
                <a:latin typeface="Apple SD Gothic Neo"/>
                <a:ea typeface="Apple SD Gothic Neo"/>
                <a:cs typeface="Apple SD Gothic Neo"/>
              </a:defRPr>
            </a:pPr>
            <a:r>
              <a:rPr sz="2850" b="1">
                <a:solidFill>
                  <a:srgbClr val="087F78"/>
                </a:solidFill>
                <a:latin typeface="Apple SD Gothic Neo"/>
                <a:ea typeface="Apple SD Gothic Neo"/>
                <a:cs typeface="Apple SD Gothic Neo"/>
              </a:rPr>
              <a:t>03</a:t>
            </a:r>
          </a:p>
        </p:txBody>
      </p:sp>
      <p:sp>
        <p:nvSpPr>
          <p:cNvPr id="15" name="추천 논문과 PDF">
            <a:extLst xmlns:a="http://schemas.openxmlformats.org/drawingml/2006/main">
              <a:ext uri="{FF2B5EF4-FFF2-40B4-BE49-F238E27FC236}">
                <a16:creationId xmlns:a16="http://schemas.microsoft.com/office/drawing/2014/main" id="{B336878C-9B32-4C3B-AE1E-41A08590BD1C}"/>
              </a:ext>
            </a:extLst>
          </p:cNvPr>
          <p:cNvSpPr>
            <a:spLocks xmlns:a="http://schemas.openxmlformats.org/drawingml/2006/main" noGrp="1"/>
          </p:cNvSpPr>
          <p:nvPr/>
        </p:nvSpPr>
        <p:spPr>
          <a:xfrm xmlns:a="http://schemas.openxmlformats.org/drawingml/2006/main">
            <a:off x="8477250" y="4695825"/>
            <a:ext cx="350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4C47"/>
                </a:solidFill>
                <a:latin typeface="Apple SD Gothic Neo"/>
                <a:ea typeface="Apple SD Gothic Neo"/>
                <a:cs typeface="Apple SD Gothic Neo"/>
              </a:defRPr>
            </a:pPr>
            <a:r>
              <a:rPr sz="2250" b="1">
                <a:solidFill>
                  <a:srgbClr val="304C47"/>
                </a:solidFill>
                <a:latin typeface="Apple SD Gothic Neo"/>
                <a:ea typeface="Apple SD Gothic Neo"/>
                <a:cs typeface="Apple SD Gothic Neo"/>
              </a:rPr>
              <a:t>추천 논문과 PDF</a:t>
            </a:r>
          </a:p>
        </p:txBody>
      </p:sp>
      <p:sp>
        <p:nvSpPr>
          <p:cNvPr id="16" name="문제·방법·결과·한계">
            <a:extLst xmlns:a="http://schemas.openxmlformats.org/drawingml/2006/main">
              <a:ext uri="{FF2B5EF4-FFF2-40B4-BE49-F238E27FC236}">
                <a16:creationId xmlns:a16="http://schemas.microsoft.com/office/drawing/2014/main" id="{1E358A10-E8C7-4100-9EF7-02F2A51A3DD0}"/>
              </a:ext>
            </a:extLst>
          </p:cNvPr>
          <p:cNvSpPr>
            <a:spLocks xmlns:a="http://schemas.openxmlformats.org/drawingml/2006/main" noGrp="1"/>
          </p:cNvSpPr>
          <p:nvPr/>
        </p:nvSpPr>
        <p:spPr>
          <a:xfrm xmlns:a="http://schemas.openxmlformats.org/drawingml/2006/main">
            <a:off x="8477250" y="5248275"/>
            <a:ext cx="3495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77B73"/>
                </a:solidFill>
                <a:latin typeface="Apple SD Gothic Neo"/>
                <a:ea typeface="Apple SD Gothic Neo"/>
                <a:cs typeface="Apple SD Gothic Neo"/>
              </a:defRPr>
            </a:pPr>
            <a:r>
              <a:rPr sz="1875" b="0">
                <a:solidFill>
                  <a:srgbClr val="677B73"/>
                </a:solidFill>
                <a:latin typeface="Apple SD Gothic Neo"/>
                <a:ea typeface="Apple SD Gothic Neo"/>
                <a:cs typeface="Apple SD Gothic Neo"/>
              </a:rPr>
              <a:t>문제·방법·결과·한계</a:t>
            </a:r>
          </a:p>
        </p:txBody>
      </p:sp>
    </p:spTree>
    <p:extLst>
      <p:ext uri="{BB962C8B-B14F-4D97-AF65-F5344CB8AC3E}">
        <p14:creationId xmlns:p14="http://schemas.microsoft.com/office/powerpoint/2010/main" val="1727175020"/>
      </p:ext>
    </p:extLst>
  </p:cSld>
</p:sld>
</file>

<file path=ppt/slides/slide14.xml><?xml version="1.0" encoding="utf-8"?>
<p:sld xmlns:p="http://schemas.openxmlformats.org/presentationml/2006/main">
  <p:cSld>
    <p:bg>
      <p:bgPr>
        <a:solidFill xmlns:a="http://schemas.openxmlformats.org/drawingml/2006/main">
          <a:srgbClr val="173D39"/>
        </a:solidFill>
      </p:bgPr>
    </p:bg>
    <p:spTree>
      <p:nvGrpSpPr>
        <p:cNvPr id="1" name=""/>
        <p:cNvGrpSpPr/>
        <p:nvPr/>
      </p:nvGrpSpPr>
      <p:grpSpPr>
        <a:xfrm xmlns:a="http://schemas.openxmlformats.org/drawingml/2006/main"/>
      </p:grpSpPr>
      <p:sp>
        <p:nvSpPr>
          <p:cNvPr id="5" name="14">
            <a:extLst xmlns:a="http://schemas.openxmlformats.org/drawingml/2006/main">
              <a:ext uri="{FF2B5EF4-FFF2-40B4-BE49-F238E27FC236}">
                <a16:creationId xmlns:a16="http://schemas.microsoft.com/office/drawing/2014/main" id="{11611308-2B97-491A-9156-CD27585B0BB1}"/>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8C7BA"/>
                </a:solidFill>
                <a:latin typeface="Apple SD Gothic Neo"/>
                <a:ea typeface="Apple SD Gothic Neo"/>
                <a:cs typeface="Apple SD Gothic Neo"/>
              </a:defRPr>
            </a:pPr>
            <a:r>
              <a:rPr sz="1275" b="0">
                <a:solidFill>
                  <a:srgbClr val="A8C7BA"/>
                </a:solidFill>
                <a:latin typeface="Apple SD Gothic Neo"/>
                <a:ea typeface="Apple SD Gothic Neo"/>
                <a:cs typeface="Apple SD Gothic Neo"/>
              </a:rPr>
              <a:t>14</a:t>
            </a:r>
          </a:p>
        </p:txBody>
      </p:sp>
      <p:sp>
        <p:nvSpPr>
          <p:cNvPr id="2" name="모델은 다음 행동을 선택하고&#10;코드는 실행과 검증을 담당">
            <a:extLst xmlns:a="http://schemas.openxmlformats.org/drawingml/2006/main">
              <a:ext uri="{FF2B5EF4-FFF2-40B4-BE49-F238E27FC236}">
                <a16:creationId xmlns:a16="http://schemas.microsoft.com/office/drawing/2014/main" id="{A0C9FB39-A841-49AB-939D-783DE80487EE}"/>
              </a:ext>
            </a:extLst>
          </p:cNvPr>
          <p:cNvSpPr>
            <a:spLocks xmlns:a="http://schemas.openxmlformats.org/drawingml/2006/main" noGrp="1"/>
          </p:cNvSpPr>
          <p:nvPr/>
        </p:nvSpPr>
        <p:spPr>
          <a:xfrm xmlns:a="http://schemas.openxmlformats.org/drawingml/2006/main">
            <a:off x="628650" y="1809750"/>
            <a:ext cx="109156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FFFFF"/>
                </a:solidFill>
                <a:latin typeface="Apple SD Gothic Neo"/>
                <a:ea typeface="Apple SD Gothic Neo"/>
                <a:cs typeface="Apple SD Gothic Neo"/>
              </a:defRPr>
            </a:pPr>
            <a:r>
              <a:rPr sz="3900" b="1">
                <a:solidFill>
                  <a:srgbClr val="FFFFFF"/>
                </a:solidFill>
                <a:latin typeface="Apple SD Gothic Neo"/>
                <a:ea typeface="Apple SD Gothic Neo"/>
                <a:cs typeface="Apple SD Gothic Neo"/>
              </a:rPr>
              <a:t>모델은 다음 행동을 선택하고</a:t>
            </a:r>
          </a:p>
          <a:p xmlns:a="http://schemas.openxmlformats.org/drawingml/2006/main">
            <a:pPr algn="l">
              <a:defRPr sz="3900" b="1">
                <a:solidFill>
                  <a:srgbClr val="FFFFFF"/>
                </a:solidFill>
                <a:latin typeface="Apple SD Gothic Neo"/>
                <a:ea typeface="Apple SD Gothic Neo"/>
                <a:cs typeface="Apple SD Gothic Neo"/>
              </a:defRPr>
            </a:pPr>
            <a:r>
              <a:rPr sz="3900" b="1">
                <a:solidFill>
                  <a:srgbClr val="FFFFFF"/>
                </a:solidFill>
                <a:latin typeface="Apple SD Gothic Neo"/>
                <a:ea typeface="Apple SD Gothic Neo"/>
                <a:cs typeface="Apple SD Gothic Neo"/>
              </a:rPr>
              <a:t>코드는 실행과 검증을 담당한다</a:t>
            </a:r>
          </a:p>
        </p:txBody>
      </p:sp>
      <p:sp>
        <p:nvSpPr>
          <p:cNvPr id="3" name="관측이 다음 판단으로 돌아오는 반복 구조">
            <a:extLst xmlns:a="http://schemas.openxmlformats.org/drawingml/2006/main">
              <a:ext uri="{FF2B5EF4-FFF2-40B4-BE49-F238E27FC236}">
                <a16:creationId xmlns:a16="http://schemas.microsoft.com/office/drawing/2014/main" id="{27617D90-4F61-4F15-AF82-391437D3E2F0}"/>
              </a:ext>
            </a:extLst>
          </p:cNvPr>
          <p:cNvSpPr>
            <a:spLocks xmlns:a="http://schemas.openxmlformats.org/drawingml/2006/main" noGrp="1"/>
          </p:cNvSpPr>
          <p:nvPr/>
        </p:nvSpPr>
        <p:spPr>
          <a:xfrm xmlns:a="http://schemas.openxmlformats.org/drawingml/2006/main">
            <a:off x="657225" y="4143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7DBD1"/>
                </a:solidFill>
                <a:latin typeface="Apple SD Gothic Neo"/>
                <a:ea typeface="Apple SD Gothic Neo"/>
                <a:cs typeface="Apple SD Gothic Neo"/>
              </a:defRPr>
            </a:pPr>
            <a:r>
              <a:rPr sz="2550" b="0">
                <a:solidFill>
                  <a:srgbClr val="C7DBD1"/>
                </a:solidFill>
                <a:latin typeface="Apple SD Gothic Neo"/>
                <a:ea typeface="Apple SD Gothic Neo"/>
                <a:cs typeface="Apple SD Gothic Neo"/>
              </a:rPr>
              <a:t>관측이 다음 판단으로 돌아오는 반복 구조</a:t>
            </a:r>
          </a:p>
        </p:txBody>
      </p:sp>
      <p:sp>
        <p:nvSpPr>
          <p:cNvPr id="4" name="Q&amp;A">
            <a:extLst xmlns:a="http://schemas.openxmlformats.org/drawingml/2006/main">
              <a:ext uri="{FF2B5EF4-FFF2-40B4-BE49-F238E27FC236}">
                <a16:creationId xmlns:a16="http://schemas.microsoft.com/office/drawing/2014/main" id="{1EA9BECC-B5E2-4DD9-A32C-CBAB59DAB66A}"/>
              </a:ext>
            </a:extLst>
          </p:cNvPr>
          <p:cNvSpPr>
            <a:spLocks xmlns:a="http://schemas.openxmlformats.org/drawingml/2006/main" noGrp="1"/>
          </p:cNvSpPr>
          <p:nvPr/>
        </p:nvSpPr>
        <p:spPr>
          <a:xfrm xmlns:a="http://schemas.openxmlformats.org/drawingml/2006/main">
            <a:off x="666750" y="54673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A8C7BA"/>
                </a:solidFill>
                <a:latin typeface="Apple SD Gothic Neo"/>
                <a:ea typeface="Apple SD Gothic Neo"/>
                <a:cs typeface="Apple SD Gothic Neo"/>
              </a:defRPr>
            </a:pPr>
            <a:r>
              <a:rPr sz="2100" b="0">
                <a:solidFill>
                  <a:srgbClr val="A8C7BA"/>
                </a:solidFill>
                <a:latin typeface="Apple SD Gothic Neo"/>
                <a:ea typeface="Apple SD Gothic Neo"/>
                <a:cs typeface="Apple SD Gothic Neo"/>
              </a:rPr>
              <a:t>Q&amp;A</a:t>
            </a:r>
          </a:p>
        </p:txBody>
      </p:sp>
    </p:spTree>
    <p:extLst>
      <p:ext uri="{BB962C8B-B14F-4D97-AF65-F5344CB8AC3E}">
        <p14:creationId xmlns:p14="http://schemas.microsoft.com/office/powerpoint/2010/main" val="89400457"/>
      </p:ext>
    </p:extLst>
  </p:cSld>
</p:sld>
</file>

<file path=ppt/slides/slide15.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00E4F8F-5F75-407C-B82D-1A9262AF93E5}"/>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부록: 사용 기술과 역할</a:t>
            </a:r>
          </a:p>
        </p:txBody>
      </p:sp>
      <p:sp>
        <p:nvSpPr>
          <p:cNvPr id="2" name="15">
            <a:extLst xmlns:a="http://schemas.openxmlformats.org/drawingml/2006/main">
              <a:ext uri="{FF2B5EF4-FFF2-40B4-BE49-F238E27FC236}">
                <a16:creationId xmlns:a16="http://schemas.microsoft.com/office/drawing/2014/main" id="{78703672-1C39-4FA9-A7F7-0571F59CE3B9}"/>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15</a:t>
            </a:r>
          </a:p>
        </p:txBody>
      </p:sp>
      <p:graphicFrame>
        <p:nvGraphicFramePr>
          <p:cNvPr id="11" name=""/>
          <p:cNvGraphicFramePr/>
          <p:nvPr/>
        </p:nvGraphicFramePr>
        <p:xfrm>
          <a:off xmlns:a="http://schemas.openxmlformats.org/drawingml/2006/main" x="695325" y="1857375"/>
          <a:ext xmlns:a="http://schemas.openxmlformats.org/drawingml/2006/main" cx="10801350" cy="4171950"/>
        </p:xfrm>
        <a:graphic xmlns:a="http://schemas.openxmlformats.org/drawingml/2006/main">
          <a:graphicData uri="http://schemas.openxmlformats.org/drawingml/2006/table">
            <a:tbl>
              <a:tblPr firstRow="0" firstCol="0" bandRow="0"/>
              <a:tblGrid>
                <a:gridCol w="2381250"/>
                <a:gridCol w="5381625"/>
                <a:gridCol w="3038475"/>
              </a:tblGrid>
              <a:tr h="695325">
                <a:tc>
                  <a:txBody>
                    <a:bodyPr lIns="19050" tIns="76200" rIns="114300" bIns="76200">
                      <a:noAutofit/>
                    </a:bodyPr>
                    <a:lstStyle/>
                    <a:p>
                      <a:r>
                        <a:rPr sz="2025" b="1">
                          <a:solidFill>
                            <a:srgbClr val="087F78"/>
                          </a:solidFill>
                          <a:latin typeface="Apple SD Gothic Neo"/>
                          <a:ea typeface="Apple SD Gothic Neo"/>
                          <a:cs typeface="Apple SD Gothic Neo"/>
                        </a:rPr>
                        <a:t>화면</a:t>
                      </a:r>
                    </a:p>
                  </a:txBody>
                  <a:tcPr marL="91440" marR="91440" marT="45720" marB="45720" anchor="ctr">
                    <a:solidFill>
                      <a:srgbClr val="F6F8F6"/>
                    </a:solidFill>
                  </a:tcPr>
                </a:tc>
                <a:tc>
                  <a:txBody>
                    <a:bodyPr lIns="19050" tIns="76200" rIns="114300" bIns="76200">
                      <a:noAutofit/>
                    </a:bodyPr>
                    <a:lstStyle/>
                    <a:p>
                      <a:r>
                        <a:rPr sz="2025" b="0">
                          <a:solidFill>
                            <a:srgbClr val="304C47"/>
                          </a:solidFill>
                          <a:latin typeface="Apple SD Gothic Neo"/>
                          <a:ea typeface="Apple SD Gothic Neo"/>
                          <a:cs typeface="Apple SD Gothic Neo"/>
                        </a:rPr>
                        <a:t>Streamlit</a:t>
                      </a:r>
                    </a:p>
                  </a:txBody>
                  <a:tcPr marL="91440" marR="91440" marT="45720" marB="45720" anchor="ctr">
                    <a:solidFill>
                      <a:srgbClr val="F6F8F6"/>
                    </a:solidFill>
                  </a:tcPr>
                </a:tc>
                <a:tc>
                  <a:txBody>
                    <a:bodyPr lIns="19050" tIns="76200" rIns="114300" bIns="76200">
                      <a:noAutofit/>
                    </a:bodyPr>
                    <a:lstStyle/>
                    <a:p>
                      <a:r>
                        <a:rPr sz="1650" b="0">
                          <a:solidFill>
                            <a:srgbClr val="677B73"/>
                          </a:solidFill>
                          <a:latin typeface="Apple SD Gothic Neo"/>
                          <a:ea typeface="Apple SD Gothic Neo"/>
                          <a:cs typeface="Apple SD Gothic Neo"/>
                        </a:rPr>
                        <a:t>app.py</a:t>
                      </a:r>
                    </a:p>
                  </a:txBody>
                  <a:tcPr marL="91440" marR="91440" marT="45720" marB="45720" anchor="ctr">
                    <a:solidFill>
                      <a:srgbClr val="F6F8F6"/>
                    </a:solidFill>
                  </a:tcPr>
                </a:tc>
              </a:tr>
              <a:tr h="695325">
                <a:tc>
                  <a:txBody>
                    <a:bodyPr lIns="19050" tIns="76200" rIns="114300" bIns="76200">
                      <a:noAutofit/>
                    </a:bodyPr>
                    <a:lstStyle/>
                    <a:p>
                      <a:r>
                        <a:rPr sz="2025" b="1">
                          <a:solidFill>
                            <a:srgbClr val="087F78"/>
                          </a:solidFill>
                          <a:latin typeface="Apple SD Gothic Neo"/>
                          <a:ea typeface="Apple SD Gothic Neo"/>
                          <a:cs typeface="Apple SD Gothic Neo"/>
                        </a:rPr>
                        <a:t>모델 API</a:t>
                      </a:r>
                    </a:p>
                  </a:txBody>
                  <a:tcPr marL="91440" marR="91440" marT="45720" marB="45720" anchor="ctr">
                    <a:solidFill>
                      <a:srgbClr val="F6F8F6"/>
                    </a:solidFill>
                  </a:tcPr>
                </a:tc>
                <a:tc>
                  <a:txBody>
                    <a:bodyPr lIns="19050" tIns="76200" rIns="114300" bIns="76200">
                      <a:noAutofit/>
                    </a:bodyPr>
                    <a:lstStyle/>
                    <a:p>
                      <a:r>
                        <a:rPr sz="2025" b="0">
                          <a:solidFill>
                            <a:srgbClr val="304C47"/>
                          </a:solidFill>
                          <a:latin typeface="Apple SD Gothic Neo"/>
                          <a:ea typeface="Apple SD Gothic Neo"/>
                          <a:cs typeface="Apple SD Gothic Neo"/>
                        </a:rPr>
                        <a:t>OpenAI SDK</a:t>
                      </a:r>
                    </a:p>
                  </a:txBody>
                  <a:tcPr marL="91440" marR="91440" marT="45720" marB="45720" anchor="ctr">
                    <a:solidFill>
                      <a:srgbClr val="F6F8F6"/>
                    </a:solidFill>
                  </a:tcPr>
                </a:tc>
                <a:tc>
                  <a:txBody>
                    <a:bodyPr lIns="19050" tIns="76200" rIns="114300" bIns="76200">
                      <a:noAutofit/>
                    </a:bodyPr>
                    <a:lstStyle/>
                    <a:p>
                      <a:r>
                        <a:rPr sz="1650" b="0">
                          <a:solidFill>
                            <a:srgbClr val="677B73"/>
                          </a:solidFill>
                          <a:latin typeface="Apple SD Gothic Neo"/>
                          <a:ea typeface="Apple SD Gothic Neo"/>
                          <a:cs typeface="Apple SD Gothic Neo"/>
                        </a:rPr>
                        <a:t>provider.py</a:t>
                      </a:r>
                    </a:p>
                  </a:txBody>
                  <a:tcPr marL="91440" marR="91440" marT="45720" marB="45720" anchor="ctr">
                    <a:solidFill>
                      <a:srgbClr val="F6F8F6"/>
                    </a:solidFill>
                  </a:tcPr>
                </a:tc>
              </a:tr>
              <a:tr h="695325">
                <a:tc>
                  <a:txBody>
                    <a:bodyPr lIns="19050" tIns="76200" rIns="114300" bIns="76200">
                      <a:noAutofit/>
                    </a:bodyPr>
                    <a:lstStyle/>
                    <a:p>
                      <a:r>
                        <a:rPr sz="2025" b="1">
                          <a:solidFill>
                            <a:srgbClr val="087F78"/>
                          </a:solidFill>
                          <a:latin typeface="Apple SD Gothic Neo"/>
                          <a:ea typeface="Apple SD Gothic Neo"/>
                          <a:cs typeface="Apple SD Gothic Neo"/>
                        </a:rPr>
                        <a:t>스키마와 검증</a:t>
                      </a:r>
                    </a:p>
                  </a:txBody>
                  <a:tcPr marL="91440" marR="91440" marT="45720" marB="45720" anchor="ctr">
                    <a:solidFill>
                      <a:srgbClr val="F6F8F6"/>
                    </a:solidFill>
                  </a:tcPr>
                </a:tc>
                <a:tc>
                  <a:txBody>
                    <a:bodyPr lIns="19050" tIns="76200" rIns="114300" bIns="76200">
                      <a:noAutofit/>
                    </a:bodyPr>
                    <a:lstStyle/>
                    <a:p>
                      <a:r>
                        <a:rPr sz="2025" b="0">
                          <a:solidFill>
                            <a:srgbClr val="304C47"/>
                          </a:solidFill>
                          <a:latin typeface="Apple SD Gothic Neo"/>
                          <a:ea typeface="Apple SD Gothic Neo"/>
                          <a:cs typeface="Apple SD Gothic Neo"/>
                        </a:rPr>
                        <a:t>Pydantic</a:t>
                      </a:r>
                    </a:p>
                  </a:txBody>
                  <a:tcPr marL="91440" marR="91440" marT="45720" marB="45720" anchor="ctr">
                    <a:solidFill>
                      <a:srgbClr val="F6F8F6"/>
                    </a:solidFill>
                  </a:tcPr>
                </a:tc>
                <a:tc>
                  <a:txBody>
                    <a:bodyPr lIns="19050" tIns="76200" rIns="114300" bIns="76200">
                      <a:noAutofit/>
                    </a:bodyPr>
                    <a:lstStyle/>
                    <a:p>
                      <a:r>
                        <a:rPr sz="1650" b="0">
                          <a:solidFill>
                            <a:srgbClr val="677B73"/>
                          </a:solidFill>
                          <a:latin typeface="Apple SD Gothic Neo"/>
                          <a:ea typeface="Apple SD Gothic Neo"/>
                          <a:cs typeface="Apple SD Gothic Neo"/>
                        </a:rPr>
                        <a:t>schema.py / tools.py</a:t>
                      </a:r>
                    </a:p>
                  </a:txBody>
                  <a:tcPr marL="91440" marR="91440" marT="45720" marB="45720" anchor="ctr">
                    <a:solidFill>
                      <a:srgbClr val="F6F8F6"/>
                    </a:solidFill>
                  </a:tcPr>
                </a:tc>
              </a:tr>
              <a:tr h="695325">
                <a:tc>
                  <a:txBody>
                    <a:bodyPr lIns="19050" tIns="76200" rIns="114300" bIns="76200">
                      <a:noAutofit/>
                    </a:bodyPr>
                    <a:lstStyle/>
                    <a:p>
                      <a:r>
                        <a:rPr sz="2025" b="1">
                          <a:solidFill>
                            <a:srgbClr val="087F78"/>
                          </a:solidFill>
                          <a:latin typeface="Apple SD Gothic Neo"/>
                          <a:ea typeface="Apple SD Gothic Neo"/>
                          <a:cs typeface="Apple SD Gothic Neo"/>
                        </a:rPr>
                        <a:t>학술 자료 요청</a:t>
                      </a:r>
                    </a:p>
                  </a:txBody>
                  <a:tcPr marL="91440" marR="91440" marT="45720" marB="45720" anchor="ctr">
                    <a:solidFill>
                      <a:srgbClr val="F6F8F6"/>
                    </a:solidFill>
                  </a:tcPr>
                </a:tc>
                <a:tc>
                  <a:txBody>
                    <a:bodyPr lIns="19050" tIns="76200" rIns="114300" bIns="76200">
                      <a:noAutofit/>
                    </a:bodyPr>
                    <a:lstStyle/>
                    <a:p>
                      <a:r>
                        <a:rPr sz="2025" b="0">
                          <a:solidFill>
                            <a:srgbClr val="304C47"/>
                          </a:solidFill>
                          <a:latin typeface="Apple SD Gothic Neo"/>
                          <a:ea typeface="Apple SD Gothic Neo"/>
                          <a:cs typeface="Apple SD Gothic Neo"/>
                        </a:rPr>
                        <a:t>httpx</a:t>
                      </a:r>
                    </a:p>
                  </a:txBody>
                  <a:tcPr marL="91440" marR="91440" marT="45720" marB="45720" anchor="ctr">
                    <a:solidFill>
                      <a:srgbClr val="F6F8F6"/>
                    </a:solidFill>
                  </a:tcPr>
                </a:tc>
                <a:tc>
                  <a:txBody>
                    <a:bodyPr lIns="19050" tIns="76200" rIns="114300" bIns="76200">
                      <a:noAutofit/>
                    </a:bodyPr>
                    <a:lstStyle/>
                    <a:p>
                      <a:r>
                        <a:rPr sz="1650" b="0">
                          <a:solidFill>
                            <a:srgbClr val="677B73"/>
                          </a:solidFill>
                          <a:latin typeface="Apple SD Gothic Neo"/>
                          <a:ea typeface="Apple SD Gothic Neo"/>
                          <a:cs typeface="Apple SD Gothic Neo"/>
                        </a:rPr>
                        <a:t>network.py / sources.py</a:t>
                      </a:r>
                    </a:p>
                  </a:txBody>
                  <a:tcPr marL="91440" marR="91440" marT="45720" marB="45720" anchor="ctr">
                    <a:solidFill>
                      <a:srgbClr val="F6F8F6"/>
                    </a:solidFill>
                  </a:tcPr>
                </a:tc>
              </a:tr>
              <a:tr h="695325">
                <a:tc>
                  <a:txBody>
                    <a:bodyPr lIns="19050" tIns="76200" rIns="114300" bIns="76200">
                      <a:noAutofit/>
                    </a:bodyPr>
                    <a:lstStyle/>
                    <a:p>
                      <a:r>
                        <a:rPr sz="2025" b="1">
                          <a:solidFill>
                            <a:srgbClr val="087F78"/>
                          </a:solidFill>
                          <a:latin typeface="Apple SD Gothic Neo"/>
                          <a:ea typeface="Apple SD Gothic Neo"/>
                          <a:cs typeface="Apple SD Gothic Neo"/>
                        </a:rPr>
                        <a:t>본문 추출</a:t>
                      </a:r>
                    </a:p>
                  </a:txBody>
                  <a:tcPr marL="91440" marR="91440" marT="45720" marB="45720" anchor="ctr">
                    <a:solidFill>
                      <a:srgbClr val="F6F8F6"/>
                    </a:solidFill>
                  </a:tcPr>
                </a:tc>
                <a:tc>
                  <a:txBody>
                    <a:bodyPr lIns="19050" tIns="76200" rIns="114300" bIns="76200">
                      <a:noAutofit/>
                    </a:bodyPr>
                    <a:lstStyle/>
                    <a:p>
                      <a:r>
                        <a:rPr sz="1800" b="0">
                          <a:solidFill>
                            <a:srgbClr val="304C47"/>
                          </a:solidFill>
                          <a:latin typeface="Apple SD Gothic Neo"/>
                          <a:ea typeface="Apple SD Gothic Neo"/>
                          <a:cs typeface="Apple SD Gothic Neo"/>
                        </a:rPr>
                        <a:t>BeautifulSoup / defusedxml / pypdf</a:t>
                      </a:r>
                    </a:p>
                  </a:txBody>
                  <a:tcPr marL="91440" marR="91440" marT="45720" marB="45720" anchor="ctr">
                    <a:solidFill>
                      <a:srgbClr val="F6F8F6"/>
                    </a:solidFill>
                  </a:tcPr>
                </a:tc>
                <a:tc>
                  <a:txBody>
                    <a:bodyPr lIns="19050" tIns="76200" rIns="114300" bIns="76200">
                      <a:noAutofit/>
                    </a:bodyPr>
                    <a:lstStyle/>
                    <a:p>
                      <a:r>
                        <a:rPr sz="1650" b="0">
                          <a:solidFill>
                            <a:srgbClr val="677B73"/>
                          </a:solidFill>
                          <a:latin typeface="Apple SD Gothic Neo"/>
                          <a:ea typeface="Apple SD Gothic Neo"/>
                          <a:cs typeface="Apple SD Gothic Neo"/>
                        </a:rPr>
                        <a:t>sources.py</a:t>
                      </a:r>
                    </a:p>
                  </a:txBody>
                  <a:tcPr marL="91440" marR="91440" marT="45720" marB="45720" anchor="ctr">
                    <a:solidFill>
                      <a:srgbClr val="F6F8F6"/>
                    </a:solidFill>
                  </a:tcPr>
                </a:tc>
              </a:tr>
              <a:tr h="695325">
                <a:tc>
                  <a:txBody>
                    <a:bodyPr lIns="19050" tIns="76200" rIns="114300" bIns="76200">
                      <a:noAutofit/>
                    </a:bodyPr>
                    <a:lstStyle/>
                    <a:p>
                      <a:r>
                        <a:rPr sz="2025" b="1">
                          <a:solidFill>
                            <a:srgbClr val="087F78"/>
                          </a:solidFill>
                          <a:latin typeface="Apple SD Gothic Neo"/>
                          <a:ea typeface="Apple SD Gothic Neo"/>
                          <a:cs typeface="Apple SD Gothic Neo"/>
                        </a:rPr>
                        <a:t>PDF 출력</a:t>
                      </a:r>
                    </a:p>
                  </a:txBody>
                  <a:tcPr marL="91440" marR="91440" marT="45720" marB="45720" anchor="ctr">
                    <a:solidFill>
                      <a:srgbClr val="F6F8F6"/>
                    </a:solidFill>
                  </a:tcPr>
                </a:tc>
                <a:tc>
                  <a:txBody>
                    <a:bodyPr lIns="19050" tIns="76200" rIns="114300" bIns="76200">
                      <a:noAutofit/>
                    </a:bodyPr>
                    <a:lstStyle/>
                    <a:p>
                      <a:r>
                        <a:rPr sz="2025" b="0">
                          <a:solidFill>
                            <a:srgbClr val="304C47"/>
                          </a:solidFill>
                          <a:latin typeface="Apple SD Gothic Neo"/>
                          <a:ea typeface="Apple SD Gothic Neo"/>
                          <a:cs typeface="Apple SD Gothic Neo"/>
                        </a:rPr>
                        <a:t>ReportLab</a:t>
                      </a:r>
                    </a:p>
                  </a:txBody>
                  <a:tcPr marL="91440" marR="91440" marT="45720" marB="45720" anchor="ctr">
                    <a:solidFill>
                      <a:srgbClr val="F6F8F6"/>
                    </a:solidFill>
                  </a:tcPr>
                </a:tc>
                <a:tc>
                  <a:txBody>
                    <a:bodyPr lIns="19050" tIns="76200" rIns="114300" bIns="76200">
                      <a:noAutofit/>
                    </a:bodyPr>
                    <a:lstStyle/>
                    <a:p>
                      <a:r>
                        <a:rPr sz="1650" b="0">
                          <a:solidFill>
                            <a:srgbClr val="677B73"/>
                          </a:solidFill>
                          <a:latin typeface="Apple SD Gothic Neo"/>
                          <a:ea typeface="Apple SD Gothic Neo"/>
                          <a:cs typeface="Apple SD Gothic Neo"/>
                        </a:rPr>
                        <a:t>pdf.py</a:t>
                      </a:r>
                    </a:p>
                  </a:txBody>
                  <a:tcPr marL="91440" marR="91440" marT="45720" marB="45720" anchor="ctr">
                    <a:solidFill>
                      <a:srgbClr val="F6F8F6"/>
                    </a:solidFill>
                  </a:tcPr>
                </a:tc>
              </a:tr>
            </a:tbl>
          </a:graphicData>
        </a:graphic>
      </p:graphicFrame>
      <p:sp>
        <p:nvSpPr>
          <p:cNvPr id="4" name="">
            <a:extLst xmlns:a="http://schemas.openxmlformats.org/drawingml/2006/main">
              <a:ext uri="{FF2B5EF4-FFF2-40B4-BE49-F238E27FC236}">
                <a16:creationId xmlns:a16="http://schemas.microsoft.com/office/drawing/2014/main" id="{1916C630-61C6-46E0-A5DA-8EC917170BA3}"/>
              </a:ext>
            </a:extLst>
          </p:cNvPr>
          <p:cNvSpPr>
            <a:spLocks xmlns:a="http://schemas.openxmlformats.org/drawingml/2006/main" noGrp="1"/>
          </p:cNvSpPr>
          <p:nvPr/>
        </p:nvSpPr>
        <p:spPr>
          <a:xfrm xmlns:a="http://schemas.openxmlformats.org/drawingml/2006/main">
            <a:off x="714375" y="2552700"/>
            <a:ext cx="10744200"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
        <p:nvSpPr>
          <p:cNvPr id="5" name="">
            <a:extLst xmlns:a="http://schemas.openxmlformats.org/drawingml/2006/main">
              <a:ext uri="{FF2B5EF4-FFF2-40B4-BE49-F238E27FC236}">
                <a16:creationId xmlns:a16="http://schemas.microsoft.com/office/drawing/2014/main" id="{4D02B4E5-4008-4C9A-9EFE-974813331B2F}"/>
              </a:ext>
            </a:extLst>
          </p:cNvPr>
          <p:cNvSpPr>
            <a:spLocks xmlns:a="http://schemas.openxmlformats.org/drawingml/2006/main" noGrp="1"/>
          </p:cNvSpPr>
          <p:nvPr/>
        </p:nvSpPr>
        <p:spPr>
          <a:xfrm xmlns:a="http://schemas.openxmlformats.org/drawingml/2006/main">
            <a:off x="714375" y="3248025"/>
            <a:ext cx="10744200"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
        <p:nvSpPr>
          <p:cNvPr id="6" name="">
            <a:extLst xmlns:a="http://schemas.openxmlformats.org/drawingml/2006/main">
              <a:ext uri="{FF2B5EF4-FFF2-40B4-BE49-F238E27FC236}">
                <a16:creationId xmlns:a16="http://schemas.microsoft.com/office/drawing/2014/main" id="{D689A5DF-2B6A-4CA0-9D02-A2B63E05FDA4}"/>
              </a:ext>
            </a:extLst>
          </p:cNvPr>
          <p:cNvSpPr>
            <a:spLocks xmlns:a="http://schemas.openxmlformats.org/drawingml/2006/main" noGrp="1"/>
          </p:cNvSpPr>
          <p:nvPr/>
        </p:nvSpPr>
        <p:spPr>
          <a:xfrm xmlns:a="http://schemas.openxmlformats.org/drawingml/2006/main">
            <a:off x="714375" y="3943350"/>
            <a:ext cx="10744200"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
        <p:nvSpPr>
          <p:cNvPr id="7" name="">
            <a:extLst xmlns:a="http://schemas.openxmlformats.org/drawingml/2006/main">
              <a:ext uri="{FF2B5EF4-FFF2-40B4-BE49-F238E27FC236}">
                <a16:creationId xmlns:a16="http://schemas.microsoft.com/office/drawing/2014/main" id="{F0820452-2379-4FE5-92B4-959CB21C190C}"/>
              </a:ext>
            </a:extLst>
          </p:cNvPr>
          <p:cNvSpPr>
            <a:spLocks xmlns:a="http://schemas.openxmlformats.org/drawingml/2006/main" noGrp="1"/>
          </p:cNvSpPr>
          <p:nvPr/>
        </p:nvSpPr>
        <p:spPr>
          <a:xfrm xmlns:a="http://schemas.openxmlformats.org/drawingml/2006/main">
            <a:off x="714375" y="4638675"/>
            <a:ext cx="10744200"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
        <p:nvSpPr>
          <p:cNvPr id="8" name="">
            <a:extLst xmlns:a="http://schemas.openxmlformats.org/drawingml/2006/main">
              <a:ext uri="{FF2B5EF4-FFF2-40B4-BE49-F238E27FC236}">
                <a16:creationId xmlns:a16="http://schemas.microsoft.com/office/drawing/2014/main" id="{2ECCFE7C-288F-444A-82DA-74A2BAA4D7B0}"/>
              </a:ext>
            </a:extLst>
          </p:cNvPr>
          <p:cNvSpPr>
            <a:spLocks xmlns:a="http://schemas.openxmlformats.org/drawingml/2006/main" noGrp="1"/>
          </p:cNvSpPr>
          <p:nvPr/>
        </p:nvSpPr>
        <p:spPr>
          <a:xfrm xmlns:a="http://schemas.openxmlformats.org/drawingml/2006/main">
            <a:off x="714375" y="5334000"/>
            <a:ext cx="10744200"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Tree>
    <p:extLst>
      <p:ext uri="{BB962C8B-B14F-4D97-AF65-F5344CB8AC3E}">
        <p14:creationId xmlns:p14="http://schemas.microsoft.com/office/powerpoint/2010/main" val="1248382291"/>
      </p:ext>
    </p:extLst>
  </p:cSld>
</p:sld>
</file>

<file path=ppt/slides/slide16.xml><?xml version="1.0" encoding="utf-8"?>
<p:sld xmlns:p="http://schemas.openxmlformats.org/presentationml/2006/main">
  <p:cSld>
    <p:bg>
      <p:bgPr>
        <a:solidFill xmlns:a="http://schemas.openxmlformats.org/drawingml/2006/main">
          <a:srgbClr val="F6F8F6"/>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2C53C65-C820-4186-85FD-56B279F9A13C}"/>
              </a:ext>
            </a:extLst>
          </p:cNvPr>
          <p:cNvSpPr>
            <a:spLocks xmlns:a="http://schemas.openxmlformats.org/drawingml/2006/main" noGrp="1"/>
          </p:cNvSpPr>
          <p:nvPr/>
        </p:nvSpPr>
        <p:spPr>
          <a:xfrm xmlns:a="http://schemas.openxmlformats.org/drawingml/2006/main">
            <a:off x="609600" y="4953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3D39"/>
                </a:solidFill>
                <a:latin typeface="Apple SD Gothic Neo"/>
                <a:ea typeface="Apple SD Gothic Neo"/>
                <a:cs typeface="Apple SD Gothic Neo"/>
              </a:defRPr>
            </a:pPr>
            <a:r>
              <a:rPr sz="3300" b="1">
                <a:solidFill>
                  <a:srgbClr val="173D39"/>
                </a:solidFill>
                <a:latin typeface="Apple SD Gothic Neo"/>
                <a:ea typeface="Apple SD Gothic Neo"/>
                <a:cs typeface="Apple SD Gothic Neo"/>
              </a:rPr>
              <a:t>부록: 저장과 실행 제어</a:t>
            </a:r>
          </a:p>
        </p:txBody>
      </p:sp>
      <p:sp>
        <p:nvSpPr>
          <p:cNvPr id="2" name="16">
            <a:extLst xmlns:a="http://schemas.openxmlformats.org/drawingml/2006/main">
              <a:ext uri="{FF2B5EF4-FFF2-40B4-BE49-F238E27FC236}">
                <a16:creationId xmlns:a16="http://schemas.microsoft.com/office/drawing/2014/main" id="{21A43CEB-59CB-458A-A34E-6F86F4132B0B}"/>
              </a:ext>
            </a:extLst>
          </p:cNvPr>
          <p:cNvSpPr>
            <a:spLocks xmlns:a="http://schemas.openxmlformats.org/drawingml/2006/main" noGrp="1"/>
          </p:cNvSpPr>
          <p:nvPr/>
        </p:nvSpPr>
        <p:spPr>
          <a:xfrm xmlns:a="http://schemas.openxmlformats.org/drawingml/2006/main">
            <a:off x="11144250" y="641032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77B73"/>
                </a:solidFill>
                <a:latin typeface="Apple SD Gothic Neo"/>
                <a:ea typeface="Apple SD Gothic Neo"/>
                <a:cs typeface="Apple SD Gothic Neo"/>
              </a:defRPr>
            </a:pPr>
            <a:r>
              <a:rPr sz="1275" b="0">
                <a:solidFill>
                  <a:srgbClr val="677B73"/>
                </a:solidFill>
                <a:latin typeface="Apple SD Gothic Neo"/>
                <a:ea typeface="Apple SD Gothic Neo"/>
                <a:cs typeface="Apple SD Gothic Neo"/>
              </a:rPr>
              <a:t>16</a:t>
            </a:r>
          </a:p>
        </p:txBody>
      </p:sp>
      <p:sp>
        <p:nvSpPr>
          <p:cNvPr id="3" name="저장하는 것">
            <a:extLst xmlns:a="http://schemas.openxmlformats.org/drawingml/2006/main">
              <a:ext uri="{FF2B5EF4-FFF2-40B4-BE49-F238E27FC236}">
                <a16:creationId xmlns:a16="http://schemas.microsoft.com/office/drawing/2014/main" id="{988BE8DF-1D32-48C3-8C9E-EB2F8AB5DAE3}"/>
              </a:ext>
            </a:extLst>
          </p:cNvPr>
          <p:cNvSpPr>
            <a:spLocks xmlns:a="http://schemas.openxmlformats.org/drawingml/2006/main" noGrp="1"/>
          </p:cNvSpPr>
          <p:nvPr/>
        </p:nvSpPr>
        <p:spPr>
          <a:xfrm xmlns:a="http://schemas.openxmlformats.org/drawingml/2006/main">
            <a:off x="752475" y="1971675"/>
            <a:ext cx="4905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87F78"/>
                </a:solidFill>
                <a:latin typeface="Apple SD Gothic Neo"/>
                <a:ea typeface="Apple SD Gothic Neo"/>
                <a:cs typeface="Apple SD Gothic Neo"/>
              </a:defRPr>
            </a:pPr>
            <a:r>
              <a:rPr sz="2550" b="1">
                <a:solidFill>
                  <a:srgbClr val="087F78"/>
                </a:solidFill>
                <a:latin typeface="Apple SD Gothic Neo"/>
                <a:ea typeface="Apple SD Gothic Neo"/>
                <a:cs typeface="Apple SD Gothic Neo"/>
              </a:rPr>
              <a:t>저장하는 것</a:t>
            </a:r>
          </a:p>
        </p:txBody>
      </p:sp>
      <p:sp>
        <p:nvSpPr>
          <p:cNvPr id="4" name="후보와 읽은 원문&#10;근거와 논문별 초안&#10;대화와 누적 사용">
            <a:extLst xmlns:a="http://schemas.openxmlformats.org/drawingml/2006/main">
              <a:ext uri="{FF2B5EF4-FFF2-40B4-BE49-F238E27FC236}">
                <a16:creationId xmlns:a16="http://schemas.microsoft.com/office/drawing/2014/main" id="{54343828-6558-4152-8400-709CD7EE034A}"/>
              </a:ext>
            </a:extLst>
          </p:cNvPr>
          <p:cNvSpPr>
            <a:spLocks xmlns:a="http://schemas.openxmlformats.org/drawingml/2006/main" noGrp="1"/>
          </p:cNvSpPr>
          <p:nvPr/>
        </p:nvSpPr>
        <p:spPr>
          <a:xfrm xmlns:a="http://schemas.openxmlformats.org/drawingml/2006/main">
            <a:off x="762000" y="2771775"/>
            <a:ext cx="4905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304C47"/>
                </a:solidFill>
                <a:latin typeface="Apple SD Gothic Neo"/>
                <a:ea typeface="Apple SD Gothic Neo"/>
                <a:cs typeface="Apple SD Gothic Neo"/>
              </a:defRPr>
            </a:pPr>
            <a:r>
              <a:rPr sz="2325" b="0">
                <a:solidFill>
                  <a:srgbClr val="304C47"/>
                </a:solidFill>
                <a:latin typeface="Apple SD Gothic Neo"/>
                <a:ea typeface="Apple SD Gothic Neo"/>
                <a:cs typeface="Apple SD Gothic Neo"/>
              </a:rPr>
              <a:t>후보와 읽은 원문</a:t>
            </a:r>
          </a:p>
          <a:p xmlns:a="http://schemas.openxmlformats.org/drawingml/2006/main">
            <a:pPr algn="l">
              <a:defRPr sz="2325" b="0">
                <a:solidFill>
                  <a:srgbClr val="304C47"/>
                </a:solidFill>
                <a:latin typeface="Apple SD Gothic Neo"/>
                <a:ea typeface="Apple SD Gothic Neo"/>
                <a:cs typeface="Apple SD Gothic Neo"/>
              </a:defRPr>
            </a:pPr>
            <a:r>
              <a:rPr sz="2325" b="0">
                <a:solidFill>
                  <a:srgbClr val="304C47"/>
                </a:solidFill>
                <a:latin typeface="Apple SD Gothic Neo"/>
                <a:ea typeface="Apple SD Gothic Neo"/>
                <a:cs typeface="Apple SD Gothic Neo"/>
              </a:rPr>
              <a:t>근거와 논문별 초안</a:t>
            </a:r>
          </a:p>
          <a:p xmlns:a="http://schemas.openxmlformats.org/drawingml/2006/main">
            <a:pPr algn="l">
              <a:defRPr sz="2325" b="0">
                <a:solidFill>
                  <a:srgbClr val="304C47"/>
                </a:solidFill>
                <a:latin typeface="Apple SD Gothic Neo"/>
                <a:ea typeface="Apple SD Gothic Neo"/>
                <a:cs typeface="Apple SD Gothic Neo"/>
              </a:defRPr>
            </a:pPr>
            <a:r>
              <a:rPr sz="2325" b="0">
                <a:solidFill>
                  <a:srgbClr val="304C47"/>
                </a:solidFill>
                <a:latin typeface="Apple SD Gothic Neo"/>
                <a:ea typeface="Apple SD Gothic Neo"/>
                <a:cs typeface="Apple SD Gothic Neo"/>
              </a:rPr>
              <a:t>대화와 누적 사용량</a:t>
            </a:r>
          </a:p>
        </p:txBody>
      </p:sp>
      <p:sp>
        <p:nvSpPr>
          <p:cNvPr id="5" name="제어하는 것">
            <a:extLst xmlns:a="http://schemas.openxmlformats.org/drawingml/2006/main">
              <a:ext uri="{FF2B5EF4-FFF2-40B4-BE49-F238E27FC236}">
                <a16:creationId xmlns:a16="http://schemas.microsoft.com/office/drawing/2014/main" id="{EFD96874-C1D8-4F35-A3E4-00124CE35A41}"/>
              </a:ext>
            </a:extLst>
          </p:cNvPr>
          <p:cNvSpPr>
            <a:spLocks xmlns:a="http://schemas.openxmlformats.org/drawingml/2006/main" noGrp="1"/>
          </p:cNvSpPr>
          <p:nvPr/>
        </p:nvSpPr>
        <p:spPr>
          <a:xfrm xmlns:a="http://schemas.openxmlformats.org/drawingml/2006/main">
            <a:off x="6858000" y="1971675"/>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3D39"/>
                </a:solidFill>
                <a:latin typeface="Apple SD Gothic Neo"/>
                <a:ea typeface="Apple SD Gothic Neo"/>
                <a:cs typeface="Apple SD Gothic Neo"/>
              </a:defRPr>
            </a:pPr>
            <a:r>
              <a:rPr sz="2550" b="1">
                <a:solidFill>
                  <a:srgbClr val="173D39"/>
                </a:solidFill>
                <a:latin typeface="Apple SD Gothic Neo"/>
                <a:ea typeface="Apple SD Gothic Neo"/>
                <a:cs typeface="Apple SD Gothic Neo"/>
              </a:rPr>
              <a:t>제어하는 것</a:t>
            </a:r>
          </a:p>
        </p:txBody>
      </p:sp>
      <p:sp>
        <p:nvSpPr>
          <p:cNvPr id="6" name="동시 실행과 사용자 중지&#10;시간과 도구 사용량&#10;진전 없는">
            <a:extLst xmlns:a="http://schemas.openxmlformats.org/drawingml/2006/main">
              <a:ext uri="{FF2B5EF4-FFF2-40B4-BE49-F238E27FC236}">
                <a16:creationId xmlns:a16="http://schemas.microsoft.com/office/drawing/2014/main" id="{E0BB2D98-6A4A-4E75-A581-75A051C27C16}"/>
              </a:ext>
            </a:extLst>
          </p:cNvPr>
          <p:cNvSpPr>
            <a:spLocks xmlns:a="http://schemas.openxmlformats.org/drawingml/2006/main" noGrp="1"/>
          </p:cNvSpPr>
          <p:nvPr/>
        </p:nvSpPr>
        <p:spPr>
          <a:xfrm xmlns:a="http://schemas.openxmlformats.org/drawingml/2006/main">
            <a:off x="6877050" y="2771775"/>
            <a:ext cx="4610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304C47"/>
                </a:solidFill>
                <a:latin typeface="Apple SD Gothic Neo"/>
                <a:ea typeface="Apple SD Gothic Neo"/>
                <a:cs typeface="Apple SD Gothic Neo"/>
              </a:defRPr>
            </a:pPr>
            <a:r>
              <a:rPr sz="2325" b="0">
                <a:solidFill>
                  <a:srgbClr val="304C47"/>
                </a:solidFill>
                <a:latin typeface="Apple SD Gothic Neo"/>
                <a:ea typeface="Apple SD Gothic Neo"/>
                <a:cs typeface="Apple SD Gothic Neo"/>
              </a:rPr>
              <a:t>동시 실행과 사용자 중지</a:t>
            </a:r>
          </a:p>
          <a:p xmlns:a="http://schemas.openxmlformats.org/drawingml/2006/main">
            <a:pPr algn="l">
              <a:defRPr sz="2325" b="0">
                <a:solidFill>
                  <a:srgbClr val="304C47"/>
                </a:solidFill>
                <a:latin typeface="Apple SD Gothic Neo"/>
                <a:ea typeface="Apple SD Gothic Neo"/>
                <a:cs typeface="Apple SD Gothic Neo"/>
              </a:defRPr>
            </a:pPr>
            <a:r>
              <a:rPr sz="2325" b="0">
                <a:solidFill>
                  <a:srgbClr val="304C47"/>
                </a:solidFill>
                <a:latin typeface="Apple SD Gothic Neo"/>
                <a:ea typeface="Apple SD Gothic Neo"/>
                <a:cs typeface="Apple SD Gothic Neo"/>
              </a:rPr>
              <a:t>시간과 도구 사용량</a:t>
            </a:r>
          </a:p>
          <a:p xmlns:a="http://schemas.openxmlformats.org/drawingml/2006/main">
            <a:pPr algn="l">
              <a:defRPr sz="2325" b="0">
                <a:solidFill>
                  <a:srgbClr val="304C47"/>
                </a:solidFill>
                <a:latin typeface="Apple SD Gothic Neo"/>
                <a:ea typeface="Apple SD Gothic Neo"/>
                <a:cs typeface="Apple SD Gothic Neo"/>
              </a:defRPr>
            </a:pPr>
            <a:r>
              <a:rPr sz="2325" b="0">
                <a:solidFill>
                  <a:srgbClr val="304C47"/>
                </a:solidFill>
                <a:latin typeface="Apple SD Gothic Neo"/>
                <a:ea typeface="Apple SD Gothic Neo"/>
                <a:cs typeface="Apple SD Gothic Neo"/>
              </a:rPr>
              <a:t>진전 없는 반복</a:t>
            </a:r>
          </a:p>
        </p:txBody>
      </p:sp>
      <p:sp>
        <p:nvSpPr>
          <p:cNvPr id="7" name="">
            <a:extLst xmlns:a="http://schemas.openxmlformats.org/drawingml/2006/main">
              <a:ext uri="{FF2B5EF4-FFF2-40B4-BE49-F238E27FC236}">
                <a16:creationId xmlns:a16="http://schemas.microsoft.com/office/drawing/2014/main" id="{C27A1014-5B8A-42BD-A497-5C267C2C3CD3}"/>
              </a:ext>
            </a:extLst>
          </p:cNvPr>
          <p:cNvSpPr>
            <a:spLocks xmlns:a="http://schemas.openxmlformats.org/drawingml/2006/main" noGrp="1"/>
          </p:cNvSpPr>
          <p:nvPr/>
        </p:nvSpPr>
        <p:spPr>
          <a:xfrm xmlns:a="http://schemas.openxmlformats.org/drawingml/2006/main">
            <a:off x="742950" y="5153025"/>
            <a:ext cx="10668000" cy="0"/>
          </a:xfrm>
          <a:prstGeom xmlns:a="http://schemas.openxmlformats.org/drawingml/2006/main" prst="line">
            <a:avLst/>
          </a:prstGeom>
          <a:noFill xmlns:a="http://schemas.openxmlformats.org/drawingml/2006/main"/>
          <a:ln xmlns:a="http://schemas.openxmlformats.org/drawingml/2006/main" w="12383">
            <a:solidFill>
              <a:srgbClr val="AFC4BA"/>
            </a:solidFill>
          </a:ln>
        </p:spPr>
      </p:sp>
      <p:sp>
        <p:nvSpPr>
          <p:cNvPr id="8" name="재개할 때는 기존 자료와 사용량을 유지">
            <a:extLst xmlns:a="http://schemas.openxmlformats.org/drawingml/2006/main">
              <a:ext uri="{FF2B5EF4-FFF2-40B4-BE49-F238E27FC236}">
                <a16:creationId xmlns:a16="http://schemas.microsoft.com/office/drawing/2014/main" id="{50ACEFDA-94F1-4624-B93C-3D0461374335}"/>
              </a:ext>
            </a:extLst>
          </p:cNvPr>
          <p:cNvSpPr>
            <a:spLocks xmlns:a="http://schemas.openxmlformats.org/drawingml/2006/main" noGrp="1"/>
          </p:cNvSpPr>
          <p:nvPr/>
        </p:nvSpPr>
        <p:spPr>
          <a:xfrm xmlns:a="http://schemas.openxmlformats.org/drawingml/2006/main">
            <a:off x="771525" y="5524500"/>
            <a:ext cx="1064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78"/>
                </a:solidFill>
                <a:latin typeface="Apple SD Gothic Neo"/>
                <a:ea typeface="Apple SD Gothic Neo"/>
                <a:cs typeface="Apple SD Gothic Neo"/>
              </a:defRPr>
            </a:pPr>
            <a:r>
              <a:rPr sz="2250" b="1">
                <a:solidFill>
                  <a:srgbClr val="087F78"/>
                </a:solidFill>
                <a:latin typeface="Apple SD Gothic Neo"/>
                <a:ea typeface="Apple SD Gothic Neo"/>
                <a:cs typeface="Apple SD Gothic Neo"/>
              </a:rPr>
              <a:t>재개할 때는 기존 자료와 사용량을 유지</a:t>
            </a:r>
          </a:p>
        </p:txBody>
      </p:sp>
    </p:spTree>
    <p:extLst>
      <p:ext uri="{BB962C8B-B14F-4D97-AF65-F5344CB8AC3E}">
        <p14:creationId xmlns:p14="http://schemas.microsoft.com/office/powerpoint/2010/main" val="2873804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2026-09-29T10:44:15.4510000Z</dcterms:created>
  <dcterms:modified xsi:type="dcterms:W3CDTF">2026-09-29T10:44:15.4510000Z</dcterms:modified>
</coreProperties>
</file>